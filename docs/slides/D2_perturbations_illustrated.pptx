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tter example" id="{4f93ca05-6db4-1974-373b-37af0f400057}">
          <p14:sldIdLst>
            <p14:sldId id="256"/>
          </p14:sldIdLst>
        </p14:section>
        <p14:section name="Real cases" id="{e0d106fd-2f14-b0de-7c6b-99f3f5d2cfde}">
          <p14:sldIdLst>
            <p14:sldId id="257"/>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8"/>
          <c:w val="0.92"/>
          <c:h val="0.84"/>
        </c:manualLayout>
      </c:layout>
      <c:lineChart>
        <c:varyColors val="0"/>
        <c:ser>
          <c:idx val="0"/>
          <c:order val="0"/>
          <c:tx>
            <c:strRef>
              <c:f>Sheet1!$B$1</c:f>
              <c:strCache>
                <c:ptCount val="1"/>
                <c:pt idx="0">
                  <c:v>Original</c:v>
                </c:pt>
              </c:strCache>
            </c:strRef>
          </c:tx>
          <c:spPr>
            <a:solidFill>
              <a:srgbClr val="1B2333"/>
            </a:solidFill>
            <a:ln w="22225" cap="flat">
              <a:solidFill>
                <a:srgbClr val="1B2333"/>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B2333"/>
              </a:solidFill>
              <a:ln w="9525" cap="flat">
                <a:solidFill>
                  <a:srgbClr val="1B2333"/>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6</c:v>
                </c:pt>
                <c:pt idx="1">
                  <c:v>7</c:v>
                </c:pt>
                <c:pt idx="2">
                  <c:v>7</c:v>
                </c:pt>
                <c:pt idx="3">
                  <c:v>7</c:v>
                </c:pt>
                <c:pt idx="4">
                  <c:v>5</c:v>
                </c:pt>
                <c:pt idx="5">
                  <c:v>6</c:v>
                </c:pt>
                <c:pt idx="6">
                  <c:v>20</c:v>
                </c:pt>
                <c:pt idx="7">
                  <c:v>34</c:v>
                </c:pt>
                <c:pt idx="8">
                  <c:v>35</c:v>
                </c:pt>
                <c:pt idx="9">
                  <c:v>33</c:v>
                </c:pt>
                <c:pt idx="10">
                  <c:v>35</c:v>
                </c:pt>
                <c:pt idx="11">
                  <c:v>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8"/>
          <c:w val="0.92"/>
          <c:h val="0.84"/>
        </c:manualLayout>
      </c:layout>
      <c:lineChart>
        <c:varyColors val="0"/>
        <c:ser>
          <c:idx val="0"/>
          <c:order val="0"/>
          <c:tx>
            <c:strRef>
              <c:f>Sheet1!$B$1</c:f>
              <c:strCache>
                <c:ptCount val="1"/>
                <c:pt idx="0">
                  <c:v>Original</c:v>
                </c:pt>
              </c:strCache>
            </c:strRef>
          </c:tx>
          <c:spPr>
            <a:solidFill>
              <a:srgbClr val="B9C2CF"/>
            </a:solidFill>
            <a:ln w="2222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6</c:v>
                </c:pt>
                <c:pt idx="1">
                  <c:v>7</c:v>
                </c:pt>
                <c:pt idx="2">
                  <c:v>7</c:v>
                </c:pt>
                <c:pt idx="3">
                  <c:v>7</c:v>
                </c:pt>
                <c:pt idx="4">
                  <c:v>5</c:v>
                </c:pt>
                <c:pt idx="5">
                  <c:v>6</c:v>
                </c:pt>
                <c:pt idx="6">
                  <c:v>20</c:v>
                </c:pt>
                <c:pt idx="7">
                  <c:v>34</c:v>
                </c:pt>
                <c:pt idx="8">
                  <c:v>35</c:v>
                </c:pt>
                <c:pt idx="9">
                  <c:v>33</c:v>
                </c:pt>
                <c:pt idx="10">
                  <c:v>35</c:v>
                </c:pt>
                <c:pt idx="11">
                  <c:v>32</c:v>
                </c:pt>
              </c:numCache>
            </c:numRef>
          </c:val>
          <c:smooth val="0"/>
        </c:ser>
        <c:ser>
          <c:idx val="1"/>
          <c:order val="1"/>
          <c:tx>
            <c:strRef>
              <c:f>Sheet1!$C$1</c:f>
              <c:strCache>
                <c:ptCount val="1"/>
                <c:pt idx="0">
                  <c:v>Full shuffle</c:v>
                </c:pt>
              </c:strCache>
            </c:strRef>
          </c:tx>
          <c:spPr>
            <a:solidFill>
              <a:srgbClr val="22364F"/>
            </a:solidFill>
            <a:ln w="22225" cap="flat">
              <a:solidFill>
                <a:srgbClr val="2236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2364F"/>
              </a:solidFill>
              <a:ln w="9525" cap="flat">
                <a:solidFill>
                  <a:srgbClr val="22364F"/>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Sheet1!$C$2:$C$13</c:f>
              <c:numCache>
                <c:formatCode>General</c:formatCode>
                <c:ptCount val="12"/>
                <c:pt idx="0">
                  <c:v>5</c:v>
                </c:pt>
                <c:pt idx="1">
                  <c:v>6</c:v>
                </c:pt>
                <c:pt idx="2">
                  <c:v>20</c:v>
                </c:pt>
                <c:pt idx="3">
                  <c:v>33</c:v>
                </c:pt>
                <c:pt idx="4">
                  <c:v>7</c:v>
                </c:pt>
                <c:pt idx="5">
                  <c:v>35</c:v>
                </c:pt>
                <c:pt idx="6">
                  <c:v>32</c:v>
                </c:pt>
                <c:pt idx="7">
                  <c:v>34</c:v>
                </c:pt>
                <c:pt idx="8">
                  <c:v>35</c:v>
                </c:pt>
                <c:pt idx="9">
                  <c:v>7</c:v>
                </c:pt>
                <c:pt idx="10">
                  <c:v>7</c:v>
                </c:pt>
                <c:pt idx="11">
                  <c:v>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8"/>
          <c:w val="0.92"/>
          <c:h val="0.84"/>
        </c:manualLayout>
      </c:layout>
      <c:lineChart>
        <c:varyColors val="0"/>
        <c:ser>
          <c:idx val="0"/>
          <c:order val="0"/>
          <c:tx>
            <c:strRef>
              <c:f>Sheet1!$B$1</c:f>
              <c:strCache>
                <c:ptCount val="1"/>
                <c:pt idx="0">
                  <c:v>Original</c:v>
                </c:pt>
              </c:strCache>
            </c:strRef>
          </c:tx>
          <c:spPr>
            <a:solidFill>
              <a:srgbClr val="B9C2CF"/>
            </a:solidFill>
            <a:ln w="2222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6</c:v>
                </c:pt>
                <c:pt idx="1">
                  <c:v>7</c:v>
                </c:pt>
                <c:pt idx="2">
                  <c:v>7</c:v>
                </c:pt>
                <c:pt idx="3">
                  <c:v>7</c:v>
                </c:pt>
                <c:pt idx="4">
                  <c:v>5</c:v>
                </c:pt>
                <c:pt idx="5">
                  <c:v>6</c:v>
                </c:pt>
                <c:pt idx="6">
                  <c:v>20</c:v>
                </c:pt>
                <c:pt idx="7">
                  <c:v>34</c:v>
                </c:pt>
                <c:pt idx="8">
                  <c:v>35</c:v>
                </c:pt>
                <c:pt idx="9">
                  <c:v>33</c:v>
                </c:pt>
                <c:pt idx="10">
                  <c:v>35</c:v>
                </c:pt>
                <c:pt idx="11">
                  <c:v>32</c:v>
                </c:pt>
              </c:numCache>
            </c:numRef>
          </c:val>
          <c:smooth val="0"/>
        </c:ser>
        <c:ser>
          <c:idx val="1"/>
          <c:order val="1"/>
          <c:tx>
            <c:strRef>
              <c:f>Sheet1!$C$1</c:f>
              <c:strCache>
                <c:ptCount val="1"/>
                <c:pt idx="0">
                  <c:v>First-half shuffle</c:v>
                </c:pt>
              </c:strCache>
            </c:strRef>
          </c:tx>
          <c:spPr>
            <a:solidFill>
              <a:srgbClr val="1F8A80"/>
            </a:solidFill>
            <a:ln w="22225" cap="flat">
              <a:solidFill>
                <a:srgbClr val="1F8A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80"/>
              </a:solidFill>
              <a:ln w="9525" cap="flat">
                <a:solidFill>
                  <a:srgbClr val="1F8A80"/>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Sheet1!$C$2:$C$13</c:f>
              <c:numCache>
                <c:formatCode>General</c:formatCode>
                <c:ptCount val="12"/>
                <c:pt idx="0">
                  <c:v>5</c:v>
                </c:pt>
                <c:pt idx="1">
                  <c:v>7</c:v>
                </c:pt>
                <c:pt idx="2">
                  <c:v>7</c:v>
                </c:pt>
                <c:pt idx="3">
                  <c:v>6</c:v>
                </c:pt>
                <c:pt idx="4">
                  <c:v>7</c:v>
                </c:pt>
                <c:pt idx="5">
                  <c:v>6</c:v>
                </c:pt>
                <c:pt idx="6">
                  <c:v>20</c:v>
                </c:pt>
                <c:pt idx="7">
                  <c:v>34</c:v>
                </c:pt>
                <c:pt idx="8">
                  <c:v>35</c:v>
                </c:pt>
                <c:pt idx="9">
                  <c:v>33</c:v>
                </c:pt>
                <c:pt idx="10">
                  <c:v>35</c:v>
                </c:pt>
                <c:pt idx="11">
                  <c:v>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8"/>
          <c:w val="0.92"/>
          <c:h val="0.84"/>
        </c:manualLayout>
      </c:layout>
      <c:lineChart>
        <c:varyColors val="0"/>
        <c:ser>
          <c:idx val="0"/>
          <c:order val="0"/>
          <c:tx>
            <c:strRef>
              <c:f>Sheet1!$B$1</c:f>
              <c:strCache>
                <c:ptCount val="1"/>
                <c:pt idx="0">
                  <c:v>Original</c:v>
                </c:pt>
              </c:strCache>
            </c:strRef>
          </c:tx>
          <c:spPr>
            <a:solidFill>
              <a:srgbClr val="B9C2CF"/>
            </a:solidFill>
            <a:ln w="2222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6</c:v>
                </c:pt>
                <c:pt idx="1">
                  <c:v>7</c:v>
                </c:pt>
                <c:pt idx="2">
                  <c:v>7</c:v>
                </c:pt>
                <c:pt idx="3">
                  <c:v>7</c:v>
                </c:pt>
                <c:pt idx="4">
                  <c:v>5</c:v>
                </c:pt>
                <c:pt idx="5">
                  <c:v>6</c:v>
                </c:pt>
                <c:pt idx="6">
                  <c:v>20</c:v>
                </c:pt>
                <c:pt idx="7">
                  <c:v>34</c:v>
                </c:pt>
                <c:pt idx="8">
                  <c:v>35</c:v>
                </c:pt>
                <c:pt idx="9">
                  <c:v>33</c:v>
                </c:pt>
                <c:pt idx="10">
                  <c:v>35</c:v>
                </c:pt>
                <c:pt idx="11">
                  <c:v>32</c:v>
                </c:pt>
              </c:numCache>
            </c:numRef>
          </c:val>
          <c:smooth val="0"/>
        </c:ser>
        <c:ser>
          <c:idx val="1"/>
          <c:order val="1"/>
          <c:tx>
            <c:strRef>
              <c:f>Sheet1!$C$1</c:f>
              <c:strCache>
                <c:ptCount val="1"/>
                <c:pt idx="0">
                  <c:v>Half exchange</c:v>
                </c:pt>
              </c:strCache>
            </c:strRef>
          </c:tx>
          <c:spPr>
            <a:solidFill>
              <a:srgbClr val="D98324"/>
            </a:solidFill>
            <a:ln w="22225" cap="flat">
              <a:solidFill>
                <a:srgbClr val="D983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324"/>
              </a:solidFill>
              <a:ln w="9525" cap="flat">
                <a:solidFill>
                  <a:srgbClr val="D98324"/>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Sheet1!$C$2:$C$13</c:f>
              <c:numCache>
                <c:formatCode>General</c:formatCode>
                <c:ptCount val="12"/>
                <c:pt idx="0">
                  <c:v>20</c:v>
                </c:pt>
                <c:pt idx="1">
                  <c:v>34</c:v>
                </c:pt>
                <c:pt idx="2">
                  <c:v>35</c:v>
                </c:pt>
                <c:pt idx="3">
                  <c:v>33</c:v>
                </c:pt>
                <c:pt idx="4">
                  <c:v>35</c:v>
                </c:pt>
                <c:pt idx="5">
                  <c:v>32</c:v>
                </c:pt>
                <c:pt idx="6">
                  <c:v>6</c:v>
                </c:pt>
                <c:pt idx="7">
                  <c:v>7</c:v>
                </c:pt>
                <c:pt idx="8">
                  <c:v>7</c:v>
                </c:pt>
                <c:pt idx="9">
                  <c:v>7</c:v>
                </c:pt>
                <c:pt idx="10">
                  <c:v>5</c:v>
                </c:pt>
                <c:pt idx="11">
                  <c:v>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4"/>
          <c:y val="0.08"/>
          <c:w val="0.92"/>
          <c:h val="0.84"/>
        </c:manualLayout>
      </c:layout>
      <c:lineChart>
        <c:varyColors val="0"/>
        <c:ser>
          <c:idx val="0"/>
          <c:order val="0"/>
          <c:tx>
            <c:strRef>
              <c:f>Sheet1!$B$1</c:f>
              <c:strCache>
                <c:ptCount val="1"/>
                <c:pt idx="0">
                  <c:v>Original</c:v>
                </c:pt>
              </c:strCache>
            </c:strRef>
          </c:tx>
          <c:spPr>
            <a:solidFill>
              <a:srgbClr val="B9C2CF"/>
            </a:solidFill>
            <a:ln w="2222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6</c:v>
                </c:pt>
                <c:pt idx="1">
                  <c:v>7</c:v>
                </c:pt>
                <c:pt idx="2">
                  <c:v>7</c:v>
                </c:pt>
                <c:pt idx="3">
                  <c:v>7</c:v>
                </c:pt>
                <c:pt idx="4">
                  <c:v>5</c:v>
                </c:pt>
                <c:pt idx="5">
                  <c:v>6</c:v>
                </c:pt>
                <c:pt idx="6">
                  <c:v>20</c:v>
                </c:pt>
                <c:pt idx="7">
                  <c:v>34</c:v>
                </c:pt>
                <c:pt idx="8">
                  <c:v>35</c:v>
                </c:pt>
                <c:pt idx="9">
                  <c:v>33</c:v>
                </c:pt>
                <c:pt idx="10">
                  <c:v>35</c:v>
                </c:pt>
                <c:pt idx="11">
                  <c:v>32</c:v>
                </c:pt>
              </c:numCache>
            </c:numRef>
          </c:val>
          <c:smooth val="0"/>
        </c:ser>
        <c:ser>
          <c:idx val="1"/>
          <c:order val="1"/>
          <c:tx>
            <c:strRef>
              <c:f>Sheet1!$C$1</c:f>
              <c:strCache>
                <c:ptCount val="1"/>
                <c:pt idx="0">
                  <c:v>Masking</c:v>
                </c:pt>
              </c:strCache>
            </c:strRef>
          </c:tx>
          <c:spPr>
            <a:solidFill>
              <a:srgbClr val="7B61A8"/>
            </a:solidFill>
            <a:ln w="22225" cap="flat">
              <a:solidFill>
                <a:srgbClr val="7B61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B61A8"/>
              </a:solidFill>
              <a:ln w="9525" cap="flat">
                <a:solidFill>
                  <a:srgbClr val="7B61A8"/>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Sheet1!$C$2:$C$13</c:f>
              <c:numCache>
                <c:formatCode>General</c:formatCode>
                <c:ptCount val="12"/>
                <c:pt idx="0">
                  <c:v>18.916666666666668</c:v>
                </c:pt>
                <c:pt idx="1">
                  <c:v>7</c:v>
                </c:pt>
                <c:pt idx="2">
                  <c:v>7</c:v>
                </c:pt>
                <c:pt idx="3">
                  <c:v>7</c:v>
                </c:pt>
                <c:pt idx="4">
                  <c:v>5</c:v>
                </c:pt>
                <c:pt idx="5">
                  <c:v>6</c:v>
                </c:pt>
                <c:pt idx="6">
                  <c:v>20</c:v>
                </c:pt>
                <c:pt idx="7">
                  <c:v>34</c:v>
                </c:pt>
                <c:pt idx="8">
                  <c:v>35</c:v>
                </c:pt>
                <c:pt idx="9">
                  <c:v>33</c:v>
                </c:pt>
                <c:pt idx="10">
                  <c:v>35</c:v>
                </c:pt>
                <c:pt idx="11">
                  <c:v>18.916666666666668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22364F"/>
                </a:solidFill>
                <a:latin typeface="+mn-lt"/>
              </a:defRPr>
            </a:pPr>
            <a:r>
              <a:rPr sz="1100" b="0" i="0" u="none" strike="noStrike">
                <a:solidFill>
                  <a:srgbClr val="22364F"/>
                </a:solidFill>
                <a:latin typeface="+mn-lt"/>
              </a:rPr>
              <a:t>Full shuffle: rank 1 → 459</a:t>
            </a:r>
          </a:p>
        </c:rich>
      </c:tx>
      <c:layout/>
      <c:overlay val="0"/>
    </c:title>
    <c:autoTitleDeleted val="0"/>
    <c:plotArea>
      <c:layout/>
      <c:lineChart>
        <c:varyColors val="0"/>
        <c:ser>
          <c:idx val="0"/>
          <c:order val="0"/>
          <c:tx>
            <c:strRef>
              <c:f>Sheet1!$B$1</c:f>
              <c:strCache>
                <c:ptCount val="1"/>
                <c:pt idx="0">
                  <c:v>Original</c:v>
                </c:pt>
              </c:strCache>
            </c:strRef>
          </c:tx>
          <c:spPr>
            <a:solidFill>
              <a:srgbClr val="B9C2CF"/>
            </a:solidFill>
            <a:ln w="1587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Sheet1!$B$2:$B$181</c:f>
              <c:numCache>
                <c:formatCode>General</c:formatCode>
                <c:ptCount val="180"/>
                <c:pt idx="0">
                  <c:v>22.37</c:v>
                </c:pt>
                <c:pt idx="1">
                  <c:v>24.9</c:v>
                </c:pt>
                <c:pt idx="2">
                  <c:v>24.12</c:v>
                </c:pt>
                <c:pt idx="3">
                  <c:v>24.85</c:v>
                </c:pt>
                <c:pt idx="4">
                  <c:v>26.67</c:v>
                </c:pt>
                <c:pt idx="5">
                  <c:v>26.15</c:v>
                </c:pt>
                <c:pt idx="6">
                  <c:v>26.62</c:v>
                </c:pt>
                <c:pt idx="7">
                  <c:v>29.53</c:v>
                </c:pt>
                <c:pt idx="8">
                  <c:v>28.47</c:v>
                </c:pt>
                <c:pt idx="9">
                  <c:v>26.41</c:v>
                </c:pt>
                <c:pt idx="10">
                  <c:v>28.02</c:v>
                </c:pt>
                <c:pt idx="11">
                  <c:v>28.08</c:v>
                </c:pt>
                <c:pt idx="12">
                  <c:v>29.63</c:v>
                </c:pt>
                <c:pt idx="13">
                  <c:v>31.33</c:v>
                </c:pt>
                <c:pt idx="14">
                  <c:v>30.02</c:v>
                </c:pt>
                <c:pt idx="15">
                  <c:v>30.36</c:v>
                </c:pt>
                <c:pt idx="16">
                  <c:v>29.14</c:v>
                </c:pt>
                <c:pt idx="17">
                  <c:v>29.1</c:v>
                </c:pt>
                <c:pt idx="18">
                  <c:v>28.01</c:v>
                </c:pt>
                <c:pt idx="19">
                  <c:v>27.46</c:v>
                </c:pt>
                <c:pt idx="20">
                  <c:v>27.2</c:v>
                </c:pt>
                <c:pt idx="21">
                  <c:v>27.15</c:v>
                </c:pt>
                <c:pt idx="22">
                  <c:v>27.43</c:v>
                </c:pt>
                <c:pt idx="23">
                  <c:v>26.8</c:v>
                </c:pt>
                <c:pt idx="24">
                  <c:v>28.42</c:v>
                </c:pt>
                <c:pt idx="25">
                  <c:v>28.42</c:v>
                </c:pt>
                <c:pt idx="26">
                  <c:v>28.1</c:v>
                </c:pt>
                <c:pt idx="27">
                  <c:v>28.17</c:v>
                </c:pt>
                <c:pt idx="28">
                  <c:v>27.4</c:v>
                </c:pt>
                <c:pt idx="29">
                  <c:v>27.65</c:v>
                </c:pt>
                <c:pt idx="30">
                  <c:v>30.07</c:v>
                </c:pt>
                <c:pt idx="31">
                  <c:v>30.84</c:v>
                </c:pt>
                <c:pt idx="32">
                  <c:v>26.55</c:v>
                </c:pt>
                <c:pt idx="33">
                  <c:v>25.7</c:v>
                </c:pt>
                <c:pt idx="34">
                  <c:v>25.76</c:v>
                </c:pt>
                <c:pt idx="35">
                  <c:v>26.18</c:v>
                </c:pt>
                <c:pt idx="36">
                  <c:v>26.67</c:v>
                </c:pt>
                <c:pt idx="37">
                  <c:v>25.5</c:v>
                </c:pt>
                <c:pt idx="38">
                  <c:v>26.32</c:v>
                </c:pt>
                <c:pt idx="39">
                  <c:v>25.84</c:v>
                </c:pt>
                <c:pt idx="40">
                  <c:v>25.79</c:v>
                </c:pt>
                <c:pt idx="41">
                  <c:v>26.7</c:v>
                </c:pt>
                <c:pt idx="42">
                  <c:v>28.15</c:v>
                </c:pt>
                <c:pt idx="43">
                  <c:v>29.98</c:v>
                </c:pt>
                <c:pt idx="44">
                  <c:v>30.39</c:v>
                </c:pt>
                <c:pt idx="45">
                  <c:v>29.79</c:v>
                </c:pt>
                <c:pt idx="46">
                  <c:v>28.96</c:v>
                </c:pt>
                <c:pt idx="47">
                  <c:v>29.17</c:v>
                </c:pt>
                <c:pt idx="48">
                  <c:v>28.73</c:v>
                </c:pt>
                <c:pt idx="49">
                  <c:v>26.77</c:v>
                </c:pt>
                <c:pt idx="50">
                  <c:v>27.65</c:v>
                </c:pt>
                <c:pt idx="51">
                  <c:v>29.54</c:v>
                </c:pt>
                <c:pt idx="52">
                  <c:v>28.59</c:v>
                </c:pt>
                <c:pt idx="53">
                  <c:v>27.3</c:v>
                </c:pt>
                <c:pt idx="54">
                  <c:v>27.03</c:v>
                </c:pt>
                <c:pt idx="55">
                  <c:v>25.78</c:v>
                </c:pt>
                <c:pt idx="56">
                  <c:v>26.15</c:v>
                </c:pt>
                <c:pt idx="57">
                  <c:v>27.17</c:v>
                </c:pt>
                <c:pt idx="58">
                  <c:v>26.76</c:v>
                </c:pt>
                <c:pt idx="59">
                  <c:v>28.59</c:v>
                </c:pt>
                <c:pt idx="60">
                  <c:v>30.33</c:v>
                </c:pt>
                <c:pt idx="61">
                  <c:v>29.9</c:v>
                </c:pt>
                <c:pt idx="62">
                  <c:v>29.51</c:v>
                </c:pt>
                <c:pt idx="63">
                  <c:v>30.52</c:v>
                </c:pt>
                <c:pt idx="64">
                  <c:v>34.6</c:v>
                </c:pt>
                <c:pt idx="65">
                  <c:v>33.49</c:v>
                </c:pt>
                <c:pt idx="66">
                  <c:v>31.15</c:v>
                </c:pt>
                <c:pt idx="67">
                  <c:v>31.37</c:v>
                </c:pt>
                <c:pt idx="68">
                  <c:v>28.98</c:v>
                </c:pt>
                <c:pt idx="69">
                  <c:v>27.91</c:v>
                </c:pt>
                <c:pt idx="70">
                  <c:v>28.42</c:v>
                </c:pt>
                <c:pt idx="71">
                  <c:v>24.31</c:v>
                </c:pt>
                <c:pt idx="72">
                  <c:v>20.85</c:v>
                </c:pt>
                <c:pt idx="73">
                  <c:v>21.06</c:v>
                </c:pt>
                <c:pt idx="74">
                  <c:v>20.68</c:v>
                </c:pt>
                <c:pt idx="75">
                  <c:v>20.79</c:v>
                </c:pt>
                <c:pt idx="76">
                  <c:v>19.19</c:v>
                </c:pt>
                <c:pt idx="77">
                  <c:v>18.62</c:v>
                </c:pt>
                <c:pt idx="78">
                  <c:v>18.94</c:v>
                </c:pt>
                <c:pt idx="79">
                  <c:v>20.23</c:v>
                </c:pt>
                <c:pt idx="80">
                  <c:v>20.25</c:v>
                </c:pt>
                <c:pt idx="81">
                  <c:v>21.62</c:v>
                </c:pt>
                <c:pt idx="82">
                  <c:v>23.98</c:v>
                </c:pt>
                <c:pt idx="83">
                  <c:v>25.31</c:v>
                </c:pt>
                <c:pt idx="84">
                  <c:v>25.9</c:v>
                </c:pt>
                <c:pt idx="85">
                  <c:v>24.1</c:v>
                </c:pt>
                <c:pt idx="86">
                  <c:v>23.21</c:v>
                </c:pt>
                <c:pt idx="87">
                  <c:v>22.83</c:v>
                </c:pt>
                <c:pt idx="88">
                  <c:v>22.75</c:v>
                </c:pt>
                <c:pt idx="89">
                  <c:v>22.64</c:v>
                </c:pt>
                <c:pt idx="90">
                  <c:v>20.35</c:v>
                </c:pt>
                <c:pt idx="91">
                  <c:v>21.01</c:v>
                </c:pt>
                <c:pt idx="92">
                  <c:v>21.39</c:v>
                </c:pt>
                <c:pt idx="93">
                  <c:v>22.57</c:v>
                </c:pt>
                <c:pt idx="94">
                  <c:v>23.33</c:v>
                </c:pt>
                <c:pt idx="95">
                  <c:v>22.89</c:v>
                </c:pt>
                <c:pt idx="96">
                  <c:v>23.56</c:v>
                </c:pt>
                <c:pt idx="97">
                  <c:v>23.42</c:v>
                </c:pt>
                <c:pt idx="98">
                  <c:v>22.32</c:v>
                </c:pt>
                <c:pt idx="99">
                  <c:v>22.52</c:v>
                </c:pt>
                <c:pt idx="100">
                  <c:v>21.08</c:v>
                </c:pt>
                <c:pt idx="101">
                  <c:v>19.95</c:v>
                </c:pt>
                <c:pt idx="102">
                  <c:v>20.18</c:v>
                </c:pt>
                <c:pt idx="103">
                  <c:v>19.49</c:v>
                </c:pt>
                <c:pt idx="104">
                  <c:v>17.27</c:v>
                </c:pt>
                <c:pt idx="105">
                  <c:v>17.64</c:v>
                </c:pt>
                <c:pt idx="106">
                  <c:v>19.03</c:v>
                </c:pt>
                <c:pt idx="107">
                  <c:v>20.51</c:v>
                </c:pt>
                <c:pt idx="108">
                  <c:v>20.87</c:v>
                </c:pt>
                <c:pt idx="109">
                  <c:v>20.75</c:v>
                </c:pt>
                <c:pt idx="110">
                  <c:v>17.76</c:v>
                </c:pt>
                <c:pt idx="111">
                  <c:v>13.18</c:v>
                </c:pt>
                <c:pt idx="112">
                  <c:v>13.09</c:v>
                </c:pt>
                <c:pt idx="113">
                  <c:v>15</c:v>
                </c:pt>
                <c:pt idx="114">
                  <c:v>13.29</c:v>
                </c:pt>
                <c:pt idx="115">
                  <c:v>12.55</c:v>
                </c:pt>
                <c:pt idx="116">
                  <c:v>15.61</c:v>
                </c:pt>
                <c:pt idx="117">
                  <c:v>13.87</c:v>
                </c:pt>
                <c:pt idx="118">
                  <c:v>14.03</c:v>
                </c:pt>
                <c:pt idx="119">
                  <c:v>14</c:v>
                </c:pt>
                <c:pt idx="120">
                  <c:v>12.05</c:v>
                </c:pt>
                <c:pt idx="121">
                  <c:v>9.9</c:v>
                </c:pt>
                <c:pt idx="122">
                  <c:v>8.01</c:v>
                </c:pt>
                <c:pt idx="123">
                  <c:v>9</c:v>
                </c:pt>
                <c:pt idx="124">
                  <c:v>11.9</c:v>
                </c:pt>
                <c:pt idx="125">
                  <c:v>14.47</c:v>
                </c:pt>
                <c:pt idx="126">
                  <c:v>11.07</c:v>
                </c:pt>
                <c:pt idx="127">
                  <c:v>10.43</c:v>
                </c:pt>
                <c:pt idx="128">
                  <c:v>9.43</c:v>
                </c:pt>
                <c:pt idx="129">
                  <c:v>5.77</c:v>
                </c:pt>
                <c:pt idx="130">
                  <c:v>8.16</c:v>
                </c:pt>
                <c:pt idx="131">
                  <c:v>6.67</c:v>
                </c:pt>
                <c:pt idx="132">
                  <c:v>8.24</c:v>
                </c:pt>
                <c:pt idx="133">
                  <c:v>8.08</c:v>
                </c:pt>
                <c:pt idx="134">
                  <c:v>5.87</c:v>
                </c:pt>
                <c:pt idx="135">
                  <c:v>8.83</c:v>
                </c:pt>
                <c:pt idx="136">
                  <c:v>8.92</c:v>
                </c:pt>
                <c:pt idx="137">
                  <c:v>7.79</c:v>
                </c:pt>
                <c:pt idx="138">
                  <c:v>5.99</c:v>
                </c:pt>
                <c:pt idx="139">
                  <c:v>7.96</c:v>
                </c:pt>
                <c:pt idx="140">
                  <c:v>3.54</c:v>
                </c:pt>
                <c:pt idx="141">
                  <c:v>8.64</c:v>
                </c:pt>
                <c:pt idx="142">
                  <c:v>8.43</c:v>
                </c:pt>
                <c:pt idx="143">
                  <c:v>9.77</c:v>
                </c:pt>
                <c:pt idx="144">
                  <c:v>9.7</c:v>
                </c:pt>
                <c:pt idx="145">
                  <c:v>9.11</c:v>
                </c:pt>
                <c:pt idx="146">
                  <c:v>9.06</c:v>
                </c:pt>
                <c:pt idx="147">
                  <c:v>9.1</c:v>
                </c:pt>
                <c:pt idx="148">
                  <c:v>6.4</c:v>
                </c:pt>
                <c:pt idx="149">
                  <c:v>8.72</c:v>
                </c:pt>
                <c:pt idx="150">
                  <c:v>9.1</c:v>
                </c:pt>
                <c:pt idx="151">
                  <c:v>5.88</c:v>
                </c:pt>
                <c:pt idx="152">
                  <c:v>10.3</c:v>
                </c:pt>
                <c:pt idx="153">
                  <c:v>13</c:v>
                </c:pt>
                <c:pt idx="154">
                  <c:v>11.12</c:v>
                </c:pt>
                <c:pt idx="155">
                  <c:v>8.58</c:v>
                </c:pt>
                <c:pt idx="156">
                  <c:v>6.19</c:v>
                </c:pt>
                <c:pt idx="157">
                  <c:v>5.17</c:v>
                </c:pt>
                <c:pt idx="158">
                  <c:v>11.86</c:v>
                </c:pt>
                <c:pt idx="159">
                  <c:v>12.62</c:v>
                </c:pt>
                <c:pt idx="160">
                  <c:v>9.93</c:v>
                </c:pt>
                <c:pt idx="161">
                  <c:v>8.13</c:v>
                </c:pt>
                <c:pt idx="162">
                  <c:v>4.61</c:v>
                </c:pt>
                <c:pt idx="163">
                  <c:v>5.57</c:v>
                </c:pt>
                <c:pt idx="164">
                  <c:v>3.95</c:v>
                </c:pt>
                <c:pt idx="165">
                  <c:v>4.25</c:v>
                </c:pt>
                <c:pt idx="166">
                  <c:v>2.05</c:v>
                </c:pt>
                <c:pt idx="167">
                  <c:v>4.1</c:v>
                </c:pt>
                <c:pt idx="168">
                  <c:v>3.69</c:v>
                </c:pt>
                <c:pt idx="169">
                  <c:v>5.1</c:v>
                </c:pt>
                <c:pt idx="170">
                  <c:v>4.81</c:v>
                </c:pt>
                <c:pt idx="171">
                  <c:v>4.35</c:v>
                </c:pt>
                <c:pt idx="172">
                  <c:v>4.34</c:v>
                </c:pt>
                <c:pt idx="173">
                  <c:v>4.8</c:v>
                </c:pt>
                <c:pt idx="174">
                  <c:v>5.67</c:v>
                </c:pt>
                <c:pt idx="175">
                  <c:v>6.39</c:v>
                </c:pt>
                <c:pt idx="176">
                  <c:v>11.12</c:v>
                </c:pt>
                <c:pt idx="177">
                  <c:v>8.51</c:v>
                </c:pt>
                <c:pt idx="178">
                  <c:v>9.84</c:v>
                </c:pt>
                <c:pt idx="179">
                  <c:v>12.27</c:v>
                </c:pt>
              </c:numCache>
            </c:numRef>
          </c:val>
          <c:smooth val="0"/>
        </c:ser>
        <c:ser>
          <c:idx val="1"/>
          <c:order val="1"/>
          <c:tx>
            <c:strRef>
              <c:f>Sheet1!$C$1</c:f>
              <c:strCache>
                <c:ptCount val="1"/>
                <c:pt idx="0">
                  <c:v>Full shuffle</c:v>
                </c:pt>
              </c:strCache>
            </c:strRef>
          </c:tx>
          <c:spPr>
            <a:solidFill>
              <a:srgbClr val="22364F"/>
            </a:solidFill>
            <a:ln w="15875" cap="flat">
              <a:solidFill>
                <a:srgbClr val="2236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2364F"/>
              </a:solidFill>
              <a:ln w="9525" cap="flat">
                <a:solidFill>
                  <a:srgbClr val="22364F"/>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Sheet1!$C$2:$C$181</c:f>
              <c:numCache>
                <c:formatCode>General</c:formatCode>
                <c:ptCount val="180"/>
                <c:pt idx="0">
                  <c:v>5.17</c:v>
                </c:pt>
                <c:pt idx="1">
                  <c:v>19.03</c:v>
                </c:pt>
                <c:pt idx="2">
                  <c:v>3.95</c:v>
                </c:pt>
                <c:pt idx="3">
                  <c:v>13.18</c:v>
                </c:pt>
                <c:pt idx="4">
                  <c:v>27.15</c:v>
                </c:pt>
                <c:pt idx="5">
                  <c:v>21.08</c:v>
                </c:pt>
                <c:pt idx="6">
                  <c:v>6.19</c:v>
                </c:pt>
                <c:pt idx="7">
                  <c:v>28.17</c:v>
                </c:pt>
                <c:pt idx="8">
                  <c:v>21.39</c:v>
                </c:pt>
                <c:pt idx="9">
                  <c:v>28.1</c:v>
                </c:pt>
                <c:pt idx="10">
                  <c:v>5.1</c:v>
                </c:pt>
                <c:pt idx="11">
                  <c:v>13</c:v>
                </c:pt>
                <c:pt idx="12">
                  <c:v>29.54</c:v>
                </c:pt>
                <c:pt idx="13">
                  <c:v>9.84</c:v>
                </c:pt>
                <c:pt idx="14">
                  <c:v>26.77</c:v>
                </c:pt>
                <c:pt idx="15">
                  <c:v>29.53</c:v>
                </c:pt>
                <c:pt idx="16">
                  <c:v>4.61</c:v>
                </c:pt>
                <c:pt idx="17">
                  <c:v>29.98</c:v>
                </c:pt>
                <c:pt idx="18">
                  <c:v>8.58</c:v>
                </c:pt>
                <c:pt idx="19">
                  <c:v>30.84</c:v>
                </c:pt>
                <c:pt idx="20">
                  <c:v>29.14</c:v>
                </c:pt>
                <c:pt idx="21">
                  <c:v>28.96</c:v>
                </c:pt>
                <c:pt idx="22">
                  <c:v>22.64</c:v>
                </c:pt>
                <c:pt idx="23">
                  <c:v>3.54</c:v>
                </c:pt>
                <c:pt idx="24">
                  <c:v>29.79</c:v>
                </c:pt>
                <c:pt idx="25">
                  <c:v>25.78</c:v>
                </c:pt>
                <c:pt idx="26">
                  <c:v>8.16</c:v>
                </c:pt>
                <c:pt idx="27">
                  <c:v>13.87</c:v>
                </c:pt>
                <c:pt idx="28">
                  <c:v>20.35</c:v>
                </c:pt>
                <c:pt idx="29">
                  <c:v>17.27</c:v>
                </c:pt>
                <c:pt idx="30">
                  <c:v>6.39</c:v>
                </c:pt>
                <c:pt idx="31">
                  <c:v>26.76</c:v>
                </c:pt>
                <c:pt idx="32">
                  <c:v>9.77</c:v>
                </c:pt>
                <c:pt idx="33">
                  <c:v>28.08</c:v>
                </c:pt>
                <c:pt idx="34">
                  <c:v>10.3</c:v>
                </c:pt>
                <c:pt idx="35">
                  <c:v>4.1</c:v>
                </c:pt>
                <c:pt idx="36">
                  <c:v>29.51</c:v>
                </c:pt>
                <c:pt idx="37">
                  <c:v>18.62</c:v>
                </c:pt>
                <c:pt idx="38">
                  <c:v>21.01</c:v>
                </c:pt>
                <c:pt idx="39">
                  <c:v>28.59</c:v>
                </c:pt>
                <c:pt idx="40">
                  <c:v>28.42</c:v>
                </c:pt>
                <c:pt idx="41">
                  <c:v>26.41</c:v>
                </c:pt>
                <c:pt idx="42">
                  <c:v>24.12</c:v>
                </c:pt>
                <c:pt idx="43">
                  <c:v>26.62</c:v>
                </c:pt>
                <c:pt idx="44">
                  <c:v>22.37</c:v>
                </c:pt>
                <c:pt idx="45">
                  <c:v>26.32</c:v>
                </c:pt>
                <c:pt idx="46">
                  <c:v>6.4</c:v>
                </c:pt>
                <c:pt idx="47">
                  <c:v>28.47</c:v>
                </c:pt>
                <c:pt idx="48">
                  <c:v>20.23</c:v>
                </c:pt>
                <c:pt idx="49">
                  <c:v>11.86</c:v>
                </c:pt>
                <c:pt idx="50">
                  <c:v>20.25</c:v>
                </c:pt>
                <c:pt idx="51">
                  <c:v>23.33</c:v>
                </c:pt>
                <c:pt idx="52">
                  <c:v>27.65</c:v>
                </c:pt>
                <c:pt idx="53">
                  <c:v>25.76</c:v>
                </c:pt>
                <c:pt idx="54">
                  <c:v>25.79</c:v>
                </c:pt>
                <c:pt idx="55">
                  <c:v>26.7</c:v>
                </c:pt>
                <c:pt idx="56">
                  <c:v>8.51</c:v>
                </c:pt>
                <c:pt idx="57">
                  <c:v>28.73</c:v>
                </c:pt>
                <c:pt idx="58">
                  <c:v>6.67</c:v>
                </c:pt>
                <c:pt idx="59">
                  <c:v>4.8</c:v>
                </c:pt>
                <c:pt idx="60">
                  <c:v>23.56</c:v>
                </c:pt>
                <c:pt idx="61">
                  <c:v>28.42</c:v>
                </c:pt>
                <c:pt idx="62">
                  <c:v>28.98</c:v>
                </c:pt>
                <c:pt idx="63">
                  <c:v>31.33</c:v>
                </c:pt>
                <c:pt idx="64">
                  <c:v>33.49</c:v>
                </c:pt>
                <c:pt idx="65">
                  <c:v>17.76</c:v>
                </c:pt>
                <c:pt idx="66">
                  <c:v>30.07</c:v>
                </c:pt>
                <c:pt idx="67">
                  <c:v>7.96</c:v>
                </c:pt>
                <c:pt idx="68">
                  <c:v>20.18</c:v>
                </c:pt>
                <c:pt idx="69">
                  <c:v>30.36</c:v>
                </c:pt>
                <c:pt idx="70">
                  <c:v>22.32</c:v>
                </c:pt>
                <c:pt idx="71">
                  <c:v>30.52</c:v>
                </c:pt>
                <c:pt idx="72">
                  <c:v>23.21</c:v>
                </c:pt>
                <c:pt idx="73">
                  <c:v>4.34</c:v>
                </c:pt>
                <c:pt idx="74">
                  <c:v>12.05</c:v>
                </c:pt>
                <c:pt idx="75">
                  <c:v>9.1</c:v>
                </c:pt>
                <c:pt idx="76">
                  <c:v>20.87</c:v>
                </c:pt>
                <c:pt idx="77">
                  <c:v>24.1</c:v>
                </c:pt>
                <c:pt idx="78">
                  <c:v>8.13</c:v>
                </c:pt>
                <c:pt idx="79">
                  <c:v>13.29</c:v>
                </c:pt>
                <c:pt idx="80">
                  <c:v>14</c:v>
                </c:pt>
                <c:pt idx="81">
                  <c:v>29.1</c:v>
                </c:pt>
                <c:pt idx="82">
                  <c:v>15.61</c:v>
                </c:pt>
                <c:pt idx="83">
                  <c:v>28.59</c:v>
                </c:pt>
                <c:pt idx="84">
                  <c:v>27.17</c:v>
                </c:pt>
                <c:pt idx="85">
                  <c:v>9.7</c:v>
                </c:pt>
                <c:pt idx="86">
                  <c:v>5.87</c:v>
                </c:pt>
                <c:pt idx="87">
                  <c:v>26.55</c:v>
                </c:pt>
                <c:pt idx="88">
                  <c:v>11.12</c:v>
                </c:pt>
                <c:pt idx="89">
                  <c:v>12.27</c:v>
                </c:pt>
                <c:pt idx="90">
                  <c:v>5.99</c:v>
                </c:pt>
                <c:pt idx="91">
                  <c:v>25.84</c:v>
                </c:pt>
                <c:pt idx="92">
                  <c:v>29.9</c:v>
                </c:pt>
                <c:pt idx="93">
                  <c:v>4.25</c:v>
                </c:pt>
                <c:pt idx="94">
                  <c:v>21.62</c:v>
                </c:pt>
                <c:pt idx="95">
                  <c:v>30.33</c:v>
                </c:pt>
                <c:pt idx="96">
                  <c:v>27.43</c:v>
                </c:pt>
                <c:pt idx="97">
                  <c:v>27.2</c:v>
                </c:pt>
                <c:pt idx="98">
                  <c:v>11.9</c:v>
                </c:pt>
                <c:pt idx="99">
                  <c:v>26.15</c:v>
                </c:pt>
                <c:pt idx="100">
                  <c:v>10.43</c:v>
                </c:pt>
                <c:pt idx="101">
                  <c:v>27.65</c:v>
                </c:pt>
                <c:pt idx="102">
                  <c:v>8.92</c:v>
                </c:pt>
                <c:pt idx="103">
                  <c:v>5.88</c:v>
                </c:pt>
                <c:pt idx="104">
                  <c:v>23.98</c:v>
                </c:pt>
                <c:pt idx="105">
                  <c:v>29.63</c:v>
                </c:pt>
                <c:pt idx="106">
                  <c:v>26.67</c:v>
                </c:pt>
                <c:pt idx="107">
                  <c:v>12.62</c:v>
                </c:pt>
                <c:pt idx="108">
                  <c:v>28.42</c:v>
                </c:pt>
                <c:pt idx="109">
                  <c:v>9.11</c:v>
                </c:pt>
                <c:pt idx="110">
                  <c:v>34.6</c:v>
                </c:pt>
                <c:pt idx="111">
                  <c:v>20.85</c:v>
                </c:pt>
                <c:pt idx="112">
                  <c:v>25.9</c:v>
                </c:pt>
                <c:pt idx="113">
                  <c:v>22.52</c:v>
                </c:pt>
                <c:pt idx="114">
                  <c:v>11.07</c:v>
                </c:pt>
                <c:pt idx="115">
                  <c:v>31.37</c:v>
                </c:pt>
                <c:pt idx="116">
                  <c:v>27.3</c:v>
                </c:pt>
                <c:pt idx="117">
                  <c:v>27.46</c:v>
                </c:pt>
                <c:pt idx="118">
                  <c:v>8.72</c:v>
                </c:pt>
                <c:pt idx="119">
                  <c:v>9.93</c:v>
                </c:pt>
                <c:pt idx="120">
                  <c:v>9.43</c:v>
                </c:pt>
                <c:pt idx="121">
                  <c:v>5.57</c:v>
                </c:pt>
                <c:pt idx="122">
                  <c:v>11.12</c:v>
                </c:pt>
                <c:pt idx="123">
                  <c:v>26.67</c:v>
                </c:pt>
                <c:pt idx="124">
                  <c:v>15</c:v>
                </c:pt>
                <c:pt idx="125">
                  <c:v>14.47</c:v>
                </c:pt>
                <c:pt idx="126">
                  <c:v>20.75</c:v>
                </c:pt>
                <c:pt idx="127">
                  <c:v>24.31</c:v>
                </c:pt>
                <c:pt idx="128">
                  <c:v>2.05</c:v>
                </c:pt>
                <c:pt idx="129">
                  <c:v>13.09</c:v>
                </c:pt>
                <c:pt idx="130">
                  <c:v>14.03</c:v>
                </c:pt>
                <c:pt idx="131">
                  <c:v>27.4</c:v>
                </c:pt>
                <c:pt idx="132">
                  <c:v>22.83</c:v>
                </c:pt>
                <c:pt idx="133">
                  <c:v>12.55</c:v>
                </c:pt>
                <c:pt idx="134">
                  <c:v>30.02</c:v>
                </c:pt>
                <c:pt idx="135">
                  <c:v>25.31</c:v>
                </c:pt>
                <c:pt idx="136">
                  <c:v>9.06</c:v>
                </c:pt>
                <c:pt idx="137">
                  <c:v>22.89</c:v>
                </c:pt>
                <c:pt idx="138">
                  <c:v>19.19</c:v>
                </c:pt>
                <c:pt idx="139">
                  <c:v>22.57</c:v>
                </c:pt>
                <c:pt idx="140">
                  <c:v>20.79</c:v>
                </c:pt>
                <c:pt idx="141">
                  <c:v>26.8</c:v>
                </c:pt>
                <c:pt idx="142">
                  <c:v>8.08</c:v>
                </c:pt>
                <c:pt idx="143">
                  <c:v>5.77</c:v>
                </c:pt>
                <c:pt idx="144">
                  <c:v>21.06</c:v>
                </c:pt>
                <c:pt idx="145">
                  <c:v>4.35</c:v>
                </c:pt>
                <c:pt idx="146">
                  <c:v>9</c:v>
                </c:pt>
                <c:pt idx="147">
                  <c:v>8.64</c:v>
                </c:pt>
                <c:pt idx="148">
                  <c:v>5.67</c:v>
                </c:pt>
                <c:pt idx="149">
                  <c:v>8.83</c:v>
                </c:pt>
                <c:pt idx="150">
                  <c:v>28.15</c:v>
                </c:pt>
                <c:pt idx="151">
                  <c:v>31.15</c:v>
                </c:pt>
                <c:pt idx="152">
                  <c:v>9.9</c:v>
                </c:pt>
                <c:pt idx="153">
                  <c:v>25.7</c:v>
                </c:pt>
                <c:pt idx="154">
                  <c:v>8.01</c:v>
                </c:pt>
                <c:pt idx="155">
                  <c:v>24.9</c:v>
                </c:pt>
                <c:pt idx="156">
                  <c:v>7.79</c:v>
                </c:pt>
                <c:pt idx="157">
                  <c:v>17.64</c:v>
                </c:pt>
                <c:pt idx="158">
                  <c:v>9.1</c:v>
                </c:pt>
                <c:pt idx="159">
                  <c:v>30.39</c:v>
                </c:pt>
                <c:pt idx="160">
                  <c:v>4.81</c:v>
                </c:pt>
                <c:pt idx="161">
                  <c:v>19.95</c:v>
                </c:pt>
                <c:pt idx="162">
                  <c:v>20.68</c:v>
                </c:pt>
                <c:pt idx="163">
                  <c:v>8.43</c:v>
                </c:pt>
                <c:pt idx="164">
                  <c:v>29.17</c:v>
                </c:pt>
                <c:pt idx="165">
                  <c:v>18.94</c:v>
                </c:pt>
                <c:pt idx="166">
                  <c:v>20.51</c:v>
                </c:pt>
                <c:pt idx="167">
                  <c:v>28.02</c:v>
                </c:pt>
                <c:pt idx="168">
                  <c:v>24.85</c:v>
                </c:pt>
                <c:pt idx="169">
                  <c:v>27.91</c:v>
                </c:pt>
                <c:pt idx="170">
                  <c:v>22.75</c:v>
                </c:pt>
                <c:pt idx="171">
                  <c:v>26.18</c:v>
                </c:pt>
                <c:pt idx="172">
                  <c:v>23.42</c:v>
                </c:pt>
                <c:pt idx="173">
                  <c:v>27.03</c:v>
                </c:pt>
                <c:pt idx="174">
                  <c:v>19.49</c:v>
                </c:pt>
                <c:pt idx="175">
                  <c:v>25.5</c:v>
                </c:pt>
                <c:pt idx="176">
                  <c:v>8.24</c:v>
                </c:pt>
                <c:pt idx="177">
                  <c:v>3.69</c:v>
                </c:pt>
                <c:pt idx="178">
                  <c:v>26.15</c:v>
                </c:pt>
                <c:pt idx="179">
                  <c:v>28.01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C9D0DA"/>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8A80"/>
                </a:solidFill>
                <a:latin typeface="+mn-lt"/>
              </a:defRPr>
            </a:pPr>
            <a:r>
              <a:rPr sz="1100" b="0" i="0" u="none" strike="noStrike">
                <a:solidFill>
                  <a:srgbClr val="1F8A80"/>
                </a:solidFill>
                <a:latin typeface="+mn-lt"/>
              </a:rPr>
              <a:t>First-half shuffle: rank 1 → 15</a:t>
            </a:r>
          </a:p>
        </c:rich>
      </c:tx>
      <c:layout/>
      <c:overlay val="0"/>
    </c:title>
    <c:autoTitleDeleted val="0"/>
    <c:plotArea>
      <c:layout/>
      <c:lineChart>
        <c:varyColors val="0"/>
        <c:ser>
          <c:idx val="0"/>
          <c:order val="0"/>
          <c:tx>
            <c:strRef>
              <c:f>Sheet1!$B$1</c:f>
              <c:strCache>
                <c:ptCount val="1"/>
                <c:pt idx="0">
                  <c:v>Original</c:v>
                </c:pt>
              </c:strCache>
            </c:strRef>
          </c:tx>
          <c:spPr>
            <a:solidFill>
              <a:srgbClr val="B9C2CF"/>
            </a:solidFill>
            <a:ln w="1587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Sheet1!$B$2:$B$181</c:f>
              <c:numCache>
                <c:formatCode>General</c:formatCode>
                <c:ptCount val="180"/>
                <c:pt idx="0">
                  <c:v>22.37</c:v>
                </c:pt>
                <c:pt idx="1">
                  <c:v>24.9</c:v>
                </c:pt>
                <c:pt idx="2">
                  <c:v>24.12</c:v>
                </c:pt>
                <c:pt idx="3">
                  <c:v>24.85</c:v>
                </c:pt>
                <c:pt idx="4">
                  <c:v>26.67</c:v>
                </c:pt>
                <c:pt idx="5">
                  <c:v>26.15</c:v>
                </c:pt>
                <c:pt idx="6">
                  <c:v>26.62</c:v>
                </c:pt>
                <c:pt idx="7">
                  <c:v>29.53</c:v>
                </c:pt>
                <c:pt idx="8">
                  <c:v>28.47</c:v>
                </c:pt>
                <c:pt idx="9">
                  <c:v>26.41</c:v>
                </c:pt>
                <c:pt idx="10">
                  <c:v>28.02</c:v>
                </c:pt>
                <c:pt idx="11">
                  <c:v>28.08</c:v>
                </c:pt>
                <c:pt idx="12">
                  <c:v>29.63</c:v>
                </c:pt>
                <c:pt idx="13">
                  <c:v>31.33</c:v>
                </c:pt>
                <c:pt idx="14">
                  <c:v>30.02</c:v>
                </c:pt>
                <c:pt idx="15">
                  <c:v>30.36</c:v>
                </c:pt>
                <c:pt idx="16">
                  <c:v>29.14</c:v>
                </c:pt>
                <c:pt idx="17">
                  <c:v>29.1</c:v>
                </c:pt>
                <c:pt idx="18">
                  <c:v>28.01</c:v>
                </c:pt>
                <c:pt idx="19">
                  <c:v>27.46</c:v>
                </c:pt>
                <c:pt idx="20">
                  <c:v>27.2</c:v>
                </c:pt>
                <c:pt idx="21">
                  <c:v>27.15</c:v>
                </c:pt>
                <c:pt idx="22">
                  <c:v>27.43</c:v>
                </c:pt>
                <c:pt idx="23">
                  <c:v>26.8</c:v>
                </c:pt>
                <c:pt idx="24">
                  <c:v>28.42</c:v>
                </c:pt>
                <c:pt idx="25">
                  <c:v>28.42</c:v>
                </c:pt>
                <c:pt idx="26">
                  <c:v>28.1</c:v>
                </c:pt>
                <c:pt idx="27">
                  <c:v>28.17</c:v>
                </c:pt>
                <c:pt idx="28">
                  <c:v>27.4</c:v>
                </c:pt>
                <c:pt idx="29">
                  <c:v>27.65</c:v>
                </c:pt>
                <c:pt idx="30">
                  <c:v>30.07</c:v>
                </c:pt>
                <c:pt idx="31">
                  <c:v>30.84</c:v>
                </c:pt>
                <c:pt idx="32">
                  <c:v>26.55</c:v>
                </c:pt>
                <c:pt idx="33">
                  <c:v>25.7</c:v>
                </c:pt>
                <c:pt idx="34">
                  <c:v>25.76</c:v>
                </c:pt>
                <c:pt idx="35">
                  <c:v>26.18</c:v>
                </c:pt>
                <c:pt idx="36">
                  <c:v>26.67</c:v>
                </c:pt>
                <c:pt idx="37">
                  <c:v>25.5</c:v>
                </c:pt>
                <c:pt idx="38">
                  <c:v>26.32</c:v>
                </c:pt>
                <c:pt idx="39">
                  <c:v>25.84</c:v>
                </c:pt>
                <c:pt idx="40">
                  <c:v>25.79</c:v>
                </c:pt>
                <c:pt idx="41">
                  <c:v>26.7</c:v>
                </c:pt>
                <c:pt idx="42">
                  <c:v>28.15</c:v>
                </c:pt>
                <c:pt idx="43">
                  <c:v>29.98</c:v>
                </c:pt>
                <c:pt idx="44">
                  <c:v>30.39</c:v>
                </c:pt>
                <c:pt idx="45">
                  <c:v>29.79</c:v>
                </c:pt>
                <c:pt idx="46">
                  <c:v>28.96</c:v>
                </c:pt>
                <c:pt idx="47">
                  <c:v>29.17</c:v>
                </c:pt>
                <c:pt idx="48">
                  <c:v>28.73</c:v>
                </c:pt>
                <c:pt idx="49">
                  <c:v>26.77</c:v>
                </c:pt>
                <c:pt idx="50">
                  <c:v>27.65</c:v>
                </c:pt>
                <c:pt idx="51">
                  <c:v>29.54</c:v>
                </c:pt>
                <c:pt idx="52">
                  <c:v>28.59</c:v>
                </c:pt>
                <c:pt idx="53">
                  <c:v>27.3</c:v>
                </c:pt>
                <c:pt idx="54">
                  <c:v>27.03</c:v>
                </c:pt>
                <c:pt idx="55">
                  <c:v>25.78</c:v>
                </c:pt>
                <c:pt idx="56">
                  <c:v>26.15</c:v>
                </c:pt>
                <c:pt idx="57">
                  <c:v>27.17</c:v>
                </c:pt>
                <c:pt idx="58">
                  <c:v>26.76</c:v>
                </c:pt>
                <c:pt idx="59">
                  <c:v>28.59</c:v>
                </c:pt>
                <c:pt idx="60">
                  <c:v>30.33</c:v>
                </c:pt>
                <c:pt idx="61">
                  <c:v>29.9</c:v>
                </c:pt>
                <c:pt idx="62">
                  <c:v>29.51</c:v>
                </c:pt>
                <c:pt idx="63">
                  <c:v>30.52</c:v>
                </c:pt>
                <c:pt idx="64">
                  <c:v>34.6</c:v>
                </c:pt>
                <c:pt idx="65">
                  <c:v>33.49</c:v>
                </c:pt>
                <c:pt idx="66">
                  <c:v>31.15</c:v>
                </c:pt>
                <c:pt idx="67">
                  <c:v>31.37</c:v>
                </c:pt>
                <c:pt idx="68">
                  <c:v>28.98</c:v>
                </c:pt>
                <c:pt idx="69">
                  <c:v>27.91</c:v>
                </c:pt>
                <c:pt idx="70">
                  <c:v>28.42</c:v>
                </c:pt>
                <c:pt idx="71">
                  <c:v>24.31</c:v>
                </c:pt>
                <c:pt idx="72">
                  <c:v>20.85</c:v>
                </c:pt>
                <c:pt idx="73">
                  <c:v>21.06</c:v>
                </c:pt>
                <c:pt idx="74">
                  <c:v>20.68</c:v>
                </c:pt>
                <c:pt idx="75">
                  <c:v>20.79</c:v>
                </c:pt>
                <c:pt idx="76">
                  <c:v>19.19</c:v>
                </c:pt>
                <c:pt idx="77">
                  <c:v>18.62</c:v>
                </c:pt>
                <c:pt idx="78">
                  <c:v>18.94</c:v>
                </c:pt>
                <c:pt idx="79">
                  <c:v>20.23</c:v>
                </c:pt>
                <c:pt idx="80">
                  <c:v>20.25</c:v>
                </c:pt>
                <c:pt idx="81">
                  <c:v>21.62</c:v>
                </c:pt>
                <c:pt idx="82">
                  <c:v>23.98</c:v>
                </c:pt>
                <c:pt idx="83">
                  <c:v>25.31</c:v>
                </c:pt>
                <c:pt idx="84">
                  <c:v>25.9</c:v>
                </c:pt>
                <c:pt idx="85">
                  <c:v>24.1</c:v>
                </c:pt>
                <c:pt idx="86">
                  <c:v>23.21</c:v>
                </c:pt>
                <c:pt idx="87">
                  <c:v>22.83</c:v>
                </c:pt>
                <c:pt idx="88">
                  <c:v>22.75</c:v>
                </c:pt>
                <c:pt idx="89">
                  <c:v>22.64</c:v>
                </c:pt>
                <c:pt idx="90">
                  <c:v>20.35</c:v>
                </c:pt>
                <c:pt idx="91">
                  <c:v>21.01</c:v>
                </c:pt>
                <c:pt idx="92">
                  <c:v>21.39</c:v>
                </c:pt>
                <c:pt idx="93">
                  <c:v>22.57</c:v>
                </c:pt>
                <c:pt idx="94">
                  <c:v>23.33</c:v>
                </c:pt>
                <c:pt idx="95">
                  <c:v>22.89</c:v>
                </c:pt>
                <c:pt idx="96">
                  <c:v>23.56</c:v>
                </c:pt>
                <c:pt idx="97">
                  <c:v>23.42</c:v>
                </c:pt>
                <c:pt idx="98">
                  <c:v>22.32</c:v>
                </c:pt>
                <c:pt idx="99">
                  <c:v>22.52</c:v>
                </c:pt>
                <c:pt idx="100">
                  <c:v>21.08</c:v>
                </c:pt>
                <c:pt idx="101">
                  <c:v>19.95</c:v>
                </c:pt>
                <c:pt idx="102">
                  <c:v>20.18</c:v>
                </c:pt>
                <c:pt idx="103">
                  <c:v>19.49</c:v>
                </c:pt>
                <c:pt idx="104">
                  <c:v>17.27</c:v>
                </c:pt>
                <c:pt idx="105">
                  <c:v>17.64</c:v>
                </c:pt>
                <c:pt idx="106">
                  <c:v>19.03</c:v>
                </c:pt>
                <c:pt idx="107">
                  <c:v>20.51</c:v>
                </c:pt>
                <c:pt idx="108">
                  <c:v>20.87</c:v>
                </c:pt>
                <c:pt idx="109">
                  <c:v>20.75</c:v>
                </c:pt>
                <c:pt idx="110">
                  <c:v>17.76</c:v>
                </c:pt>
                <c:pt idx="111">
                  <c:v>13.18</c:v>
                </c:pt>
                <c:pt idx="112">
                  <c:v>13.09</c:v>
                </c:pt>
                <c:pt idx="113">
                  <c:v>15</c:v>
                </c:pt>
                <c:pt idx="114">
                  <c:v>13.29</c:v>
                </c:pt>
                <c:pt idx="115">
                  <c:v>12.55</c:v>
                </c:pt>
                <c:pt idx="116">
                  <c:v>15.61</c:v>
                </c:pt>
                <c:pt idx="117">
                  <c:v>13.87</c:v>
                </c:pt>
                <c:pt idx="118">
                  <c:v>14.03</c:v>
                </c:pt>
                <c:pt idx="119">
                  <c:v>14</c:v>
                </c:pt>
                <c:pt idx="120">
                  <c:v>12.05</c:v>
                </c:pt>
                <c:pt idx="121">
                  <c:v>9.9</c:v>
                </c:pt>
                <c:pt idx="122">
                  <c:v>8.01</c:v>
                </c:pt>
                <c:pt idx="123">
                  <c:v>9</c:v>
                </c:pt>
                <c:pt idx="124">
                  <c:v>11.9</c:v>
                </c:pt>
                <c:pt idx="125">
                  <c:v>14.47</c:v>
                </c:pt>
                <c:pt idx="126">
                  <c:v>11.07</c:v>
                </c:pt>
                <c:pt idx="127">
                  <c:v>10.43</c:v>
                </c:pt>
                <c:pt idx="128">
                  <c:v>9.43</c:v>
                </c:pt>
                <c:pt idx="129">
                  <c:v>5.77</c:v>
                </c:pt>
                <c:pt idx="130">
                  <c:v>8.16</c:v>
                </c:pt>
                <c:pt idx="131">
                  <c:v>6.67</c:v>
                </c:pt>
                <c:pt idx="132">
                  <c:v>8.24</c:v>
                </c:pt>
                <c:pt idx="133">
                  <c:v>8.08</c:v>
                </c:pt>
                <c:pt idx="134">
                  <c:v>5.87</c:v>
                </c:pt>
                <c:pt idx="135">
                  <c:v>8.83</c:v>
                </c:pt>
                <c:pt idx="136">
                  <c:v>8.92</c:v>
                </c:pt>
                <c:pt idx="137">
                  <c:v>7.79</c:v>
                </c:pt>
                <c:pt idx="138">
                  <c:v>5.99</c:v>
                </c:pt>
                <c:pt idx="139">
                  <c:v>7.96</c:v>
                </c:pt>
                <c:pt idx="140">
                  <c:v>3.54</c:v>
                </c:pt>
                <c:pt idx="141">
                  <c:v>8.64</c:v>
                </c:pt>
                <c:pt idx="142">
                  <c:v>8.43</c:v>
                </c:pt>
                <c:pt idx="143">
                  <c:v>9.77</c:v>
                </c:pt>
                <c:pt idx="144">
                  <c:v>9.7</c:v>
                </c:pt>
                <c:pt idx="145">
                  <c:v>9.11</c:v>
                </c:pt>
                <c:pt idx="146">
                  <c:v>9.06</c:v>
                </c:pt>
                <c:pt idx="147">
                  <c:v>9.1</c:v>
                </c:pt>
                <c:pt idx="148">
                  <c:v>6.4</c:v>
                </c:pt>
                <c:pt idx="149">
                  <c:v>8.72</c:v>
                </c:pt>
                <c:pt idx="150">
                  <c:v>9.1</c:v>
                </c:pt>
                <c:pt idx="151">
                  <c:v>5.88</c:v>
                </c:pt>
                <c:pt idx="152">
                  <c:v>10.3</c:v>
                </c:pt>
                <c:pt idx="153">
                  <c:v>13</c:v>
                </c:pt>
                <c:pt idx="154">
                  <c:v>11.12</c:v>
                </c:pt>
                <c:pt idx="155">
                  <c:v>8.58</c:v>
                </c:pt>
                <c:pt idx="156">
                  <c:v>6.19</c:v>
                </c:pt>
                <c:pt idx="157">
                  <c:v>5.17</c:v>
                </c:pt>
                <c:pt idx="158">
                  <c:v>11.86</c:v>
                </c:pt>
                <c:pt idx="159">
                  <c:v>12.62</c:v>
                </c:pt>
                <c:pt idx="160">
                  <c:v>9.93</c:v>
                </c:pt>
                <c:pt idx="161">
                  <c:v>8.13</c:v>
                </c:pt>
                <c:pt idx="162">
                  <c:v>4.61</c:v>
                </c:pt>
                <c:pt idx="163">
                  <c:v>5.57</c:v>
                </c:pt>
                <c:pt idx="164">
                  <c:v>3.95</c:v>
                </c:pt>
                <c:pt idx="165">
                  <c:v>4.25</c:v>
                </c:pt>
                <c:pt idx="166">
                  <c:v>2.05</c:v>
                </c:pt>
                <c:pt idx="167">
                  <c:v>4.1</c:v>
                </c:pt>
                <c:pt idx="168">
                  <c:v>3.69</c:v>
                </c:pt>
                <c:pt idx="169">
                  <c:v>5.1</c:v>
                </c:pt>
                <c:pt idx="170">
                  <c:v>4.81</c:v>
                </c:pt>
                <c:pt idx="171">
                  <c:v>4.35</c:v>
                </c:pt>
                <c:pt idx="172">
                  <c:v>4.34</c:v>
                </c:pt>
                <c:pt idx="173">
                  <c:v>4.8</c:v>
                </c:pt>
                <c:pt idx="174">
                  <c:v>5.67</c:v>
                </c:pt>
                <c:pt idx="175">
                  <c:v>6.39</c:v>
                </c:pt>
                <c:pt idx="176">
                  <c:v>11.12</c:v>
                </c:pt>
                <c:pt idx="177">
                  <c:v>8.51</c:v>
                </c:pt>
                <c:pt idx="178">
                  <c:v>9.84</c:v>
                </c:pt>
                <c:pt idx="179">
                  <c:v>12.27</c:v>
                </c:pt>
              </c:numCache>
            </c:numRef>
          </c:val>
          <c:smooth val="0"/>
        </c:ser>
        <c:ser>
          <c:idx val="1"/>
          <c:order val="1"/>
          <c:tx>
            <c:strRef>
              <c:f>Sheet1!$C$1</c:f>
              <c:strCache>
                <c:ptCount val="1"/>
                <c:pt idx="0">
                  <c:v>First-half shuffle</c:v>
                </c:pt>
              </c:strCache>
            </c:strRef>
          </c:tx>
          <c:spPr>
            <a:solidFill>
              <a:srgbClr val="1F8A80"/>
            </a:solidFill>
            <a:ln w="15875" cap="flat">
              <a:solidFill>
                <a:srgbClr val="1F8A8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8A80"/>
              </a:solidFill>
              <a:ln w="9525" cap="flat">
                <a:solidFill>
                  <a:srgbClr val="1F8A80"/>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Sheet1!$C$2:$C$181</c:f>
              <c:numCache>
                <c:formatCode>General</c:formatCode>
                <c:ptCount val="180"/>
                <c:pt idx="0">
                  <c:v>25.79</c:v>
                </c:pt>
                <c:pt idx="1">
                  <c:v>28.17</c:v>
                </c:pt>
                <c:pt idx="2">
                  <c:v>25.76</c:v>
                </c:pt>
                <c:pt idx="3">
                  <c:v>30.02</c:v>
                </c:pt>
                <c:pt idx="4">
                  <c:v>31.15</c:v>
                </c:pt>
                <c:pt idx="5">
                  <c:v>20.85</c:v>
                </c:pt>
                <c:pt idx="6">
                  <c:v>20.25</c:v>
                </c:pt>
                <c:pt idx="7">
                  <c:v>24.1</c:v>
                </c:pt>
                <c:pt idx="8">
                  <c:v>27.65</c:v>
                </c:pt>
                <c:pt idx="9">
                  <c:v>26.8</c:v>
                </c:pt>
                <c:pt idx="10">
                  <c:v>24.85</c:v>
                </c:pt>
                <c:pt idx="11">
                  <c:v>29.51</c:v>
                </c:pt>
                <c:pt idx="12">
                  <c:v>28.01</c:v>
                </c:pt>
                <c:pt idx="13">
                  <c:v>24.9</c:v>
                </c:pt>
                <c:pt idx="14">
                  <c:v>22.37</c:v>
                </c:pt>
                <c:pt idx="15">
                  <c:v>28.15</c:v>
                </c:pt>
                <c:pt idx="16">
                  <c:v>33.49</c:v>
                </c:pt>
                <c:pt idx="17">
                  <c:v>29.54</c:v>
                </c:pt>
                <c:pt idx="18">
                  <c:v>25.7</c:v>
                </c:pt>
                <c:pt idx="19">
                  <c:v>18.94</c:v>
                </c:pt>
                <c:pt idx="20">
                  <c:v>20.23</c:v>
                </c:pt>
                <c:pt idx="21">
                  <c:v>26.7</c:v>
                </c:pt>
                <c:pt idx="22">
                  <c:v>23.98</c:v>
                </c:pt>
                <c:pt idx="23">
                  <c:v>24.31</c:v>
                </c:pt>
                <c:pt idx="24">
                  <c:v>26.15</c:v>
                </c:pt>
                <c:pt idx="25">
                  <c:v>31.33</c:v>
                </c:pt>
                <c:pt idx="26">
                  <c:v>28.96</c:v>
                </c:pt>
                <c:pt idx="27">
                  <c:v>22.64</c:v>
                </c:pt>
                <c:pt idx="28">
                  <c:v>30.84</c:v>
                </c:pt>
                <c:pt idx="29">
                  <c:v>27.3</c:v>
                </c:pt>
                <c:pt idx="30">
                  <c:v>24.12</c:v>
                </c:pt>
                <c:pt idx="31">
                  <c:v>29.98</c:v>
                </c:pt>
                <c:pt idx="32">
                  <c:v>27.65</c:v>
                </c:pt>
                <c:pt idx="33">
                  <c:v>27.4</c:v>
                </c:pt>
                <c:pt idx="34">
                  <c:v>23.21</c:v>
                </c:pt>
                <c:pt idx="35">
                  <c:v>28.47</c:v>
                </c:pt>
                <c:pt idx="36">
                  <c:v>30.52</c:v>
                </c:pt>
                <c:pt idx="37">
                  <c:v>27.46</c:v>
                </c:pt>
                <c:pt idx="38">
                  <c:v>21.06</c:v>
                </c:pt>
                <c:pt idx="39">
                  <c:v>29.1</c:v>
                </c:pt>
                <c:pt idx="40">
                  <c:v>26.76</c:v>
                </c:pt>
                <c:pt idx="41">
                  <c:v>21.62</c:v>
                </c:pt>
                <c:pt idx="42">
                  <c:v>27.17</c:v>
                </c:pt>
                <c:pt idx="43">
                  <c:v>28.42</c:v>
                </c:pt>
                <c:pt idx="44">
                  <c:v>26.67</c:v>
                </c:pt>
                <c:pt idx="45">
                  <c:v>25.5</c:v>
                </c:pt>
                <c:pt idx="46">
                  <c:v>28.42</c:v>
                </c:pt>
                <c:pt idx="47">
                  <c:v>18.62</c:v>
                </c:pt>
                <c:pt idx="48">
                  <c:v>27.2</c:v>
                </c:pt>
                <c:pt idx="49">
                  <c:v>28.59</c:v>
                </c:pt>
                <c:pt idx="50">
                  <c:v>28.73</c:v>
                </c:pt>
                <c:pt idx="51">
                  <c:v>31.37</c:v>
                </c:pt>
                <c:pt idx="52">
                  <c:v>25.84</c:v>
                </c:pt>
                <c:pt idx="53">
                  <c:v>27.91</c:v>
                </c:pt>
                <c:pt idx="54">
                  <c:v>26.67</c:v>
                </c:pt>
                <c:pt idx="55">
                  <c:v>26.77</c:v>
                </c:pt>
                <c:pt idx="56">
                  <c:v>27.43</c:v>
                </c:pt>
                <c:pt idx="57">
                  <c:v>25.78</c:v>
                </c:pt>
                <c:pt idx="58">
                  <c:v>26.41</c:v>
                </c:pt>
                <c:pt idx="59">
                  <c:v>30.07</c:v>
                </c:pt>
                <c:pt idx="60">
                  <c:v>30.39</c:v>
                </c:pt>
                <c:pt idx="61">
                  <c:v>29.53</c:v>
                </c:pt>
                <c:pt idx="62">
                  <c:v>28.08</c:v>
                </c:pt>
                <c:pt idx="63">
                  <c:v>19.19</c:v>
                </c:pt>
                <c:pt idx="64">
                  <c:v>22.83</c:v>
                </c:pt>
                <c:pt idx="65">
                  <c:v>29.63</c:v>
                </c:pt>
                <c:pt idx="66">
                  <c:v>30.33</c:v>
                </c:pt>
                <c:pt idx="67">
                  <c:v>29.17</c:v>
                </c:pt>
                <c:pt idx="68">
                  <c:v>28.1</c:v>
                </c:pt>
                <c:pt idx="69">
                  <c:v>28.98</c:v>
                </c:pt>
                <c:pt idx="70">
                  <c:v>29.14</c:v>
                </c:pt>
                <c:pt idx="71">
                  <c:v>29.9</c:v>
                </c:pt>
                <c:pt idx="72">
                  <c:v>30.36</c:v>
                </c:pt>
                <c:pt idx="73">
                  <c:v>26.15</c:v>
                </c:pt>
                <c:pt idx="74">
                  <c:v>28.59</c:v>
                </c:pt>
                <c:pt idx="75">
                  <c:v>26.18</c:v>
                </c:pt>
                <c:pt idx="76">
                  <c:v>26.32</c:v>
                </c:pt>
                <c:pt idx="77">
                  <c:v>25.31</c:v>
                </c:pt>
                <c:pt idx="78">
                  <c:v>27.15</c:v>
                </c:pt>
                <c:pt idx="79">
                  <c:v>25.9</c:v>
                </c:pt>
                <c:pt idx="80">
                  <c:v>27.03</c:v>
                </c:pt>
                <c:pt idx="81">
                  <c:v>28.42</c:v>
                </c:pt>
                <c:pt idx="82">
                  <c:v>34.6</c:v>
                </c:pt>
                <c:pt idx="83">
                  <c:v>20.79</c:v>
                </c:pt>
                <c:pt idx="84">
                  <c:v>22.75</c:v>
                </c:pt>
                <c:pt idx="85">
                  <c:v>26.62</c:v>
                </c:pt>
                <c:pt idx="86">
                  <c:v>29.79</c:v>
                </c:pt>
                <c:pt idx="87">
                  <c:v>28.02</c:v>
                </c:pt>
                <c:pt idx="88">
                  <c:v>20.68</c:v>
                </c:pt>
                <c:pt idx="89">
                  <c:v>26.55</c:v>
                </c:pt>
                <c:pt idx="90">
                  <c:v>20.35</c:v>
                </c:pt>
                <c:pt idx="91">
                  <c:v>21.01</c:v>
                </c:pt>
                <c:pt idx="92">
                  <c:v>21.39</c:v>
                </c:pt>
                <c:pt idx="93">
                  <c:v>22.57</c:v>
                </c:pt>
                <c:pt idx="94">
                  <c:v>23.33</c:v>
                </c:pt>
                <c:pt idx="95">
                  <c:v>22.89</c:v>
                </c:pt>
                <c:pt idx="96">
                  <c:v>23.56</c:v>
                </c:pt>
                <c:pt idx="97">
                  <c:v>23.42</c:v>
                </c:pt>
                <c:pt idx="98">
                  <c:v>22.32</c:v>
                </c:pt>
                <c:pt idx="99">
                  <c:v>22.52</c:v>
                </c:pt>
                <c:pt idx="100">
                  <c:v>21.08</c:v>
                </c:pt>
                <c:pt idx="101">
                  <c:v>19.95</c:v>
                </c:pt>
                <c:pt idx="102">
                  <c:v>20.18</c:v>
                </c:pt>
                <c:pt idx="103">
                  <c:v>19.49</c:v>
                </c:pt>
                <c:pt idx="104">
                  <c:v>17.27</c:v>
                </c:pt>
                <c:pt idx="105">
                  <c:v>17.64</c:v>
                </c:pt>
                <c:pt idx="106">
                  <c:v>19.03</c:v>
                </c:pt>
                <c:pt idx="107">
                  <c:v>20.51</c:v>
                </c:pt>
                <c:pt idx="108">
                  <c:v>20.87</c:v>
                </c:pt>
                <c:pt idx="109">
                  <c:v>20.75</c:v>
                </c:pt>
                <c:pt idx="110">
                  <c:v>17.76</c:v>
                </c:pt>
                <c:pt idx="111">
                  <c:v>13.18</c:v>
                </c:pt>
                <c:pt idx="112">
                  <c:v>13.09</c:v>
                </c:pt>
                <c:pt idx="113">
                  <c:v>15</c:v>
                </c:pt>
                <c:pt idx="114">
                  <c:v>13.29</c:v>
                </c:pt>
                <c:pt idx="115">
                  <c:v>12.55</c:v>
                </c:pt>
                <c:pt idx="116">
                  <c:v>15.61</c:v>
                </c:pt>
                <c:pt idx="117">
                  <c:v>13.87</c:v>
                </c:pt>
                <c:pt idx="118">
                  <c:v>14.03</c:v>
                </c:pt>
                <c:pt idx="119">
                  <c:v>14</c:v>
                </c:pt>
                <c:pt idx="120">
                  <c:v>12.05</c:v>
                </c:pt>
                <c:pt idx="121">
                  <c:v>9.9</c:v>
                </c:pt>
                <c:pt idx="122">
                  <c:v>8.01</c:v>
                </c:pt>
                <c:pt idx="123">
                  <c:v>9</c:v>
                </c:pt>
                <c:pt idx="124">
                  <c:v>11.9</c:v>
                </c:pt>
                <c:pt idx="125">
                  <c:v>14.47</c:v>
                </c:pt>
                <c:pt idx="126">
                  <c:v>11.07</c:v>
                </c:pt>
                <c:pt idx="127">
                  <c:v>10.43</c:v>
                </c:pt>
                <c:pt idx="128">
                  <c:v>9.43</c:v>
                </c:pt>
                <c:pt idx="129">
                  <c:v>5.77</c:v>
                </c:pt>
                <c:pt idx="130">
                  <c:v>8.16</c:v>
                </c:pt>
                <c:pt idx="131">
                  <c:v>6.67</c:v>
                </c:pt>
                <c:pt idx="132">
                  <c:v>8.24</c:v>
                </c:pt>
                <c:pt idx="133">
                  <c:v>8.08</c:v>
                </c:pt>
                <c:pt idx="134">
                  <c:v>5.87</c:v>
                </c:pt>
                <c:pt idx="135">
                  <c:v>8.83</c:v>
                </c:pt>
                <c:pt idx="136">
                  <c:v>8.92</c:v>
                </c:pt>
                <c:pt idx="137">
                  <c:v>7.79</c:v>
                </c:pt>
                <c:pt idx="138">
                  <c:v>5.99</c:v>
                </c:pt>
                <c:pt idx="139">
                  <c:v>7.96</c:v>
                </c:pt>
                <c:pt idx="140">
                  <c:v>3.54</c:v>
                </c:pt>
                <c:pt idx="141">
                  <c:v>8.64</c:v>
                </c:pt>
                <c:pt idx="142">
                  <c:v>8.43</c:v>
                </c:pt>
                <c:pt idx="143">
                  <c:v>9.77</c:v>
                </c:pt>
                <c:pt idx="144">
                  <c:v>9.7</c:v>
                </c:pt>
                <c:pt idx="145">
                  <c:v>9.11</c:v>
                </c:pt>
                <c:pt idx="146">
                  <c:v>9.06</c:v>
                </c:pt>
                <c:pt idx="147">
                  <c:v>9.1</c:v>
                </c:pt>
                <c:pt idx="148">
                  <c:v>6.4</c:v>
                </c:pt>
                <c:pt idx="149">
                  <c:v>8.72</c:v>
                </c:pt>
                <c:pt idx="150">
                  <c:v>9.1</c:v>
                </c:pt>
                <c:pt idx="151">
                  <c:v>5.88</c:v>
                </c:pt>
                <c:pt idx="152">
                  <c:v>10.3</c:v>
                </c:pt>
                <c:pt idx="153">
                  <c:v>13</c:v>
                </c:pt>
                <c:pt idx="154">
                  <c:v>11.12</c:v>
                </c:pt>
                <c:pt idx="155">
                  <c:v>8.58</c:v>
                </c:pt>
                <c:pt idx="156">
                  <c:v>6.19</c:v>
                </c:pt>
                <c:pt idx="157">
                  <c:v>5.17</c:v>
                </c:pt>
                <c:pt idx="158">
                  <c:v>11.86</c:v>
                </c:pt>
                <c:pt idx="159">
                  <c:v>12.62</c:v>
                </c:pt>
                <c:pt idx="160">
                  <c:v>9.93</c:v>
                </c:pt>
                <c:pt idx="161">
                  <c:v>8.13</c:v>
                </c:pt>
                <c:pt idx="162">
                  <c:v>4.61</c:v>
                </c:pt>
                <c:pt idx="163">
                  <c:v>5.57</c:v>
                </c:pt>
                <c:pt idx="164">
                  <c:v>3.95</c:v>
                </c:pt>
                <c:pt idx="165">
                  <c:v>4.25</c:v>
                </c:pt>
                <c:pt idx="166">
                  <c:v>2.05</c:v>
                </c:pt>
                <c:pt idx="167">
                  <c:v>4.1</c:v>
                </c:pt>
                <c:pt idx="168">
                  <c:v>3.69</c:v>
                </c:pt>
                <c:pt idx="169">
                  <c:v>5.1</c:v>
                </c:pt>
                <c:pt idx="170">
                  <c:v>4.81</c:v>
                </c:pt>
                <c:pt idx="171">
                  <c:v>4.35</c:v>
                </c:pt>
                <c:pt idx="172">
                  <c:v>4.34</c:v>
                </c:pt>
                <c:pt idx="173">
                  <c:v>4.8</c:v>
                </c:pt>
                <c:pt idx="174">
                  <c:v>5.67</c:v>
                </c:pt>
                <c:pt idx="175">
                  <c:v>6.39</c:v>
                </c:pt>
                <c:pt idx="176">
                  <c:v>11.12</c:v>
                </c:pt>
                <c:pt idx="177">
                  <c:v>8.51</c:v>
                </c:pt>
                <c:pt idx="178">
                  <c:v>9.84</c:v>
                </c:pt>
                <c:pt idx="179">
                  <c:v>12.27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C9D0DA"/>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D98324"/>
                </a:solidFill>
                <a:latin typeface="+mn-lt"/>
              </a:defRPr>
            </a:pPr>
            <a:r>
              <a:rPr sz="1100" b="0" i="0" u="none" strike="noStrike">
                <a:solidFill>
                  <a:srgbClr val="D98324"/>
                </a:solidFill>
                <a:latin typeface="+mn-lt"/>
              </a:rPr>
              <a:t>Half exchange: rank 1 → 249</a:t>
            </a:r>
          </a:p>
        </c:rich>
      </c:tx>
      <c:layout/>
      <c:overlay val="0"/>
    </c:title>
    <c:autoTitleDeleted val="0"/>
    <c:plotArea>
      <c:layout/>
      <c:lineChart>
        <c:varyColors val="0"/>
        <c:ser>
          <c:idx val="0"/>
          <c:order val="0"/>
          <c:tx>
            <c:strRef>
              <c:f>Sheet1!$B$1</c:f>
              <c:strCache>
                <c:ptCount val="1"/>
                <c:pt idx="0">
                  <c:v>Original</c:v>
                </c:pt>
              </c:strCache>
            </c:strRef>
          </c:tx>
          <c:spPr>
            <a:solidFill>
              <a:srgbClr val="B9C2CF"/>
            </a:solidFill>
            <a:ln w="1587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Sheet1!$B$2:$B$181</c:f>
              <c:numCache>
                <c:formatCode>General</c:formatCode>
                <c:ptCount val="180"/>
                <c:pt idx="0">
                  <c:v>22.37</c:v>
                </c:pt>
                <c:pt idx="1">
                  <c:v>24.9</c:v>
                </c:pt>
                <c:pt idx="2">
                  <c:v>24.12</c:v>
                </c:pt>
                <c:pt idx="3">
                  <c:v>24.85</c:v>
                </c:pt>
                <c:pt idx="4">
                  <c:v>26.67</c:v>
                </c:pt>
                <c:pt idx="5">
                  <c:v>26.15</c:v>
                </c:pt>
                <c:pt idx="6">
                  <c:v>26.62</c:v>
                </c:pt>
                <c:pt idx="7">
                  <c:v>29.53</c:v>
                </c:pt>
                <c:pt idx="8">
                  <c:v>28.47</c:v>
                </c:pt>
                <c:pt idx="9">
                  <c:v>26.41</c:v>
                </c:pt>
                <c:pt idx="10">
                  <c:v>28.02</c:v>
                </c:pt>
                <c:pt idx="11">
                  <c:v>28.08</c:v>
                </c:pt>
                <c:pt idx="12">
                  <c:v>29.63</c:v>
                </c:pt>
                <c:pt idx="13">
                  <c:v>31.33</c:v>
                </c:pt>
                <c:pt idx="14">
                  <c:v>30.02</c:v>
                </c:pt>
                <c:pt idx="15">
                  <c:v>30.36</c:v>
                </c:pt>
                <c:pt idx="16">
                  <c:v>29.14</c:v>
                </c:pt>
                <c:pt idx="17">
                  <c:v>29.1</c:v>
                </c:pt>
                <c:pt idx="18">
                  <c:v>28.01</c:v>
                </c:pt>
                <c:pt idx="19">
                  <c:v>27.46</c:v>
                </c:pt>
                <c:pt idx="20">
                  <c:v>27.2</c:v>
                </c:pt>
                <c:pt idx="21">
                  <c:v>27.15</c:v>
                </c:pt>
                <c:pt idx="22">
                  <c:v>27.43</c:v>
                </c:pt>
                <c:pt idx="23">
                  <c:v>26.8</c:v>
                </c:pt>
                <c:pt idx="24">
                  <c:v>28.42</c:v>
                </c:pt>
                <c:pt idx="25">
                  <c:v>28.42</c:v>
                </c:pt>
                <c:pt idx="26">
                  <c:v>28.1</c:v>
                </c:pt>
                <c:pt idx="27">
                  <c:v>28.17</c:v>
                </c:pt>
                <c:pt idx="28">
                  <c:v>27.4</c:v>
                </c:pt>
                <c:pt idx="29">
                  <c:v>27.65</c:v>
                </c:pt>
                <c:pt idx="30">
                  <c:v>30.07</c:v>
                </c:pt>
                <c:pt idx="31">
                  <c:v>30.84</c:v>
                </c:pt>
                <c:pt idx="32">
                  <c:v>26.55</c:v>
                </c:pt>
                <c:pt idx="33">
                  <c:v>25.7</c:v>
                </c:pt>
                <c:pt idx="34">
                  <c:v>25.76</c:v>
                </c:pt>
                <c:pt idx="35">
                  <c:v>26.18</c:v>
                </c:pt>
                <c:pt idx="36">
                  <c:v>26.67</c:v>
                </c:pt>
                <c:pt idx="37">
                  <c:v>25.5</c:v>
                </c:pt>
                <c:pt idx="38">
                  <c:v>26.32</c:v>
                </c:pt>
                <c:pt idx="39">
                  <c:v>25.84</c:v>
                </c:pt>
                <c:pt idx="40">
                  <c:v>25.79</c:v>
                </c:pt>
                <c:pt idx="41">
                  <c:v>26.7</c:v>
                </c:pt>
                <c:pt idx="42">
                  <c:v>28.15</c:v>
                </c:pt>
                <c:pt idx="43">
                  <c:v>29.98</c:v>
                </c:pt>
                <c:pt idx="44">
                  <c:v>30.39</c:v>
                </c:pt>
                <c:pt idx="45">
                  <c:v>29.79</c:v>
                </c:pt>
                <c:pt idx="46">
                  <c:v>28.96</c:v>
                </c:pt>
                <c:pt idx="47">
                  <c:v>29.17</c:v>
                </c:pt>
                <c:pt idx="48">
                  <c:v>28.73</c:v>
                </c:pt>
                <c:pt idx="49">
                  <c:v>26.77</c:v>
                </c:pt>
                <c:pt idx="50">
                  <c:v>27.65</c:v>
                </c:pt>
                <c:pt idx="51">
                  <c:v>29.54</c:v>
                </c:pt>
                <c:pt idx="52">
                  <c:v>28.59</c:v>
                </c:pt>
                <c:pt idx="53">
                  <c:v>27.3</c:v>
                </c:pt>
                <c:pt idx="54">
                  <c:v>27.03</c:v>
                </c:pt>
                <c:pt idx="55">
                  <c:v>25.78</c:v>
                </c:pt>
                <c:pt idx="56">
                  <c:v>26.15</c:v>
                </c:pt>
                <c:pt idx="57">
                  <c:v>27.17</c:v>
                </c:pt>
                <c:pt idx="58">
                  <c:v>26.76</c:v>
                </c:pt>
                <c:pt idx="59">
                  <c:v>28.59</c:v>
                </c:pt>
                <c:pt idx="60">
                  <c:v>30.33</c:v>
                </c:pt>
                <c:pt idx="61">
                  <c:v>29.9</c:v>
                </c:pt>
                <c:pt idx="62">
                  <c:v>29.51</c:v>
                </c:pt>
                <c:pt idx="63">
                  <c:v>30.52</c:v>
                </c:pt>
                <c:pt idx="64">
                  <c:v>34.6</c:v>
                </c:pt>
                <c:pt idx="65">
                  <c:v>33.49</c:v>
                </c:pt>
                <c:pt idx="66">
                  <c:v>31.15</c:v>
                </c:pt>
                <c:pt idx="67">
                  <c:v>31.37</c:v>
                </c:pt>
                <c:pt idx="68">
                  <c:v>28.98</c:v>
                </c:pt>
                <c:pt idx="69">
                  <c:v>27.91</c:v>
                </c:pt>
                <c:pt idx="70">
                  <c:v>28.42</c:v>
                </c:pt>
                <c:pt idx="71">
                  <c:v>24.31</c:v>
                </c:pt>
                <c:pt idx="72">
                  <c:v>20.85</c:v>
                </c:pt>
                <c:pt idx="73">
                  <c:v>21.06</c:v>
                </c:pt>
                <c:pt idx="74">
                  <c:v>20.68</c:v>
                </c:pt>
                <c:pt idx="75">
                  <c:v>20.79</c:v>
                </c:pt>
                <c:pt idx="76">
                  <c:v>19.19</c:v>
                </c:pt>
                <c:pt idx="77">
                  <c:v>18.62</c:v>
                </c:pt>
                <c:pt idx="78">
                  <c:v>18.94</c:v>
                </c:pt>
                <c:pt idx="79">
                  <c:v>20.23</c:v>
                </c:pt>
                <c:pt idx="80">
                  <c:v>20.25</c:v>
                </c:pt>
                <c:pt idx="81">
                  <c:v>21.62</c:v>
                </c:pt>
                <c:pt idx="82">
                  <c:v>23.98</c:v>
                </c:pt>
                <c:pt idx="83">
                  <c:v>25.31</c:v>
                </c:pt>
                <c:pt idx="84">
                  <c:v>25.9</c:v>
                </c:pt>
                <c:pt idx="85">
                  <c:v>24.1</c:v>
                </c:pt>
                <c:pt idx="86">
                  <c:v>23.21</c:v>
                </c:pt>
                <c:pt idx="87">
                  <c:v>22.83</c:v>
                </c:pt>
                <c:pt idx="88">
                  <c:v>22.75</c:v>
                </c:pt>
                <c:pt idx="89">
                  <c:v>22.64</c:v>
                </c:pt>
                <c:pt idx="90">
                  <c:v>20.35</c:v>
                </c:pt>
                <c:pt idx="91">
                  <c:v>21.01</c:v>
                </c:pt>
                <c:pt idx="92">
                  <c:v>21.39</c:v>
                </c:pt>
                <c:pt idx="93">
                  <c:v>22.57</c:v>
                </c:pt>
                <c:pt idx="94">
                  <c:v>23.33</c:v>
                </c:pt>
                <c:pt idx="95">
                  <c:v>22.89</c:v>
                </c:pt>
                <c:pt idx="96">
                  <c:v>23.56</c:v>
                </c:pt>
                <c:pt idx="97">
                  <c:v>23.42</c:v>
                </c:pt>
                <c:pt idx="98">
                  <c:v>22.32</c:v>
                </c:pt>
                <c:pt idx="99">
                  <c:v>22.52</c:v>
                </c:pt>
                <c:pt idx="100">
                  <c:v>21.08</c:v>
                </c:pt>
                <c:pt idx="101">
                  <c:v>19.95</c:v>
                </c:pt>
                <c:pt idx="102">
                  <c:v>20.18</c:v>
                </c:pt>
                <c:pt idx="103">
                  <c:v>19.49</c:v>
                </c:pt>
                <c:pt idx="104">
                  <c:v>17.27</c:v>
                </c:pt>
                <c:pt idx="105">
                  <c:v>17.64</c:v>
                </c:pt>
                <c:pt idx="106">
                  <c:v>19.03</c:v>
                </c:pt>
                <c:pt idx="107">
                  <c:v>20.51</c:v>
                </c:pt>
                <c:pt idx="108">
                  <c:v>20.87</c:v>
                </c:pt>
                <c:pt idx="109">
                  <c:v>20.75</c:v>
                </c:pt>
                <c:pt idx="110">
                  <c:v>17.76</c:v>
                </c:pt>
                <c:pt idx="111">
                  <c:v>13.18</c:v>
                </c:pt>
                <c:pt idx="112">
                  <c:v>13.09</c:v>
                </c:pt>
                <c:pt idx="113">
                  <c:v>15</c:v>
                </c:pt>
                <c:pt idx="114">
                  <c:v>13.29</c:v>
                </c:pt>
                <c:pt idx="115">
                  <c:v>12.55</c:v>
                </c:pt>
                <c:pt idx="116">
                  <c:v>15.61</c:v>
                </c:pt>
                <c:pt idx="117">
                  <c:v>13.87</c:v>
                </c:pt>
                <c:pt idx="118">
                  <c:v>14.03</c:v>
                </c:pt>
                <c:pt idx="119">
                  <c:v>14</c:v>
                </c:pt>
                <c:pt idx="120">
                  <c:v>12.05</c:v>
                </c:pt>
                <c:pt idx="121">
                  <c:v>9.9</c:v>
                </c:pt>
                <c:pt idx="122">
                  <c:v>8.01</c:v>
                </c:pt>
                <c:pt idx="123">
                  <c:v>9</c:v>
                </c:pt>
                <c:pt idx="124">
                  <c:v>11.9</c:v>
                </c:pt>
                <c:pt idx="125">
                  <c:v>14.47</c:v>
                </c:pt>
                <c:pt idx="126">
                  <c:v>11.07</c:v>
                </c:pt>
                <c:pt idx="127">
                  <c:v>10.43</c:v>
                </c:pt>
                <c:pt idx="128">
                  <c:v>9.43</c:v>
                </c:pt>
                <c:pt idx="129">
                  <c:v>5.77</c:v>
                </c:pt>
                <c:pt idx="130">
                  <c:v>8.16</c:v>
                </c:pt>
                <c:pt idx="131">
                  <c:v>6.67</c:v>
                </c:pt>
                <c:pt idx="132">
                  <c:v>8.24</c:v>
                </c:pt>
                <c:pt idx="133">
                  <c:v>8.08</c:v>
                </c:pt>
                <c:pt idx="134">
                  <c:v>5.87</c:v>
                </c:pt>
                <c:pt idx="135">
                  <c:v>8.83</c:v>
                </c:pt>
                <c:pt idx="136">
                  <c:v>8.92</c:v>
                </c:pt>
                <c:pt idx="137">
                  <c:v>7.79</c:v>
                </c:pt>
                <c:pt idx="138">
                  <c:v>5.99</c:v>
                </c:pt>
                <c:pt idx="139">
                  <c:v>7.96</c:v>
                </c:pt>
                <c:pt idx="140">
                  <c:v>3.54</c:v>
                </c:pt>
                <c:pt idx="141">
                  <c:v>8.64</c:v>
                </c:pt>
                <c:pt idx="142">
                  <c:v>8.43</c:v>
                </c:pt>
                <c:pt idx="143">
                  <c:v>9.77</c:v>
                </c:pt>
                <c:pt idx="144">
                  <c:v>9.7</c:v>
                </c:pt>
                <c:pt idx="145">
                  <c:v>9.11</c:v>
                </c:pt>
                <c:pt idx="146">
                  <c:v>9.06</c:v>
                </c:pt>
                <c:pt idx="147">
                  <c:v>9.1</c:v>
                </c:pt>
                <c:pt idx="148">
                  <c:v>6.4</c:v>
                </c:pt>
                <c:pt idx="149">
                  <c:v>8.72</c:v>
                </c:pt>
                <c:pt idx="150">
                  <c:v>9.1</c:v>
                </c:pt>
                <c:pt idx="151">
                  <c:v>5.88</c:v>
                </c:pt>
                <c:pt idx="152">
                  <c:v>10.3</c:v>
                </c:pt>
                <c:pt idx="153">
                  <c:v>13</c:v>
                </c:pt>
                <c:pt idx="154">
                  <c:v>11.12</c:v>
                </c:pt>
                <c:pt idx="155">
                  <c:v>8.58</c:v>
                </c:pt>
                <c:pt idx="156">
                  <c:v>6.19</c:v>
                </c:pt>
                <c:pt idx="157">
                  <c:v>5.17</c:v>
                </c:pt>
                <c:pt idx="158">
                  <c:v>11.86</c:v>
                </c:pt>
                <c:pt idx="159">
                  <c:v>12.62</c:v>
                </c:pt>
                <c:pt idx="160">
                  <c:v>9.93</c:v>
                </c:pt>
                <c:pt idx="161">
                  <c:v>8.13</c:v>
                </c:pt>
                <c:pt idx="162">
                  <c:v>4.61</c:v>
                </c:pt>
                <c:pt idx="163">
                  <c:v>5.57</c:v>
                </c:pt>
                <c:pt idx="164">
                  <c:v>3.95</c:v>
                </c:pt>
                <c:pt idx="165">
                  <c:v>4.25</c:v>
                </c:pt>
                <c:pt idx="166">
                  <c:v>2.05</c:v>
                </c:pt>
                <c:pt idx="167">
                  <c:v>4.1</c:v>
                </c:pt>
                <c:pt idx="168">
                  <c:v>3.69</c:v>
                </c:pt>
                <c:pt idx="169">
                  <c:v>5.1</c:v>
                </c:pt>
                <c:pt idx="170">
                  <c:v>4.81</c:v>
                </c:pt>
                <c:pt idx="171">
                  <c:v>4.35</c:v>
                </c:pt>
                <c:pt idx="172">
                  <c:v>4.34</c:v>
                </c:pt>
                <c:pt idx="173">
                  <c:v>4.8</c:v>
                </c:pt>
                <c:pt idx="174">
                  <c:v>5.67</c:v>
                </c:pt>
                <c:pt idx="175">
                  <c:v>6.39</c:v>
                </c:pt>
                <c:pt idx="176">
                  <c:v>11.12</c:v>
                </c:pt>
                <c:pt idx="177">
                  <c:v>8.51</c:v>
                </c:pt>
                <c:pt idx="178">
                  <c:v>9.84</c:v>
                </c:pt>
                <c:pt idx="179">
                  <c:v>12.27</c:v>
                </c:pt>
              </c:numCache>
            </c:numRef>
          </c:val>
          <c:smooth val="0"/>
        </c:ser>
        <c:ser>
          <c:idx val="1"/>
          <c:order val="1"/>
          <c:tx>
            <c:strRef>
              <c:f>Sheet1!$C$1</c:f>
              <c:strCache>
                <c:ptCount val="1"/>
                <c:pt idx="0">
                  <c:v>Half exchange</c:v>
                </c:pt>
              </c:strCache>
            </c:strRef>
          </c:tx>
          <c:spPr>
            <a:solidFill>
              <a:srgbClr val="D98324"/>
            </a:solidFill>
            <a:ln w="15875" cap="flat">
              <a:solidFill>
                <a:srgbClr val="D983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D98324"/>
              </a:solidFill>
              <a:ln w="9525" cap="flat">
                <a:solidFill>
                  <a:srgbClr val="D98324"/>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Sheet1!$C$2:$C$181</c:f>
              <c:numCache>
                <c:formatCode>General</c:formatCode>
                <c:ptCount val="180"/>
                <c:pt idx="0">
                  <c:v>20.35</c:v>
                </c:pt>
                <c:pt idx="1">
                  <c:v>21.01</c:v>
                </c:pt>
                <c:pt idx="2">
                  <c:v>21.39</c:v>
                </c:pt>
                <c:pt idx="3">
                  <c:v>22.57</c:v>
                </c:pt>
                <c:pt idx="4">
                  <c:v>23.33</c:v>
                </c:pt>
                <c:pt idx="5">
                  <c:v>22.89</c:v>
                </c:pt>
                <c:pt idx="6">
                  <c:v>23.56</c:v>
                </c:pt>
                <c:pt idx="7">
                  <c:v>23.42</c:v>
                </c:pt>
                <c:pt idx="8">
                  <c:v>22.32</c:v>
                </c:pt>
                <c:pt idx="9">
                  <c:v>22.52</c:v>
                </c:pt>
                <c:pt idx="10">
                  <c:v>21.08</c:v>
                </c:pt>
                <c:pt idx="11">
                  <c:v>19.95</c:v>
                </c:pt>
                <c:pt idx="12">
                  <c:v>20.18</c:v>
                </c:pt>
                <c:pt idx="13">
                  <c:v>19.49</c:v>
                </c:pt>
                <c:pt idx="14">
                  <c:v>17.27</c:v>
                </c:pt>
                <c:pt idx="15">
                  <c:v>17.64</c:v>
                </c:pt>
                <c:pt idx="16">
                  <c:v>19.03</c:v>
                </c:pt>
                <c:pt idx="17">
                  <c:v>20.51</c:v>
                </c:pt>
                <c:pt idx="18">
                  <c:v>20.87</c:v>
                </c:pt>
                <c:pt idx="19">
                  <c:v>20.75</c:v>
                </c:pt>
                <c:pt idx="20">
                  <c:v>17.76</c:v>
                </c:pt>
                <c:pt idx="21">
                  <c:v>13.18</c:v>
                </c:pt>
                <c:pt idx="22">
                  <c:v>13.09</c:v>
                </c:pt>
                <c:pt idx="23">
                  <c:v>15</c:v>
                </c:pt>
                <c:pt idx="24">
                  <c:v>13.29</c:v>
                </c:pt>
                <c:pt idx="25">
                  <c:v>12.55</c:v>
                </c:pt>
                <c:pt idx="26">
                  <c:v>15.61</c:v>
                </c:pt>
                <c:pt idx="27">
                  <c:v>13.87</c:v>
                </c:pt>
                <c:pt idx="28">
                  <c:v>14.03</c:v>
                </c:pt>
                <c:pt idx="29">
                  <c:v>14</c:v>
                </c:pt>
                <c:pt idx="30">
                  <c:v>12.05</c:v>
                </c:pt>
                <c:pt idx="31">
                  <c:v>9.9</c:v>
                </c:pt>
                <c:pt idx="32">
                  <c:v>8.01</c:v>
                </c:pt>
                <c:pt idx="33">
                  <c:v>9</c:v>
                </c:pt>
                <c:pt idx="34">
                  <c:v>11.9</c:v>
                </c:pt>
                <c:pt idx="35">
                  <c:v>14.47</c:v>
                </c:pt>
                <c:pt idx="36">
                  <c:v>11.07</c:v>
                </c:pt>
                <c:pt idx="37">
                  <c:v>10.43</c:v>
                </c:pt>
                <c:pt idx="38">
                  <c:v>9.43</c:v>
                </c:pt>
                <c:pt idx="39">
                  <c:v>5.77</c:v>
                </c:pt>
                <c:pt idx="40">
                  <c:v>8.16</c:v>
                </c:pt>
                <c:pt idx="41">
                  <c:v>6.67</c:v>
                </c:pt>
                <c:pt idx="42">
                  <c:v>8.24</c:v>
                </c:pt>
                <c:pt idx="43">
                  <c:v>8.08</c:v>
                </c:pt>
                <c:pt idx="44">
                  <c:v>5.87</c:v>
                </c:pt>
                <c:pt idx="45">
                  <c:v>8.83</c:v>
                </c:pt>
                <c:pt idx="46">
                  <c:v>8.92</c:v>
                </c:pt>
                <c:pt idx="47">
                  <c:v>7.79</c:v>
                </c:pt>
                <c:pt idx="48">
                  <c:v>5.99</c:v>
                </c:pt>
                <c:pt idx="49">
                  <c:v>7.96</c:v>
                </c:pt>
                <c:pt idx="50">
                  <c:v>3.54</c:v>
                </c:pt>
                <c:pt idx="51">
                  <c:v>8.64</c:v>
                </c:pt>
                <c:pt idx="52">
                  <c:v>8.43</c:v>
                </c:pt>
                <c:pt idx="53">
                  <c:v>9.77</c:v>
                </c:pt>
                <c:pt idx="54">
                  <c:v>9.7</c:v>
                </c:pt>
                <c:pt idx="55">
                  <c:v>9.11</c:v>
                </c:pt>
                <c:pt idx="56">
                  <c:v>9.06</c:v>
                </c:pt>
                <c:pt idx="57">
                  <c:v>9.1</c:v>
                </c:pt>
                <c:pt idx="58">
                  <c:v>6.4</c:v>
                </c:pt>
                <c:pt idx="59">
                  <c:v>8.72</c:v>
                </c:pt>
                <c:pt idx="60">
                  <c:v>9.1</c:v>
                </c:pt>
                <c:pt idx="61">
                  <c:v>5.88</c:v>
                </c:pt>
                <c:pt idx="62">
                  <c:v>10.3</c:v>
                </c:pt>
                <c:pt idx="63">
                  <c:v>13</c:v>
                </c:pt>
                <c:pt idx="64">
                  <c:v>11.12</c:v>
                </c:pt>
                <c:pt idx="65">
                  <c:v>8.58</c:v>
                </c:pt>
                <c:pt idx="66">
                  <c:v>6.19</c:v>
                </c:pt>
                <c:pt idx="67">
                  <c:v>5.17</c:v>
                </c:pt>
                <c:pt idx="68">
                  <c:v>11.86</c:v>
                </c:pt>
                <c:pt idx="69">
                  <c:v>12.62</c:v>
                </c:pt>
                <c:pt idx="70">
                  <c:v>9.93</c:v>
                </c:pt>
                <c:pt idx="71">
                  <c:v>8.13</c:v>
                </c:pt>
                <c:pt idx="72">
                  <c:v>4.61</c:v>
                </c:pt>
                <c:pt idx="73">
                  <c:v>5.57</c:v>
                </c:pt>
                <c:pt idx="74">
                  <c:v>3.95</c:v>
                </c:pt>
                <c:pt idx="75">
                  <c:v>4.25</c:v>
                </c:pt>
                <c:pt idx="76">
                  <c:v>2.05</c:v>
                </c:pt>
                <c:pt idx="77">
                  <c:v>4.1</c:v>
                </c:pt>
                <c:pt idx="78">
                  <c:v>3.69</c:v>
                </c:pt>
                <c:pt idx="79">
                  <c:v>5.1</c:v>
                </c:pt>
                <c:pt idx="80">
                  <c:v>4.81</c:v>
                </c:pt>
                <c:pt idx="81">
                  <c:v>4.35</c:v>
                </c:pt>
                <c:pt idx="82">
                  <c:v>4.34</c:v>
                </c:pt>
                <c:pt idx="83">
                  <c:v>4.8</c:v>
                </c:pt>
                <c:pt idx="84">
                  <c:v>5.67</c:v>
                </c:pt>
                <c:pt idx="85">
                  <c:v>6.39</c:v>
                </c:pt>
                <c:pt idx="86">
                  <c:v>11.12</c:v>
                </c:pt>
                <c:pt idx="87">
                  <c:v>8.51</c:v>
                </c:pt>
                <c:pt idx="88">
                  <c:v>9.84</c:v>
                </c:pt>
                <c:pt idx="89">
                  <c:v>12.27</c:v>
                </c:pt>
                <c:pt idx="90">
                  <c:v>22.37</c:v>
                </c:pt>
                <c:pt idx="91">
                  <c:v>24.9</c:v>
                </c:pt>
                <c:pt idx="92">
                  <c:v>24.12</c:v>
                </c:pt>
                <c:pt idx="93">
                  <c:v>24.85</c:v>
                </c:pt>
                <c:pt idx="94">
                  <c:v>26.67</c:v>
                </c:pt>
                <c:pt idx="95">
                  <c:v>26.15</c:v>
                </c:pt>
                <c:pt idx="96">
                  <c:v>26.62</c:v>
                </c:pt>
                <c:pt idx="97">
                  <c:v>29.53</c:v>
                </c:pt>
                <c:pt idx="98">
                  <c:v>28.47</c:v>
                </c:pt>
                <c:pt idx="99">
                  <c:v>26.41</c:v>
                </c:pt>
                <c:pt idx="100">
                  <c:v>28.02</c:v>
                </c:pt>
                <c:pt idx="101">
                  <c:v>28.08</c:v>
                </c:pt>
                <c:pt idx="102">
                  <c:v>29.63</c:v>
                </c:pt>
                <c:pt idx="103">
                  <c:v>31.33</c:v>
                </c:pt>
                <c:pt idx="104">
                  <c:v>30.02</c:v>
                </c:pt>
                <c:pt idx="105">
                  <c:v>30.36</c:v>
                </c:pt>
                <c:pt idx="106">
                  <c:v>29.14</c:v>
                </c:pt>
                <c:pt idx="107">
                  <c:v>29.1</c:v>
                </c:pt>
                <c:pt idx="108">
                  <c:v>28.01</c:v>
                </c:pt>
                <c:pt idx="109">
                  <c:v>27.46</c:v>
                </c:pt>
                <c:pt idx="110">
                  <c:v>27.2</c:v>
                </c:pt>
                <c:pt idx="111">
                  <c:v>27.15</c:v>
                </c:pt>
                <c:pt idx="112">
                  <c:v>27.43</c:v>
                </c:pt>
                <c:pt idx="113">
                  <c:v>26.8</c:v>
                </c:pt>
                <c:pt idx="114">
                  <c:v>28.42</c:v>
                </c:pt>
                <c:pt idx="115">
                  <c:v>28.42</c:v>
                </c:pt>
                <c:pt idx="116">
                  <c:v>28.1</c:v>
                </c:pt>
                <c:pt idx="117">
                  <c:v>28.17</c:v>
                </c:pt>
                <c:pt idx="118">
                  <c:v>27.4</c:v>
                </c:pt>
                <c:pt idx="119">
                  <c:v>27.65</c:v>
                </c:pt>
                <c:pt idx="120">
                  <c:v>30.07</c:v>
                </c:pt>
                <c:pt idx="121">
                  <c:v>30.84</c:v>
                </c:pt>
                <c:pt idx="122">
                  <c:v>26.55</c:v>
                </c:pt>
                <c:pt idx="123">
                  <c:v>25.7</c:v>
                </c:pt>
                <c:pt idx="124">
                  <c:v>25.76</c:v>
                </c:pt>
                <c:pt idx="125">
                  <c:v>26.18</c:v>
                </c:pt>
                <c:pt idx="126">
                  <c:v>26.67</c:v>
                </c:pt>
                <c:pt idx="127">
                  <c:v>25.5</c:v>
                </c:pt>
                <c:pt idx="128">
                  <c:v>26.32</c:v>
                </c:pt>
                <c:pt idx="129">
                  <c:v>25.84</c:v>
                </c:pt>
                <c:pt idx="130">
                  <c:v>25.79</c:v>
                </c:pt>
                <c:pt idx="131">
                  <c:v>26.7</c:v>
                </c:pt>
                <c:pt idx="132">
                  <c:v>28.15</c:v>
                </c:pt>
                <c:pt idx="133">
                  <c:v>29.98</c:v>
                </c:pt>
                <c:pt idx="134">
                  <c:v>30.39</c:v>
                </c:pt>
                <c:pt idx="135">
                  <c:v>29.79</c:v>
                </c:pt>
                <c:pt idx="136">
                  <c:v>28.96</c:v>
                </c:pt>
                <c:pt idx="137">
                  <c:v>29.17</c:v>
                </c:pt>
                <c:pt idx="138">
                  <c:v>28.73</c:v>
                </c:pt>
                <c:pt idx="139">
                  <c:v>26.77</c:v>
                </c:pt>
                <c:pt idx="140">
                  <c:v>27.65</c:v>
                </c:pt>
                <c:pt idx="141">
                  <c:v>29.54</c:v>
                </c:pt>
                <c:pt idx="142">
                  <c:v>28.59</c:v>
                </c:pt>
                <c:pt idx="143">
                  <c:v>27.3</c:v>
                </c:pt>
                <c:pt idx="144">
                  <c:v>27.03</c:v>
                </c:pt>
                <c:pt idx="145">
                  <c:v>25.78</c:v>
                </c:pt>
                <c:pt idx="146">
                  <c:v>26.15</c:v>
                </c:pt>
                <c:pt idx="147">
                  <c:v>27.17</c:v>
                </c:pt>
                <c:pt idx="148">
                  <c:v>26.76</c:v>
                </c:pt>
                <c:pt idx="149">
                  <c:v>28.59</c:v>
                </c:pt>
                <c:pt idx="150">
                  <c:v>30.33</c:v>
                </c:pt>
                <c:pt idx="151">
                  <c:v>29.9</c:v>
                </c:pt>
                <c:pt idx="152">
                  <c:v>29.51</c:v>
                </c:pt>
                <c:pt idx="153">
                  <c:v>30.52</c:v>
                </c:pt>
                <c:pt idx="154">
                  <c:v>34.6</c:v>
                </c:pt>
                <c:pt idx="155">
                  <c:v>33.49</c:v>
                </c:pt>
                <c:pt idx="156">
                  <c:v>31.15</c:v>
                </c:pt>
                <c:pt idx="157">
                  <c:v>31.37</c:v>
                </c:pt>
                <c:pt idx="158">
                  <c:v>28.98</c:v>
                </c:pt>
                <c:pt idx="159">
                  <c:v>27.91</c:v>
                </c:pt>
                <c:pt idx="160">
                  <c:v>28.42</c:v>
                </c:pt>
                <c:pt idx="161">
                  <c:v>24.31</c:v>
                </c:pt>
                <c:pt idx="162">
                  <c:v>20.85</c:v>
                </c:pt>
                <c:pt idx="163">
                  <c:v>21.06</c:v>
                </c:pt>
                <c:pt idx="164">
                  <c:v>20.68</c:v>
                </c:pt>
                <c:pt idx="165">
                  <c:v>20.79</c:v>
                </c:pt>
                <c:pt idx="166">
                  <c:v>19.19</c:v>
                </c:pt>
                <c:pt idx="167">
                  <c:v>18.62</c:v>
                </c:pt>
                <c:pt idx="168">
                  <c:v>18.94</c:v>
                </c:pt>
                <c:pt idx="169">
                  <c:v>20.23</c:v>
                </c:pt>
                <c:pt idx="170">
                  <c:v>20.25</c:v>
                </c:pt>
                <c:pt idx="171">
                  <c:v>21.62</c:v>
                </c:pt>
                <c:pt idx="172">
                  <c:v>23.98</c:v>
                </c:pt>
                <c:pt idx="173">
                  <c:v>25.31</c:v>
                </c:pt>
                <c:pt idx="174">
                  <c:v>25.9</c:v>
                </c:pt>
                <c:pt idx="175">
                  <c:v>24.1</c:v>
                </c:pt>
                <c:pt idx="176">
                  <c:v>23.21</c:v>
                </c:pt>
                <c:pt idx="177">
                  <c:v>22.83</c:v>
                </c:pt>
                <c:pt idx="178">
                  <c:v>22.75</c:v>
                </c:pt>
                <c:pt idx="179">
                  <c:v>22.64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C9D0DA"/>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7B61A8"/>
                </a:solidFill>
                <a:latin typeface="+mn-lt"/>
              </a:defRPr>
            </a:pPr>
            <a:r>
              <a:rPr sz="1100" b="0" i="0" u="none" strike="noStrike">
                <a:solidFill>
                  <a:srgbClr val="7B61A8"/>
                </a:solidFill>
                <a:latin typeface="+mn-lt"/>
              </a:rPr>
              <a:t>Masking: rank 1 → 35</a:t>
            </a:r>
          </a:p>
        </c:rich>
      </c:tx>
      <c:layout/>
      <c:overlay val="0"/>
    </c:title>
    <c:autoTitleDeleted val="0"/>
    <c:plotArea>
      <c:layout/>
      <c:lineChart>
        <c:varyColors val="0"/>
        <c:ser>
          <c:idx val="0"/>
          <c:order val="0"/>
          <c:tx>
            <c:strRef>
              <c:f>Sheet1!$B$1</c:f>
              <c:strCache>
                <c:ptCount val="1"/>
                <c:pt idx="0">
                  <c:v>Original</c:v>
                </c:pt>
              </c:strCache>
            </c:strRef>
          </c:tx>
          <c:spPr>
            <a:solidFill>
              <a:srgbClr val="B9C2CF"/>
            </a:solidFill>
            <a:ln w="15875" cap="flat">
              <a:solidFill>
                <a:srgbClr val="B9C2C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B9C2CF"/>
              </a:solidFill>
              <a:ln w="9525" cap="flat">
                <a:solidFill>
                  <a:srgbClr val="B9C2CF"/>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Sheet1!$B$2:$B$181</c:f>
              <c:numCache>
                <c:formatCode>General</c:formatCode>
                <c:ptCount val="180"/>
                <c:pt idx="0">
                  <c:v>22.37</c:v>
                </c:pt>
                <c:pt idx="1">
                  <c:v>24.9</c:v>
                </c:pt>
                <c:pt idx="2">
                  <c:v>24.12</c:v>
                </c:pt>
                <c:pt idx="3">
                  <c:v>24.85</c:v>
                </c:pt>
                <c:pt idx="4">
                  <c:v>26.67</c:v>
                </c:pt>
                <c:pt idx="5">
                  <c:v>26.15</c:v>
                </c:pt>
                <c:pt idx="6">
                  <c:v>26.62</c:v>
                </c:pt>
                <c:pt idx="7">
                  <c:v>29.53</c:v>
                </c:pt>
                <c:pt idx="8">
                  <c:v>28.47</c:v>
                </c:pt>
                <c:pt idx="9">
                  <c:v>26.41</c:v>
                </c:pt>
                <c:pt idx="10">
                  <c:v>28.02</c:v>
                </c:pt>
                <c:pt idx="11">
                  <c:v>28.08</c:v>
                </c:pt>
                <c:pt idx="12">
                  <c:v>29.63</c:v>
                </c:pt>
                <c:pt idx="13">
                  <c:v>31.33</c:v>
                </c:pt>
                <c:pt idx="14">
                  <c:v>30.02</c:v>
                </c:pt>
                <c:pt idx="15">
                  <c:v>30.36</c:v>
                </c:pt>
                <c:pt idx="16">
                  <c:v>29.14</c:v>
                </c:pt>
                <c:pt idx="17">
                  <c:v>29.1</c:v>
                </c:pt>
                <c:pt idx="18">
                  <c:v>28.01</c:v>
                </c:pt>
                <c:pt idx="19">
                  <c:v>27.46</c:v>
                </c:pt>
                <c:pt idx="20">
                  <c:v>27.2</c:v>
                </c:pt>
                <c:pt idx="21">
                  <c:v>27.15</c:v>
                </c:pt>
                <c:pt idx="22">
                  <c:v>27.43</c:v>
                </c:pt>
                <c:pt idx="23">
                  <c:v>26.8</c:v>
                </c:pt>
                <c:pt idx="24">
                  <c:v>28.42</c:v>
                </c:pt>
                <c:pt idx="25">
                  <c:v>28.42</c:v>
                </c:pt>
                <c:pt idx="26">
                  <c:v>28.1</c:v>
                </c:pt>
                <c:pt idx="27">
                  <c:v>28.17</c:v>
                </c:pt>
                <c:pt idx="28">
                  <c:v>27.4</c:v>
                </c:pt>
                <c:pt idx="29">
                  <c:v>27.65</c:v>
                </c:pt>
                <c:pt idx="30">
                  <c:v>30.07</c:v>
                </c:pt>
                <c:pt idx="31">
                  <c:v>30.84</c:v>
                </c:pt>
                <c:pt idx="32">
                  <c:v>26.55</c:v>
                </c:pt>
                <c:pt idx="33">
                  <c:v>25.7</c:v>
                </c:pt>
                <c:pt idx="34">
                  <c:v>25.76</c:v>
                </c:pt>
                <c:pt idx="35">
                  <c:v>26.18</c:v>
                </c:pt>
                <c:pt idx="36">
                  <c:v>26.67</c:v>
                </c:pt>
                <c:pt idx="37">
                  <c:v>25.5</c:v>
                </c:pt>
                <c:pt idx="38">
                  <c:v>26.32</c:v>
                </c:pt>
                <c:pt idx="39">
                  <c:v>25.84</c:v>
                </c:pt>
                <c:pt idx="40">
                  <c:v>25.79</c:v>
                </c:pt>
                <c:pt idx="41">
                  <c:v>26.7</c:v>
                </c:pt>
                <c:pt idx="42">
                  <c:v>28.15</c:v>
                </c:pt>
                <c:pt idx="43">
                  <c:v>29.98</c:v>
                </c:pt>
                <c:pt idx="44">
                  <c:v>30.39</c:v>
                </c:pt>
                <c:pt idx="45">
                  <c:v>29.79</c:v>
                </c:pt>
                <c:pt idx="46">
                  <c:v>28.96</c:v>
                </c:pt>
                <c:pt idx="47">
                  <c:v>29.17</c:v>
                </c:pt>
                <c:pt idx="48">
                  <c:v>28.73</c:v>
                </c:pt>
                <c:pt idx="49">
                  <c:v>26.77</c:v>
                </c:pt>
                <c:pt idx="50">
                  <c:v>27.65</c:v>
                </c:pt>
                <c:pt idx="51">
                  <c:v>29.54</c:v>
                </c:pt>
                <c:pt idx="52">
                  <c:v>28.59</c:v>
                </c:pt>
                <c:pt idx="53">
                  <c:v>27.3</c:v>
                </c:pt>
                <c:pt idx="54">
                  <c:v>27.03</c:v>
                </c:pt>
                <c:pt idx="55">
                  <c:v>25.78</c:v>
                </c:pt>
                <c:pt idx="56">
                  <c:v>26.15</c:v>
                </c:pt>
                <c:pt idx="57">
                  <c:v>27.17</c:v>
                </c:pt>
                <c:pt idx="58">
                  <c:v>26.76</c:v>
                </c:pt>
                <c:pt idx="59">
                  <c:v>28.59</c:v>
                </c:pt>
                <c:pt idx="60">
                  <c:v>30.33</c:v>
                </c:pt>
                <c:pt idx="61">
                  <c:v>29.9</c:v>
                </c:pt>
                <c:pt idx="62">
                  <c:v>29.51</c:v>
                </c:pt>
                <c:pt idx="63">
                  <c:v>30.52</c:v>
                </c:pt>
                <c:pt idx="64">
                  <c:v>34.6</c:v>
                </c:pt>
                <c:pt idx="65">
                  <c:v>33.49</c:v>
                </c:pt>
                <c:pt idx="66">
                  <c:v>31.15</c:v>
                </c:pt>
                <c:pt idx="67">
                  <c:v>31.37</c:v>
                </c:pt>
                <c:pt idx="68">
                  <c:v>28.98</c:v>
                </c:pt>
                <c:pt idx="69">
                  <c:v>27.91</c:v>
                </c:pt>
                <c:pt idx="70">
                  <c:v>28.42</c:v>
                </c:pt>
                <c:pt idx="71">
                  <c:v>24.31</c:v>
                </c:pt>
                <c:pt idx="72">
                  <c:v>20.85</c:v>
                </c:pt>
                <c:pt idx="73">
                  <c:v>21.06</c:v>
                </c:pt>
                <c:pt idx="74">
                  <c:v>20.68</c:v>
                </c:pt>
                <c:pt idx="75">
                  <c:v>20.79</c:v>
                </c:pt>
                <c:pt idx="76">
                  <c:v>19.19</c:v>
                </c:pt>
                <c:pt idx="77">
                  <c:v>18.62</c:v>
                </c:pt>
                <c:pt idx="78">
                  <c:v>18.94</c:v>
                </c:pt>
                <c:pt idx="79">
                  <c:v>20.23</c:v>
                </c:pt>
                <c:pt idx="80">
                  <c:v>20.25</c:v>
                </c:pt>
                <c:pt idx="81">
                  <c:v>21.62</c:v>
                </c:pt>
                <c:pt idx="82">
                  <c:v>23.98</c:v>
                </c:pt>
                <c:pt idx="83">
                  <c:v>25.31</c:v>
                </c:pt>
                <c:pt idx="84">
                  <c:v>25.9</c:v>
                </c:pt>
                <c:pt idx="85">
                  <c:v>24.1</c:v>
                </c:pt>
                <c:pt idx="86">
                  <c:v>23.21</c:v>
                </c:pt>
                <c:pt idx="87">
                  <c:v>22.83</c:v>
                </c:pt>
                <c:pt idx="88">
                  <c:v>22.75</c:v>
                </c:pt>
                <c:pt idx="89">
                  <c:v>22.64</c:v>
                </c:pt>
                <c:pt idx="90">
                  <c:v>20.35</c:v>
                </c:pt>
                <c:pt idx="91">
                  <c:v>21.01</c:v>
                </c:pt>
                <c:pt idx="92">
                  <c:v>21.39</c:v>
                </c:pt>
                <c:pt idx="93">
                  <c:v>22.57</c:v>
                </c:pt>
                <c:pt idx="94">
                  <c:v>23.33</c:v>
                </c:pt>
                <c:pt idx="95">
                  <c:v>22.89</c:v>
                </c:pt>
                <c:pt idx="96">
                  <c:v>23.56</c:v>
                </c:pt>
                <c:pt idx="97">
                  <c:v>23.42</c:v>
                </c:pt>
                <c:pt idx="98">
                  <c:v>22.32</c:v>
                </c:pt>
                <c:pt idx="99">
                  <c:v>22.52</c:v>
                </c:pt>
                <c:pt idx="100">
                  <c:v>21.08</c:v>
                </c:pt>
                <c:pt idx="101">
                  <c:v>19.95</c:v>
                </c:pt>
                <c:pt idx="102">
                  <c:v>20.18</c:v>
                </c:pt>
                <c:pt idx="103">
                  <c:v>19.49</c:v>
                </c:pt>
                <c:pt idx="104">
                  <c:v>17.27</c:v>
                </c:pt>
                <c:pt idx="105">
                  <c:v>17.64</c:v>
                </c:pt>
                <c:pt idx="106">
                  <c:v>19.03</c:v>
                </c:pt>
                <c:pt idx="107">
                  <c:v>20.51</c:v>
                </c:pt>
                <c:pt idx="108">
                  <c:v>20.87</c:v>
                </c:pt>
                <c:pt idx="109">
                  <c:v>20.75</c:v>
                </c:pt>
                <c:pt idx="110">
                  <c:v>17.76</c:v>
                </c:pt>
                <c:pt idx="111">
                  <c:v>13.18</c:v>
                </c:pt>
                <c:pt idx="112">
                  <c:v>13.09</c:v>
                </c:pt>
                <c:pt idx="113">
                  <c:v>15</c:v>
                </c:pt>
                <c:pt idx="114">
                  <c:v>13.29</c:v>
                </c:pt>
                <c:pt idx="115">
                  <c:v>12.55</c:v>
                </c:pt>
                <c:pt idx="116">
                  <c:v>15.61</c:v>
                </c:pt>
                <c:pt idx="117">
                  <c:v>13.87</c:v>
                </c:pt>
                <c:pt idx="118">
                  <c:v>14.03</c:v>
                </c:pt>
                <c:pt idx="119">
                  <c:v>14</c:v>
                </c:pt>
                <c:pt idx="120">
                  <c:v>12.05</c:v>
                </c:pt>
                <c:pt idx="121">
                  <c:v>9.9</c:v>
                </c:pt>
                <c:pt idx="122">
                  <c:v>8.01</c:v>
                </c:pt>
                <c:pt idx="123">
                  <c:v>9</c:v>
                </c:pt>
                <c:pt idx="124">
                  <c:v>11.9</c:v>
                </c:pt>
                <c:pt idx="125">
                  <c:v>14.47</c:v>
                </c:pt>
                <c:pt idx="126">
                  <c:v>11.07</c:v>
                </c:pt>
                <c:pt idx="127">
                  <c:v>10.43</c:v>
                </c:pt>
                <c:pt idx="128">
                  <c:v>9.43</c:v>
                </c:pt>
                <c:pt idx="129">
                  <c:v>5.77</c:v>
                </c:pt>
                <c:pt idx="130">
                  <c:v>8.16</c:v>
                </c:pt>
                <c:pt idx="131">
                  <c:v>6.67</c:v>
                </c:pt>
                <c:pt idx="132">
                  <c:v>8.24</c:v>
                </c:pt>
                <c:pt idx="133">
                  <c:v>8.08</c:v>
                </c:pt>
                <c:pt idx="134">
                  <c:v>5.87</c:v>
                </c:pt>
                <c:pt idx="135">
                  <c:v>8.83</c:v>
                </c:pt>
                <c:pt idx="136">
                  <c:v>8.92</c:v>
                </c:pt>
                <c:pt idx="137">
                  <c:v>7.79</c:v>
                </c:pt>
                <c:pt idx="138">
                  <c:v>5.99</c:v>
                </c:pt>
                <c:pt idx="139">
                  <c:v>7.96</c:v>
                </c:pt>
                <c:pt idx="140">
                  <c:v>3.54</c:v>
                </c:pt>
                <c:pt idx="141">
                  <c:v>8.64</c:v>
                </c:pt>
                <c:pt idx="142">
                  <c:v>8.43</c:v>
                </c:pt>
                <c:pt idx="143">
                  <c:v>9.77</c:v>
                </c:pt>
                <c:pt idx="144">
                  <c:v>9.7</c:v>
                </c:pt>
                <c:pt idx="145">
                  <c:v>9.11</c:v>
                </c:pt>
                <c:pt idx="146">
                  <c:v>9.06</c:v>
                </c:pt>
                <c:pt idx="147">
                  <c:v>9.1</c:v>
                </c:pt>
                <c:pt idx="148">
                  <c:v>6.4</c:v>
                </c:pt>
                <c:pt idx="149">
                  <c:v>8.72</c:v>
                </c:pt>
                <c:pt idx="150">
                  <c:v>9.1</c:v>
                </c:pt>
                <c:pt idx="151">
                  <c:v>5.88</c:v>
                </c:pt>
                <c:pt idx="152">
                  <c:v>10.3</c:v>
                </c:pt>
                <c:pt idx="153">
                  <c:v>13</c:v>
                </c:pt>
                <c:pt idx="154">
                  <c:v>11.12</c:v>
                </c:pt>
                <c:pt idx="155">
                  <c:v>8.58</c:v>
                </c:pt>
                <c:pt idx="156">
                  <c:v>6.19</c:v>
                </c:pt>
                <c:pt idx="157">
                  <c:v>5.17</c:v>
                </c:pt>
                <c:pt idx="158">
                  <c:v>11.86</c:v>
                </c:pt>
                <c:pt idx="159">
                  <c:v>12.62</c:v>
                </c:pt>
                <c:pt idx="160">
                  <c:v>9.93</c:v>
                </c:pt>
                <c:pt idx="161">
                  <c:v>8.13</c:v>
                </c:pt>
                <c:pt idx="162">
                  <c:v>4.61</c:v>
                </c:pt>
                <c:pt idx="163">
                  <c:v>5.57</c:v>
                </c:pt>
                <c:pt idx="164">
                  <c:v>3.95</c:v>
                </c:pt>
                <c:pt idx="165">
                  <c:v>4.25</c:v>
                </c:pt>
                <c:pt idx="166">
                  <c:v>2.05</c:v>
                </c:pt>
                <c:pt idx="167">
                  <c:v>4.1</c:v>
                </c:pt>
                <c:pt idx="168">
                  <c:v>3.69</c:v>
                </c:pt>
                <c:pt idx="169">
                  <c:v>5.1</c:v>
                </c:pt>
                <c:pt idx="170">
                  <c:v>4.81</c:v>
                </c:pt>
                <c:pt idx="171">
                  <c:v>4.35</c:v>
                </c:pt>
                <c:pt idx="172">
                  <c:v>4.34</c:v>
                </c:pt>
                <c:pt idx="173">
                  <c:v>4.8</c:v>
                </c:pt>
                <c:pt idx="174">
                  <c:v>5.67</c:v>
                </c:pt>
                <c:pt idx="175">
                  <c:v>6.39</c:v>
                </c:pt>
                <c:pt idx="176">
                  <c:v>11.12</c:v>
                </c:pt>
                <c:pt idx="177">
                  <c:v>8.51</c:v>
                </c:pt>
                <c:pt idx="178">
                  <c:v>9.84</c:v>
                </c:pt>
                <c:pt idx="179">
                  <c:v>12.27</c:v>
                </c:pt>
              </c:numCache>
            </c:numRef>
          </c:val>
          <c:smooth val="0"/>
        </c:ser>
        <c:ser>
          <c:idx val="1"/>
          <c:order val="1"/>
          <c:tx>
            <c:strRef>
              <c:f>Sheet1!$C$1</c:f>
              <c:strCache>
                <c:ptCount val="1"/>
                <c:pt idx="0">
                  <c:v>Masking</c:v>
                </c:pt>
              </c:strCache>
            </c:strRef>
          </c:tx>
          <c:spPr>
            <a:solidFill>
              <a:srgbClr val="7B61A8"/>
            </a:solidFill>
            <a:ln w="15875" cap="flat">
              <a:solidFill>
                <a:srgbClr val="7B61A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B61A8"/>
              </a:solidFill>
              <a:ln w="9525" cap="flat">
                <a:solidFill>
                  <a:srgbClr val="7B61A8"/>
                </a:solidFill>
                <a:prstDash val="solid"/>
                <a:round/>
              </a:ln>
              <a:effectLst/>
            </c:spPr>
          </c:marker>
          <c:cat>
            <c:multiLvlStrRef>
              <c:f>Sheet1!$A$2:$A$181</c:f>
              <c:multiLvlStrCache>
                <c:ptCount val="18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lvl>
              </c:multiLvlStrCache>
            </c:multiLvlStrRef>
          </c:cat>
          <c:val>
            <c:numRef>
              <c:f>Sheet1!$C$2:$C$181</c:f>
              <c:numCache>
                <c:formatCode>General</c:formatCode>
                <c:ptCount val="180"/>
                <c:pt idx="0">
                  <c:v>22.37</c:v>
                </c:pt>
                <c:pt idx="1">
                  <c:v>24.9</c:v>
                </c:pt>
                <c:pt idx="2">
                  <c:v>24.12</c:v>
                </c:pt>
                <c:pt idx="3">
                  <c:v>24.85</c:v>
                </c:pt>
                <c:pt idx="4">
                  <c:v>26.67</c:v>
                </c:pt>
                <c:pt idx="5">
                  <c:v>26.15</c:v>
                </c:pt>
                <c:pt idx="6">
                  <c:v>26.62</c:v>
                </c:pt>
                <c:pt idx="7">
                  <c:v>29.53</c:v>
                </c:pt>
                <c:pt idx="8">
                  <c:v>19.17</c:v>
                </c:pt>
                <c:pt idx="9">
                  <c:v>26.41</c:v>
                </c:pt>
                <c:pt idx="10">
                  <c:v>19.17</c:v>
                </c:pt>
                <c:pt idx="11">
                  <c:v>28.08</c:v>
                </c:pt>
                <c:pt idx="12">
                  <c:v>29.63</c:v>
                </c:pt>
                <c:pt idx="13">
                  <c:v>31.33</c:v>
                </c:pt>
                <c:pt idx="14">
                  <c:v>30.02</c:v>
                </c:pt>
                <c:pt idx="15">
                  <c:v>30.36</c:v>
                </c:pt>
                <c:pt idx="16">
                  <c:v>29.14</c:v>
                </c:pt>
                <c:pt idx="17">
                  <c:v>29.1</c:v>
                </c:pt>
                <c:pt idx="18">
                  <c:v>28.01</c:v>
                </c:pt>
                <c:pt idx="19">
                  <c:v>19.17</c:v>
                </c:pt>
                <c:pt idx="20">
                  <c:v>27.2</c:v>
                </c:pt>
                <c:pt idx="21">
                  <c:v>27.15</c:v>
                </c:pt>
                <c:pt idx="22">
                  <c:v>19.17</c:v>
                </c:pt>
                <c:pt idx="23">
                  <c:v>26.8</c:v>
                </c:pt>
                <c:pt idx="24">
                  <c:v>28.42</c:v>
                </c:pt>
                <c:pt idx="25">
                  <c:v>28.42</c:v>
                </c:pt>
                <c:pt idx="26">
                  <c:v>19.17</c:v>
                </c:pt>
                <c:pt idx="27">
                  <c:v>28.17</c:v>
                </c:pt>
                <c:pt idx="28">
                  <c:v>27.4</c:v>
                </c:pt>
                <c:pt idx="29">
                  <c:v>27.65</c:v>
                </c:pt>
                <c:pt idx="30">
                  <c:v>30.07</c:v>
                </c:pt>
                <c:pt idx="31">
                  <c:v>30.84</c:v>
                </c:pt>
                <c:pt idx="32">
                  <c:v>26.55</c:v>
                </c:pt>
                <c:pt idx="33">
                  <c:v>25.7</c:v>
                </c:pt>
                <c:pt idx="34">
                  <c:v>25.76</c:v>
                </c:pt>
                <c:pt idx="35">
                  <c:v>26.18</c:v>
                </c:pt>
                <c:pt idx="36">
                  <c:v>26.67</c:v>
                </c:pt>
                <c:pt idx="37">
                  <c:v>25.5</c:v>
                </c:pt>
                <c:pt idx="38">
                  <c:v>26.32</c:v>
                </c:pt>
                <c:pt idx="39">
                  <c:v>25.84</c:v>
                </c:pt>
                <c:pt idx="40">
                  <c:v>25.79</c:v>
                </c:pt>
                <c:pt idx="41">
                  <c:v>26.7</c:v>
                </c:pt>
                <c:pt idx="42">
                  <c:v>28.15</c:v>
                </c:pt>
                <c:pt idx="43">
                  <c:v>29.98</c:v>
                </c:pt>
                <c:pt idx="44">
                  <c:v>30.39</c:v>
                </c:pt>
                <c:pt idx="45">
                  <c:v>19.17</c:v>
                </c:pt>
                <c:pt idx="46">
                  <c:v>28.96</c:v>
                </c:pt>
                <c:pt idx="47">
                  <c:v>19.17</c:v>
                </c:pt>
                <c:pt idx="48">
                  <c:v>28.73</c:v>
                </c:pt>
                <c:pt idx="49">
                  <c:v>26.77</c:v>
                </c:pt>
                <c:pt idx="50">
                  <c:v>27.65</c:v>
                </c:pt>
                <c:pt idx="51">
                  <c:v>29.54</c:v>
                </c:pt>
                <c:pt idx="52">
                  <c:v>28.59</c:v>
                </c:pt>
                <c:pt idx="53">
                  <c:v>19.17</c:v>
                </c:pt>
                <c:pt idx="54">
                  <c:v>19.17</c:v>
                </c:pt>
                <c:pt idx="55">
                  <c:v>25.78</c:v>
                </c:pt>
                <c:pt idx="56">
                  <c:v>26.15</c:v>
                </c:pt>
                <c:pt idx="57">
                  <c:v>19.17</c:v>
                </c:pt>
                <c:pt idx="58">
                  <c:v>26.76</c:v>
                </c:pt>
                <c:pt idx="59">
                  <c:v>28.59</c:v>
                </c:pt>
                <c:pt idx="60">
                  <c:v>30.33</c:v>
                </c:pt>
                <c:pt idx="61">
                  <c:v>29.9</c:v>
                </c:pt>
                <c:pt idx="62">
                  <c:v>29.51</c:v>
                </c:pt>
                <c:pt idx="63">
                  <c:v>30.52</c:v>
                </c:pt>
                <c:pt idx="64">
                  <c:v>34.6</c:v>
                </c:pt>
                <c:pt idx="65">
                  <c:v>33.49</c:v>
                </c:pt>
                <c:pt idx="66">
                  <c:v>31.15</c:v>
                </c:pt>
                <c:pt idx="67">
                  <c:v>31.37</c:v>
                </c:pt>
                <c:pt idx="68">
                  <c:v>19.17</c:v>
                </c:pt>
                <c:pt idx="69">
                  <c:v>27.91</c:v>
                </c:pt>
                <c:pt idx="70">
                  <c:v>19.17</c:v>
                </c:pt>
                <c:pt idx="71">
                  <c:v>24.31</c:v>
                </c:pt>
                <c:pt idx="72">
                  <c:v>19.17</c:v>
                </c:pt>
                <c:pt idx="73">
                  <c:v>21.06</c:v>
                </c:pt>
                <c:pt idx="74">
                  <c:v>20.68</c:v>
                </c:pt>
                <c:pt idx="75">
                  <c:v>20.79</c:v>
                </c:pt>
                <c:pt idx="76">
                  <c:v>19.19</c:v>
                </c:pt>
                <c:pt idx="77">
                  <c:v>18.62</c:v>
                </c:pt>
                <c:pt idx="78">
                  <c:v>18.94</c:v>
                </c:pt>
                <c:pt idx="79">
                  <c:v>19.17</c:v>
                </c:pt>
                <c:pt idx="80">
                  <c:v>19.17</c:v>
                </c:pt>
                <c:pt idx="81">
                  <c:v>21.62</c:v>
                </c:pt>
                <c:pt idx="82">
                  <c:v>23.98</c:v>
                </c:pt>
                <c:pt idx="83">
                  <c:v>25.31</c:v>
                </c:pt>
                <c:pt idx="84">
                  <c:v>25.9</c:v>
                </c:pt>
                <c:pt idx="85">
                  <c:v>24.1</c:v>
                </c:pt>
                <c:pt idx="86">
                  <c:v>19.17</c:v>
                </c:pt>
                <c:pt idx="87">
                  <c:v>22.83</c:v>
                </c:pt>
                <c:pt idx="88">
                  <c:v>22.75</c:v>
                </c:pt>
                <c:pt idx="89">
                  <c:v>22.64</c:v>
                </c:pt>
                <c:pt idx="90">
                  <c:v>20.35</c:v>
                </c:pt>
                <c:pt idx="91">
                  <c:v>19.17</c:v>
                </c:pt>
                <c:pt idx="92">
                  <c:v>21.39</c:v>
                </c:pt>
                <c:pt idx="93">
                  <c:v>22.57</c:v>
                </c:pt>
                <c:pt idx="94">
                  <c:v>23.33</c:v>
                </c:pt>
                <c:pt idx="95">
                  <c:v>22.89</c:v>
                </c:pt>
                <c:pt idx="96">
                  <c:v>23.56</c:v>
                </c:pt>
                <c:pt idx="97">
                  <c:v>23.42</c:v>
                </c:pt>
                <c:pt idx="98">
                  <c:v>22.32</c:v>
                </c:pt>
                <c:pt idx="99">
                  <c:v>22.52</c:v>
                </c:pt>
                <c:pt idx="100">
                  <c:v>21.08</c:v>
                </c:pt>
                <c:pt idx="101">
                  <c:v>19.95</c:v>
                </c:pt>
                <c:pt idx="102">
                  <c:v>19.17</c:v>
                </c:pt>
                <c:pt idx="103">
                  <c:v>19.17</c:v>
                </c:pt>
                <c:pt idx="104">
                  <c:v>17.27</c:v>
                </c:pt>
                <c:pt idx="105">
                  <c:v>17.64</c:v>
                </c:pt>
                <c:pt idx="106">
                  <c:v>19.03</c:v>
                </c:pt>
                <c:pt idx="107">
                  <c:v>20.51</c:v>
                </c:pt>
                <c:pt idx="108">
                  <c:v>20.87</c:v>
                </c:pt>
                <c:pt idx="109">
                  <c:v>19.17</c:v>
                </c:pt>
                <c:pt idx="110">
                  <c:v>19.17</c:v>
                </c:pt>
                <c:pt idx="111">
                  <c:v>13.18</c:v>
                </c:pt>
                <c:pt idx="112">
                  <c:v>19.17</c:v>
                </c:pt>
                <c:pt idx="113">
                  <c:v>15</c:v>
                </c:pt>
                <c:pt idx="114">
                  <c:v>13.29</c:v>
                </c:pt>
                <c:pt idx="115">
                  <c:v>12.55</c:v>
                </c:pt>
                <c:pt idx="116">
                  <c:v>15.61</c:v>
                </c:pt>
                <c:pt idx="117">
                  <c:v>13.87</c:v>
                </c:pt>
                <c:pt idx="118">
                  <c:v>14.03</c:v>
                </c:pt>
                <c:pt idx="119">
                  <c:v>19.17</c:v>
                </c:pt>
                <c:pt idx="120">
                  <c:v>12.05</c:v>
                </c:pt>
                <c:pt idx="121">
                  <c:v>9.9</c:v>
                </c:pt>
                <c:pt idx="122">
                  <c:v>8.01</c:v>
                </c:pt>
                <c:pt idx="123">
                  <c:v>9</c:v>
                </c:pt>
                <c:pt idx="124">
                  <c:v>19.17</c:v>
                </c:pt>
                <c:pt idx="125">
                  <c:v>14.47</c:v>
                </c:pt>
                <c:pt idx="126">
                  <c:v>11.07</c:v>
                </c:pt>
                <c:pt idx="127">
                  <c:v>10.43</c:v>
                </c:pt>
                <c:pt idx="128">
                  <c:v>9.43</c:v>
                </c:pt>
                <c:pt idx="129">
                  <c:v>5.77</c:v>
                </c:pt>
                <c:pt idx="130">
                  <c:v>8.16</c:v>
                </c:pt>
                <c:pt idx="131">
                  <c:v>6.67</c:v>
                </c:pt>
                <c:pt idx="132">
                  <c:v>19.17</c:v>
                </c:pt>
                <c:pt idx="133">
                  <c:v>19.17</c:v>
                </c:pt>
                <c:pt idx="134">
                  <c:v>5.87</c:v>
                </c:pt>
                <c:pt idx="135">
                  <c:v>8.83</c:v>
                </c:pt>
                <c:pt idx="136">
                  <c:v>19.17</c:v>
                </c:pt>
                <c:pt idx="137">
                  <c:v>7.79</c:v>
                </c:pt>
                <c:pt idx="138">
                  <c:v>5.99</c:v>
                </c:pt>
                <c:pt idx="139">
                  <c:v>7.96</c:v>
                </c:pt>
                <c:pt idx="140">
                  <c:v>19.17</c:v>
                </c:pt>
                <c:pt idx="141">
                  <c:v>8.64</c:v>
                </c:pt>
                <c:pt idx="142">
                  <c:v>8.43</c:v>
                </c:pt>
                <c:pt idx="143">
                  <c:v>9.77</c:v>
                </c:pt>
                <c:pt idx="144">
                  <c:v>9.7</c:v>
                </c:pt>
                <c:pt idx="145">
                  <c:v>9.11</c:v>
                </c:pt>
                <c:pt idx="146">
                  <c:v>9.06</c:v>
                </c:pt>
                <c:pt idx="147">
                  <c:v>9.1</c:v>
                </c:pt>
                <c:pt idx="148">
                  <c:v>19.17</c:v>
                </c:pt>
                <c:pt idx="149">
                  <c:v>8.72</c:v>
                </c:pt>
                <c:pt idx="150">
                  <c:v>9.1</c:v>
                </c:pt>
                <c:pt idx="151">
                  <c:v>5.88</c:v>
                </c:pt>
                <c:pt idx="152">
                  <c:v>10.3</c:v>
                </c:pt>
                <c:pt idx="153">
                  <c:v>13</c:v>
                </c:pt>
                <c:pt idx="154">
                  <c:v>11.12</c:v>
                </c:pt>
                <c:pt idx="155">
                  <c:v>8.58</c:v>
                </c:pt>
                <c:pt idx="156">
                  <c:v>6.19</c:v>
                </c:pt>
                <c:pt idx="157">
                  <c:v>19.17</c:v>
                </c:pt>
                <c:pt idx="158">
                  <c:v>11.86</c:v>
                </c:pt>
                <c:pt idx="159">
                  <c:v>12.62</c:v>
                </c:pt>
                <c:pt idx="160">
                  <c:v>9.93</c:v>
                </c:pt>
                <c:pt idx="161">
                  <c:v>8.13</c:v>
                </c:pt>
                <c:pt idx="162">
                  <c:v>4.61</c:v>
                </c:pt>
                <c:pt idx="163">
                  <c:v>19.17</c:v>
                </c:pt>
                <c:pt idx="164">
                  <c:v>3.95</c:v>
                </c:pt>
                <c:pt idx="165">
                  <c:v>4.25</c:v>
                </c:pt>
                <c:pt idx="166">
                  <c:v>2.05</c:v>
                </c:pt>
                <c:pt idx="167">
                  <c:v>4.1</c:v>
                </c:pt>
                <c:pt idx="168">
                  <c:v>3.69</c:v>
                </c:pt>
                <c:pt idx="169">
                  <c:v>19.17</c:v>
                </c:pt>
                <c:pt idx="170">
                  <c:v>19.17</c:v>
                </c:pt>
                <c:pt idx="171">
                  <c:v>19.17</c:v>
                </c:pt>
                <c:pt idx="172">
                  <c:v>19.17</c:v>
                </c:pt>
                <c:pt idx="173">
                  <c:v>4.8</c:v>
                </c:pt>
                <c:pt idx="174">
                  <c:v>5.67</c:v>
                </c:pt>
                <c:pt idx="175">
                  <c:v>6.39</c:v>
                </c:pt>
                <c:pt idx="176">
                  <c:v>19.17</c:v>
                </c:pt>
                <c:pt idx="177">
                  <c:v>8.51</c:v>
                </c:pt>
                <c:pt idx="178">
                  <c:v>9.84</c:v>
                </c:pt>
                <c:pt idx="179">
                  <c:v>12.27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C9D0DA"/>
            </a:solidFill>
            <a:prstDash val="solid"/>
            <a:round/>
          </a:ln>
        </c:spPr>
        <c:txPr>
          <a:bodyPr/>
          <a:lstStyle/>
          <a:p>
            <a:pPr>
              <a:defRPr sz="10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40"/>
          <c:min val="0"/>
        </c:scaling>
        <c:delete val="0"/>
        <c:axPos val="l"/>
        <c:majorGridlines>
          <c:spPr>
            <a:ln w="9525" cap="flat">
              <a:solidFill>
                <a:srgbClr val="E3E7ED"/>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4A5568"/>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example as Figure C.1 in Appendix C (ten-point series a–j). Teal tiles start in the first half, amber tiles in the second half, so the colours show where each observation moved. The three shuffles follow Tan et al. (2024); masking is the separate value-removal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TRUCE test series pilot13/434 (values 6, 7, 7, 7, 5, 6, 20, 34, 35, 33, 35, 32); all three of its descriptions are order-dependent. Full shuffle: index order e a g j d i l h k b c f; rank 1 → 29 in run 42 (runs 43, 44: 19, 29). First-half shuffle: index order e b d a c f g h i j k l; rank 1 → 1 in run 42 (runs 43, 44: 2, 2). Half exchange: index order g h i j k l a b c d e f; rank 1 → 62 in run 42 (runs 43, 44: 85, 102). Masking: masked steps 1 and 12; rank 1 → 35 in run 42 (runs 43, 44: 7, 9). Perturbations reproduced from the per-signal seeds sha256("truce_synth:pilot13/434.png|&lt;condition&gt;|42") recorded in results/experiments/probe2_clasp_signal_meta_seed42.json; runs 43 and 44 used other draws (half exchange is the same in every run). Ranks from results/experiments/probe2_clasp_per_query_seed{42,43,44}.jsonl; the pool has 386 series (140 SUSHI + 246 TRUCE). CLaSP and TE-3L received identical perturbed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Series from row0.txt (TRACE/NOAA test row 0, id 206, valid length 180, no padding inside the 180 valid steps; 6 padding slots of the 186-slot input stay fixed). Perturbations reproduced from row seeds sha256("trace_0|&lt;condition&gt;|13"), matching probe2_trace_signal_meta_seed13.json. Text-to-series ranks (2,006 records): draw 13 full 459, first-half 15, exchange 249, masking 35; draw 14: 670, 5, 698, 11; draw 15: 972, 3, 706, 199. Unperturbed rank is 1 in all draws. TRACE additionally applies its own 30% evaluation mask inside the model, identical across conditions (not drawn here). Masked days are shown at the channel mean (19.17 °C), which is what 0 means after TRACE's per-channel standardisation.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566928"/>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ph idx="101" type="body" hasCustomPrompt="1"/>
          </p:nvPr>
        </p:nvSpPr>
        <p:spPr>
          <a:xfrm>
            <a:off x="457200" y="822960"/>
            <a:ext cx="8229600" cy="365760"/>
          </a:xfrm>
          <a:prstGeom prst="rect">
            <a:avLst/>
          </a:prstGeom>
          <a:noFill/>
          <a:ln/>
        </p:spPr>
        <p:txBody>
          <a:bodyPr wrap="square" rtlCol="0"/>
          <a:lstStyle>
            <a:lvl1pPr algn="l" indent="0" marL="0">
              <a:buNone/>
              <a:defRPr lang="en-US" sz="1500" dirty="0">
                <a:solidFill>
                  <a:schemeClr val="tx2"/>
                </a:solidFill>
              </a:defRPr>
            </a:lvl1pPr>
          </a:lstStyle>
          <a:p>
            <a:pPr algn="l" indent="0" marL="0">
              <a:buNone/>
            </a:pPr>
            <a:endParaRPr lang="en-US" sz="1500" dirty="0"/>
          </a:p>
        </p:txBody>
      </p:sp>
      <p:sp>
        <p:nvSpPr>
          <p:cNvPr id="4" name="Text 0"/>
          <p:cNvSpPr/>
          <p:nvPr/>
        </p:nvSpPr>
        <p:spPr>
          <a:xfrm>
            <a:off x="457200" y="4846320"/>
            <a:ext cx="4572000" cy="201168"/>
          </a:xfrm>
          <a:prstGeom prst="rect">
            <a:avLst/>
          </a:prstGeom>
          <a:noFill/>
          <a:ln/>
        </p:spPr>
        <p:txBody>
          <a:bodyPr wrap="square" lIns="0" tIns="0" rIns="0" bIns="0" rtlCol="0" anchor="ctr"/>
          <a:lstStyle/>
          <a:p>
            <a:pPr indent="0" marL="0">
              <a:buNone/>
            </a:pPr>
            <a:r>
              <a:rPr lang="en-US" sz="1000" dirty="0">
                <a:solidFill>
                  <a:schemeClr val="tx2"/>
                </a:solidFill>
              </a:rPr>
              <a:t>D2 · Temporal-order sensitivity</a:t>
            </a:r>
            <a:endParaRPr lang="en-US" sz="1000" dirty="0"/>
          </a:p>
        </p:txBody>
      </p:sp>
      <p:sp>
        <p:nvSpPr>
          <p:cNvPr id="25" name="Slide Number Placeholder 0"/>
          <p:cNvSpPr>
            <a:spLocks noGrp="1"/>
          </p:cNvSpPr>
          <p:nvPr>
            <p:ph type="sldNum" sz="quarter" idx="4294967295"/>
          </p:nvPr>
        </p:nvSpPr>
        <p:spPr>
          <a:xfrm>
            <a:off x="832104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chart" Target="/ppt/charts/chart5.xml"/><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chart" Target="/ppt/charts/chart9.xml"/><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566928"/>
          </a:xfrm>
          <a:prstGeom prst="rect">
            <a:avLst/>
          </a:prstGeom>
          <a:noFill/>
          <a:ln/>
        </p:spPr>
        <p:txBody>
          <a:bodyPr wrap="square" lIns="0" tIns="0" rIns="0" bIns="0" rtlCol="0" anchor="b"/>
          <a:lstStyle/>
          <a:p>
            <a:pPr algn="l" indent="0" marL="0">
              <a:buNone/>
            </a:pPr>
            <a:r>
              <a:rPr lang="en-US" sz="3400" b="1" dirty="0">
                <a:solidFill>
                  <a:schemeClr val="tx1"/>
                </a:solidFill>
                <a:latin typeface="Cambria" pitchFamily="34" charset="0"/>
                <a:ea typeface="Cambria" pitchFamily="34" charset="-122"/>
                <a:cs typeface="Cambria" pitchFamily="34" charset="-120"/>
              </a:rPr>
              <a:t>Four conditions at a glance</a:t>
            </a:r>
            <a:endParaRPr lang="en-US" sz="34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D2 changes only the series; descriptions, model weights and candidate pools stay fixed</a:t>
            </a:r>
            <a:endParaRPr lang="en-US" sz="1500" dirty="0"/>
          </a:p>
        </p:txBody>
      </p:sp>
      <p:sp>
        <p:nvSpPr>
          <p:cNvPr id="4" name="txt-1"/>
          <p:cNvSpPr txBox="1"/>
          <p:nvPr/>
        </p:nvSpPr>
        <p:spPr>
          <a:xfrm>
            <a:off x="457200" y="1188720"/>
            <a:ext cx="1645920" cy="201168"/>
          </a:xfrm>
          <a:prstGeom prst="rect">
            <a:avLst/>
          </a:prstGeom>
          <a:noFill/>
          <a:ln/>
        </p:spPr>
        <p:txBody>
          <a:bodyPr wrap="square" lIns="0" tIns="0" rIns="0" bIns="0" rtlCol="0" anchor="ctr"/>
          <a:lstStyle/>
          <a:p>
            <a:pPr indent="0" marL="0">
              <a:buNone/>
            </a:pPr>
            <a:r>
              <a:rPr lang="en-US" sz="1100" b="1" spc="100" kern="0" dirty="0">
                <a:solidFill>
                  <a:schemeClr val="tx2"/>
                </a:solidFill>
              </a:rPr>
              <a:t>CONDITION</a:t>
            </a:r>
            <a:endParaRPr lang="en-US" sz="1100" dirty="0"/>
          </a:p>
        </p:txBody>
      </p:sp>
      <p:sp>
        <p:nvSpPr>
          <p:cNvPr id="5" name="txt-2"/>
          <p:cNvSpPr txBox="1"/>
          <p:nvPr/>
        </p:nvSpPr>
        <p:spPr>
          <a:xfrm>
            <a:off x="2240280" y="1188720"/>
            <a:ext cx="4206240" cy="201168"/>
          </a:xfrm>
          <a:prstGeom prst="rect">
            <a:avLst/>
          </a:prstGeom>
          <a:noFill/>
          <a:ln/>
        </p:spPr>
        <p:txBody>
          <a:bodyPr wrap="square" lIns="0" tIns="0" rIns="0" bIns="0" rtlCol="0" anchor="ctr"/>
          <a:lstStyle/>
          <a:p>
            <a:pPr indent="0" marL="0">
              <a:buNone/>
            </a:pPr>
            <a:r>
              <a:rPr lang="en-US" sz="1100" b="1" spc="100" kern="0" dirty="0">
                <a:solidFill>
                  <a:schemeClr val="tx2"/>
                </a:solidFill>
              </a:rPr>
              <a:t>TEN-POINT SERIES (LETTERS = OBSERVATIONS)</a:t>
            </a:r>
            <a:endParaRPr lang="en-US" sz="1100" dirty="0"/>
          </a:p>
        </p:txBody>
      </p:sp>
      <p:sp>
        <p:nvSpPr>
          <p:cNvPr id="6" name="txt-3"/>
          <p:cNvSpPr txBox="1"/>
          <p:nvPr/>
        </p:nvSpPr>
        <p:spPr>
          <a:xfrm>
            <a:off x="6720840" y="1188720"/>
            <a:ext cx="2011680" cy="201168"/>
          </a:xfrm>
          <a:prstGeom prst="rect">
            <a:avLst/>
          </a:prstGeom>
          <a:noFill/>
          <a:ln/>
        </p:spPr>
        <p:txBody>
          <a:bodyPr wrap="square" lIns="0" tIns="0" rIns="0" bIns="0" rtlCol="0" anchor="ctr"/>
          <a:lstStyle/>
          <a:p>
            <a:pPr indent="0" marL="0">
              <a:buNone/>
            </a:pPr>
            <a:r>
              <a:rPr lang="en-US" sz="1100" b="1" spc="100" kern="0" dirty="0">
                <a:solidFill>
                  <a:schemeClr val="tx2"/>
                </a:solidFill>
              </a:rPr>
              <a:t>WHAT SURVIVES</a:t>
            </a:r>
            <a:endParaRPr lang="en-US" sz="1100" dirty="0"/>
          </a:p>
        </p:txBody>
      </p:sp>
      <p:sp>
        <p:nvSpPr>
          <p:cNvPr id="7" name="txt-4"/>
          <p:cNvSpPr txBox="1"/>
          <p:nvPr/>
        </p:nvSpPr>
        <p:spPr>
          <a:xfrm>
            <a:off x="457200" y="1481328"/>
            <a:ext cx="1737360" cy="274320"/>
          </a:xfrm>
          <a:prstGeom prst="rect">
            <a:avLst/>
          </a:prstGeom>
          <a:noFill/>
          <a:ln/>
        </p:spPr>
        <p:txBody>
          <a:bodyPr wrap="square" lIns="0" tIns="0" rIns="0" bIns="0" rtlCol="0" anchor="ctr"/>
          <a:lstStyle/>
          <a:p>
            <a:pPr indent="0" marL="0">
              <a:buNone/>
            </a:pPr>
            <a:r>
              <a:rPr lang="en-US" sz="1500" b="1" dirty="0">
                <a:solidFill>
                  <a:schemeClr val="tx1"/>
                </a:solidFill>
              </a:rPr>
              <a:t>Original</a:t>
            </a:r>
            <a:endParaRPr lang="en-US" sz="1500" dirty="0"/>
          </a:p>
        </p:txBody>
      </p:sp>
      <p:sp>
        <p:nvSpPr>
          <p:cNvPr id="8" name="tile-5"/>
          <p:cNvSpPr/>
          <p:nvPr/>
        </p:nvSpPr>
        <p:spPr>
          <a:xfrm>
            <a:off x="2240280" y="1481328"/>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9" name="txt-6"/>
          <p:cNvSpPr txBox="1"/>
          <p:nvPr/>
        </p:nvSpPr>
        <p:spPr>
          <a:xfrm>
            <a:off x="2240280"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p:txBody>
      </p:sp>
      <p:sp>
        <p:nvSpPr>
          <p:cNvPr id="10" name="tile-7"/>
          <p:cNvSpPr/>
          <p:nvPr/>
        </p:nvSpPr>
        <p:spPr>
          <a:xfrm>
            <a:off x="2651760" y="1481328"/>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1" name="txt-8"/>
          <p:cNvSpPr txBox="1"/>
          <p:nvPr/>
        </p:nvSpPr>
        <p:spPr>
          <a:xfrm>
            <a:off x="2651760"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b</a:t>
            </a:r>
            <a:endParaRPr lang="en-US" sz="1700" dirty="0"/>
          </a:p>
        </p:txBody>
      </p:sp>
      <p:sp>
        <p:nvSpPr>
          <p:cNvPr id="12" name="tile-9"/>
          <p:cNvSpPr/>
          <p:nvPr/>
        </p:nvSpPr>
        <p:spPr>
          <a:xfrm>
            <a:off x="3063240" y="1481328"/>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3" name="txt-10"/>
          <p:cNvSpPr txBox="1"/>
          <p:nvPr/>
        </p:nvSpPr>
        <p:spPr>
          <a:xfrm>
            <a:off x="3063240"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c</a:t>
            </a:r>
            <a:endParaRPr lang="en-US" sz="1700" dirty="0"/>
          </a:p>
        </p:txBody>
      </p:sp>
      <p:sp>
        <p:nvSpPr>
          <p:cNvPr id="14" name="tile-11"/>
          <p:cNvSpPr/>
          <p:nvPr/>
        </p:nvSpPr>
        <p:spPr>
          <a:xfrm>
            <a:off x="3474720" y="1481328"/>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5" name="txt-12"/>
          <p:cNvSpPr txBox="1"/>
          <p:nvPr/>
        </p:nvSpPr>
        <p:spPr>
          <a:xfrm>
            <a:off x="3474720"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d</a:t>
            </a:r>
            <a:endParaRPr lang="en-US" sz="1700" dirty="0"/>
          </a:p>
        </p:txBody>
      </p:sp>
      <p:sp>
        <p:nvSpPr>
          <p:cNvPr id="16" name="tile-13"/>
          <p:cNvSpPr/>
          <p:nvPr/>
        </p:nvSpPr>
        <p:spPr>
          <a:xfrm>
            <a:off x="3886200" y="1481328"/>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7" name="txt-14"/>
          <p:cNvSpPr txBox="1"/>
          <p:nvPr/>
        </p:nvSpPr>
        <p:spPr>
          <a:xfrm>
            <a:off x="3886200"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e</a:t>
            </a:r>
            <a:endParaRPr lang="en-US" sz="1700" dirty="0"/>
          </a:p>
        </p:txBody>
      </p:sp>
      <p:sp>
        <p:nvSpPr>
          <p:cNvPr id="18" name="tile-15"/>
          <p:cNvSpPr/>
          <p:nvPr/>
        </p:nvSpPr>
        <p:spPr>
          <a:xfrm>
            <a:off x="4498848" y="1481328"/>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19" name="txt-16"/>
          <p:cNvSpPr txBox="1"/>
          <p:nvPr/>
        </p:nvSpPr>
        <p:spPr>
          <a:xfrm>
            <a:off x="4498848"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f</a:t>
            </a:r>
            <a:endParaRPr lang="en-US" sz="1700" dirty="0"/>
          </a:p>
        </p:txBody>
      </p:sp>
      <p:sp>
        <p:nvSpPr>
          <p:cNvPr id="20" name="tile-17"/>
          <p:cNvSpPr/>
          <p:nvPr/>
        </p:nvSpPr>
        <p:spPr>
          <a:xfrm>
            <a:off x="4910328" y="1481328"/>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21" name="txt-18"/>
          <p:cNvSpPr txBox="1"/>
          <p:nvPr/>
        </p:nvSpPr>
        <p:spPr>
          <a:xfrm>
            <a:off x="4910328"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g</a:t>
            </a:r>
            <a:endParaRPr lang="en-US" sz="1700" dirty="0"/>
          </a:p>
        </p:txBody>
      </p:sp>
      <p:sp>
        <p:nvSpPr>
          <p:cNvPr id="22" name="tile-19"/>
          <p:cNvSpPr/>
          <p:nvPr/>
        </p:nvSpPr>
        <p:spPr>
          <a:xfrm>
            <a:off x="5321808" y="1481328"/>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23" name="txt-20"/>
          <p:cNvSpPr txBox="1"/>
          <p:nvPr/>
        </p:nvSpPr>
        <p:spPr>
          <a:xfrm>
            <a:off x="5321808"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h</a:t>
            </a:r>
            <a:endParaRPr lang="en-US" sz="1700" dirty="0"/>
          </a:p>
        </p:txBody>
      </p:sp>
      <p:sp>
        <p:nvSpPr>
          <p:cNvPr id="24" name="tile-21"/>
          <p:cNvSpPr/>
          <p:nvPr/>
        </p:nvSpPr>
        <p:spPr>
          <a:xfrm>
            <a:off x="5733288" y="1481328"/>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25" name="txt-22"/>
          <p:cNvSpPr txBox="1"/>
          <p:nvPr/>
        </p:nvSpPr>
        <p:spPr>
          <a:xfrm>
            <a:off x="5733288"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i</a:t>
            </a:r>
            <a:endParaRPr lang="en-US" sz="1700" dirty="0"/>
          </a:p>
        </p:txBody>
      </p:sp>
      <p:sp>
        <p:nvSpPr>
          <p:cNvPr id="26" name="tile-23"/>
          <p:cNvSpPr/>
          <p:nvPr/>
        </p:nvSpPr>
        <p:spPr>
          <a:xfrm>
            <a:off x="6144768" y="1481328"/>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27" name="txt-24"/>
          <p:cNvSpPr txBox="1"/>
          <p:nvPr/>
        </p:nvSpPr>
        <p:spPr>
          <a:xfrm>
            <a:off x="6144768" y="1481328"/>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j</a:t>
            </a:r>
            <a:endParaRPr lang="en-US" sz="1700" dirty="0"/>
          </a:p>
        </p:txBody>
      </p:sp>
      <p:sp>
        <p:nvSpPr>
          <p:cNvPr id="28" name="txt-25"/>
          <p:cNvSpPr txBox="1"/>
          <p:nvPr/>
        </p:nvSpPr>
        <p:spPr>
          <a:xfrm>
            <a:off x="4283964" y="1481328"/>
            <a:ext cx="18288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29" name="txt-26"/>
          <p:cNvSpPr txBox="1"/>
          <p:nvPr/>
        </p:nvSpPr>
        <p:spPr>
          <a:xfrm>
            <a:off x="6720840" y="1481328"/>
            <a:ext cx="2011680" cy="457200"/>
          </a:xfrm>
          <a:prstGeom prst="rect">
            <a:avLst/>
          </a:prstGeom>
          <a:noFill/>
          <a:ln/>
        </p:spPr>
        <p:txBody>
          <a:bodyPr wrap="square" lIns="0" tIns="0" rIns="0" bIns="0" rtlCol="0" anchor="ctr"/>
          <a:lstStyle/>
          <a:p>
            <a:pPr indent="0" marL="0">
              <a:buNone/>
            </a:pPr>
            <a:r>
              <a:rPr lang="en-US" sz="1400" dirty="0">
                <a:solidFill>
                  <a:schemeClr val="tx1"/>
                </a:solidFill>
              </a:rPr>
              <a:t>the reference</a:t>
            </a:r>
            <a:endParaRPr lang="en-US" sz="1400" dirty="0"/>
          </a:p>
        </p:txBody>
      </p:sp>
      <p:sp>
        <p:nvSpPr>
          <p:cNvPr id="30" name="txt-27"/>
          <p:cNvSpPr txBox="1"/>
          <p:nvPr/>
        </p:nvSpPr>
        <p:spPr>
          <a:xfrm>
            <a:off x="457200" y="2084832"/>
            <a:ext cx="1737360" cy="274320"/>
          </a:xfrm>
          <a:prstGeom prst="rect">
            <a:avLst/>
          </a:prstGeom>
          <a:noFill/>
          <a:ln/>
        </p:spPr>
        <p:txBody>
          <a:bodyPr wrap="square" lIns="0" tIns="0" rIns="0" bIns="0" rtlCol="0" anchor="ctr"/>
          <a:lstStyle/>
          <a:p>
            <a:pPr indent="0" marL="0">
              <a:buNone/>
            </a:pPr>
            <a:r>
              <a:rPr lang="en-US" sz="1500" b="1" dirty="0">
                <a:solidFill>
                  <a:schemeClr val="accent1"/>
                </a:solidFill>
              </a:rPr>
              <a:t>Full shuffle</a:t>
            </a:r>
            <a:endParaRPr lang="en-US" sz="1500" dirty="0"/>
          </a:p>
        </p:txBody>
      </p:sp>
      <p:sp>
        <p:nvSpPr>
          <p:cNvPr id="31" name="txt-28"/>
          <p:cNvSpPr txBox="1"/>
          <p:nvPr/>
        </p:nvSpPr>
        <p:spPr>
          <a:xfrm>
            <a:off x="457200" y="2340864"/>
            <a:ext cx="1737360" cy="201168"/>
          </a:xfrm>
          <a:prstGeom prst="rect">
            <a:avLst/>
          </a:prstGeom>
          <a:noFill/>
          <a:ln/>
        </p:spPr>
        <p:txBody>
          <a:bodyPr wrap="square" lIns="0" tIns="0" rIns="0" bIns="0" rtlCol="0" anchor="ctr"/>
          <a:lstStyle/>
          <a:p>
            <a:pPr indent="0" marL="0">
              <a:buNone/>
            </a:pPr>
            <a:r>
              <a:rPr lang="en-US" sz="1100" dirty="0">
                <a:solidFill>
                  <a:schemeClr val="tx2"/>
                </a:solidFill>
              </a:rPr>
              <a:t>sf-all</a:t>
            </a:r>
            <a:endParaRPr lang="en-US" sz="1100" dirty="0"/>
          </a:p>
        </p:txBody>
      </p:sp>
      <p:sp>
        <p:nvSpPr>
          <p:cNvPr id="32" name="tile-29"/>
          <p:cNvSpPr/>
          <p:nvPr/>
        </p:nvSpPr>
        <p:spPr>
          <a:xfrm>
            <a:off x="2240280" y="2084832"/>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33" name="txt-30"/>
          <p:cNvSpPr txBox="1"/>
          <p:nvPr/>
        </p:nvSpPr>
        <p:spPr>
          <a:xfrm>
            <a:off x="2240280"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h</a:t>
            </a:r>
            <a:endParaRPr lang="en-US" sz="1700" dirty="0"/>
          </a:p>
        </p:txBody>
      </p:sp>
      <p:sp>
        <p:nvSpPr>
          <p:cNvPr id="34" name="tile-31"/>
          <p:cNvSpPr/>
          <p:nvPr/>
        </p:nvSpPr>
        <p:spPr>
          <a:xfrm>
            <a:off x="2651760" y="2084832"/>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35" name="txt-32"/>
          <p:cNvSpPr txBox="1"/>
          <p:nvPr/>
        </p:nvSpPr>
        <p:spPr>
          <a:xfrm>
            <a:off x="2651760"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c</a:t>
            </a:r>
            <a:endParaRPr lang="en-US" sz="1700" dirty="0"/>
          </a:p>
        </p:txBody>
      </p:sp>
      <p:sp>
        <p:nvSpPr>
          <p:cNvPr id="36" name="tile-33"/>
          <p:cNvSpPr/>
          <p:nvPr/>
        </p:nvSpPr>
        <p:spPr>
          <a:xfrm>
            <a:off x="3063240" y="2084832"/>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37" name="txt-34"/>
          <p:cNvSpPr txBox="1"/>
          <p:nvPr/>
        </p:nvSpPr>
        <p:spPr>
          <a:xfrm>
            <a:off x="3063240"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p:txBody>
      </p:sp>
      <p:sp>
        <p:nvSpPr>
          <p:cNvPr id="38" name="tile-35"/>
          <p:cNvSpPr/>
          <p:nvPr/>
        </p:nvSpPr>
        <p:spPr>
          <a:xfrm>
            <a:off x="3474720" y="2084832"/>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39" name="txt-36"/>
          <p:cNvSpPr txBox="1"/>
          <p:nvPr/>
        </p:nvSpPr>
        <p:spPr>
          <a:xfrm>
            <a:off x="3474720"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j</a:t>
            </a:r>
            <a:endParaRPr lang="en-US" sz="1700" dirty="0"/>
          </a:p>
        </p:txBody>
      </p:sp>
      <p:sp>
        <p:nvSpPr>
          <p:cNvPr id="40" name="tile-37"/>
          <p:cNvSpPr/>
          <p:nvPr/>
        </p:nvSpPr>
        <p:spPr>
          <a:xfrm>
            <a:off x="3886200" y="2084832"/>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41" name="txt-38"/>
          <p:cNvSpPr txBox="1"/>
          <p:nvPr/>
        </p:nvSpPr>
        <p:spPr>
          <a:xfrm>
            <a:off x="3886200"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f</a:t>
            </a:r>
            <a:endParaRPr lang="en-US" sz="1700" dirty="0"/>
          </a:p>
        </p:txBody>
      </p:sp>
      <p:sp>
        <p:nvSpPr>
          <p:cNvPr id="42" name="tile-39"/>
          <p:cNvSpPr/>
          <p:nvPr/>
        </p:nvSpPr>
        <p:spPr>
          <a:xfrm>
            <a:off x="4498848" y="2084832"/>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43" name="txt-40"/>
          <p:cNvSpPr txBox="1"/>
          <p:nvPr/>
        </p:nvSpPr>
        <p:spPr>
          <a:xfrm>
            <a:off x="4498848"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b</a:t>
            </a:r>
            <a:endParaRPr lang="en-US" sz="1700" dirty="0"/>
          </a:p>
        </p:txBody>
      </p:sp>
      <p:sp>
        <p:nvSpPr>
          <p:cNvPr id="44" name="tile-41"/>
          <p:cNvSpPr/>
          <p:nvPr/>
        </p:nvSpPr>
        <p:spPr>
          <a:xfrm>
            <a:off x="4910328" y="2084832"/>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45" name="txt-42"/>
          <p:cNvSpPr txBox="1"/>
          <p:nvPr/>
        </p:nvSpPr>
        <p:spPr>
          <a:xfrm>
            <a:off x="4910328"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i</a:t>
            </a:r>
            <a:endParaRPr lang="en-US" sz="1700" dirty="0"/>
          </a:p>
        </p:txBody>
      </p:sp>
      <p:sp>
        <p:nvSpPr>
          <p:cNvPr id="46" name="tile-43"/>
          <p:cNvSpPr/>
          <p:nvPr/>
        </p:nvSpPr>
        <p:spPr>
          <a:xfrm>
            <a:off x="5321808" y="2084832"/>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47" name="txt-44"/>
          <p:cNvSpPr txBox="1"/>
          <p:nvPr/>
        </p:nvSpPr>
        <p:spPr>
          <a:xfrm>
            <a:off x="5321808"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e</a:t>
            </a:r>
            <a:endParaRPr lang="en-US" sz="1700" dirty="0"/>
          </a:p>
        </p:txBody>
      </p:sp>
      <p:sp>
        <p:nvSpPr>
          <p:cNvPr id="48" name="tile-45"/>
          <p:cNvSpPr/>
          <p:nvPr/>
        </p:nvSpPr>
        <p:spPr>
          <a:xfrm>
            <a:off x="5733288" y="2084832"/>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49" name="txt-46"/>
          <p:cNvSpPr txBox="1"/>
          <p:nvPr/>
        </p:nvSpPr>
        <p:spPr>
          <a:xfrm>
            <a:off x="5733288"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g</a:t>
            </a:r>
            <a:endParaRPr lang="en-US" sz="1700" dirty="0"/>
          </a:p>
        </p:txBody>
      </p:sp>
      <p:sp>
        <p:nvSpPr>
          <p:cNvPr id="50" name="tile-47"/>
          <p:cNvSpPr/>
          <p:nvPr/>
        </p:nvSpPr>
        <p:spPr>
          <a:xfrm>
            <a:off x="6144768" y="2084832"/>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51" name="txt-48"/>
          <p:cNvSpPr txBox="1"/>
          <p:nvPr/>
        </p:nvSpPr>
        <p:spPr>
          <a:xfrm>
            <a:off x="6144768" y="2084832"/>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d</a:t>
            </a:r>
            <a:endParaRPr lang="en-US" sz="1700" dirty="0"/>
          </a:p>
        </p:txBody>
      </p:sp>
      <p:sp>
        <p:nvSpPr>
          <p:cNvPr id="52" name="txt-49"/>
          <p:cNvSpPr txBox="1"/>
          <p:nvPr/>
        </p:nvSpPr>
        <p:spPr>
          <a:xfrm>
            <a:off x="4283964" y="2084832"/>
            <a:ext cx="18288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53" name="txt-50"/>
          <p:cNvSpPr txBox="1"/>
          <p:nvPr/>
        </p:nvSpPr>
        <p:spPr>
          <a:xfrm>
            <a:off x="6720840" y="2084832"/>
            <a:ext cx="2011680" cy="457200"/>
          </a:xfrm>
          <a:prstGeom prst="rect">
            <a:avLst/>
          </a:prstGeom>
          <a:noFill/>
          <a:ln/>
        </p:spPr>
        <p:txBody>
          <a:bodyPr wrap="square" lIns="0" tIns="0" rIns="0" bIns="0" rtlCol="0" anchor="ctr"/>
          <a:lstStyle/>
          <a:p>
            <a:pPr indent="0" marL="0">
              <a:buNone/>
            </a:pPr>
            <a:r>
              <a:rPr lang="en-US" sz="1400" dirty="0">
                <a:solidFill>
                  <a:schemeClr val="tx1"/>
                </a:solidFill>
              </a:rPr>
              <a:t>values only</a:t>
            </a:r>
            <a:endParaRPr lang="en-US" sz="1400" dirty="0"/>
          </a:p>
        </p:txBody>
      </p:sp>
      <p:sp>
        <p:nvSpPr>
          <p:cNvPr id="54" name="txt-51"/>
          <p:cNvSpPr txBox="1"/>
          <p:nvPr/>
        </p:nvSpPr>
        <p:spPr>
          <a:xfrm>
            <a:off x="457200" y="2688336"/>
            <a:ext cx="1737360" cy="274320"/>
          </a:xfrm>
          <a:prstGeom prst="rect">
            <a:avLst/>
          </a:prstGeom>
          <a:noFill/>
          <a:ln/>
        </p:spPr>
        <p:txBody>
          <a:bodyPr wrap="square" lIns="0" tIns="0" rIns="0" bIns="0" rtlCol="0" anchor="ctr"/>
          <a:lstStyle/>
          <a:p>
            <a:pPr indent="0" marL="0">
              <a:buNone/>
            </a:pPr>
            <a:r>
              <a:rPr lang="en-US" sz="1500" b="1" dirty="0">
                <a:solidFill>
                  <a:schemeClr val="accent2"/>
                </a:solidFill>
              </a:rPr>
              <a:t>First-half shuffle</a:t>
            </a:r>
            <a:endParaRPr lang="en-US" sz="1500" dirty="0"/>
          </a:p>
        </p:txBody>
      </p:sp>
      <p:sp>
        <p:nvSpPr>
          <p:cNvPr id="55" name="txt-52"/>
          <p:cNvSpPr txBox="1"/>
          <p:nvPr/>
        </p:nvSpPr>
        <p:spPr>
          <a:xfrm>
            <a:off x="457200" y="2944368"/>
            <a:ext cx="1737360" cy="201168"/>
          </a:xfrm>
          <a:prstGeom prst="rect">
            <a:avLst/>
          </a:prstGeom>
          <a:noFill/>
          <a:ln/>
        </p:spPr>
        <p:txBody>
          <a:bodyPr wrap="square" lIns="0" tIns="0" rIns="0" bIns="0" rtlCol="0" anchor="ctr"/>
          <a:lstStyle/>
          <a:p>
            <a:pPr indent="0" marL="0">
              <a:buNone/>
            </a:pPr>
            <a:r>
              <a:rPr lang="en-US" sz="1100" dirty="0">
                <a:solidFill>
                  <a:schemeClr val="tx2"/>
                </a:solidFill>
              </a:rPr>
              <a:t>sf-half</a:t>
            </a:r>
            <a:endParaRPr lang="en-US" sz="1100" dirty="0"/>
          </a:p>
        </p:txBody>
      </p:sp>
      <p:sp>
        <p:nvSpPr>
          <p:cNvPr id="56" name="tile-53"/>
          <p:cNvSpPr/>
          <p:nvPr/>
        </p:nvSpPr>
        <p:spPr>
          <a:xfrm>
            <a:off x="2240280" y="2688336"/>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57" name="txt-54"/>
          <p:cNvSpPr txBox="1"/>
          <p:nvPr/>
        </p:nvSpPr>
        <p:spPr>
          <a:xfrm>
            <a:off x="2240280"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c</a:t>
            </a:r>
            <a:endParaRPr lang="en-US" sz="1700" dirty="0"/>
          </a:p>
        </p:txBody>
      </p:sp>
      <p:sp>
        <p:nvSpPr>
          <p:cNvPr id="58" name="tile-55"/>
          <p:cNvSpPr/>
          <p:nvPr/>
        </p:nvSpPr>
        <p:spPr>
          <a:xfrm>
            <a:off x="2651760" y="2688336"/>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59" name="txt-56"/>
          <p:cNvSpPr txBox="1"/>
          <p:nvPr/>
        </p:nvSpPr>
        <p:spPr>
          <a:xfrm>
            <a:off x="2651760"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p:txBody>
      </p:sp>
      <p:sp>
        <p:nvSpPr>
          <p:cNvPr id="60" name="tile-57"/>
          <p:cNvSpPr/>
          <p:nvPr/>
        </p:nvSpPr>
        <p:spPr>
          <a:xfrm>
            <a:off x="3063240" y="2688336"/>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61" name="txt-58"/>
          <p:cNvSpPr txBox="1"/>
          <p:nvPr/>
        </p:nvSpPr>
        <p:spPr>
          <a:xfrm>
            <a:off x="3063240"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e</a:t>
            </a:r>
            <a:endParaRPr lang="en-US" sz="1700" dirty="0"/>
          </a:p>
        </p:txBody>
      </p:sp>
      <p:sp>
        <p:nvSpPr>
          <p:cNvPr id="62" name="tile-59"/>
          <p:cNvSpPr/>
          <p:nvPr/>
        </p:nvSpPr>
        <p:spPr>
          <a:xfrm>
            <a:off x="3474720" y="2688336"/>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63" name="txt-60"/>
          <p:cNvSpPr txBox="1"/>
          <p:nvPr/>
        </p:nvSpPr>
        <p:spPr>
          <a:xfrm>
            <a:off x="3474720"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b</a:t>
            </a:r>
            <a:endParaRPr lang="en-US" sz="1700" dirty="0"/>
          </a:p>
        </p:txBody>
      </p:sp>
      <p:sp>
        <p:nvSpPr>
          <p:cNvPr id="64" name="tile-61"/>
          <p:cNvSpPr/>
          <p:nvPr/>
        </p:nvSpPr>
        <p:spPr>
          <a:xfrm>
            <a:off x="3886200" y="2688336"/>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65" name="txt-62"/>
          <p:cNvSpPr txBox="1"/>
          <p:nvPr/>
        </p:nvSpPr>
        <p:spPr>
          <a:xfrm>
            <a:off x="3886200"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d</a:t>
            </a:r>
            <a:endParaRPr lang="en-US" sz="1700" dirty="0"/>
          </a:p>
        </p:txBody>
      </p:sp>
      <p:sp>
        <p:nvSpPr>
          <p:cNvPr id="66" name="tile-63"/>
          <p:cNvSpPr/>
          <p:nvPr/>
        </p:nvSpPr>
        <p:spPr>
          <a:xfrm>
            <a:off x="4498848" y="2688336"/>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67" name="txt-64"/>
          <p:cNvSpPr txBox="1"/>
          <p:nvPr/>
        </p:nvSpPr>
        <p:spPr>
          <a:xfrm>
            <a:off x="4498848"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f</a:t>
            </a:r>
            <a:endParaRPr lang="en-US" sz="1700" dirty="0"/>
          </a:p>
        </p:txBody>
      </p:sp>
      <p:sp>
        <p:nvSpPr>
          <p:cNvPr id="68" name="tile-65"/>
          <p:cNvSpPr/>
          <p:nvPr/>
        </p:nvSpPr>
        <p:spPr>
          <a:xfrm>
            <a:off x="4910328" y="2688336"/>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69" name="txt-66"/>
          <p:cNvSpPr txBox="1"/>
          <p:nvPr/>
        </p:nvSpPr>
        <p:spPr>
          <a:xfrm>
            <a:off x="4910328"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g</a:t>
            </a:r>
            <a:endParaRPr lang="en-US" sz="1700" dirty="0"/>
          </a:p>
        </p:txBody>
      </p:sp>
      <p:sp>
        <p:nvSpPr>
          <p:cNvPr id="70" name="tile-67"/>
          <p:cNvSpPr/>
          <p:nvPr/>
        </p:nvSpPr>
        <p:spPr>
          <a:xfrm>
            <a:off x="5321808" y="2688336"/>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71" name="txt-68"/>
          <p:cNvSpPr txBox="1"/>
          <p:nvPr/>
        </p:nvSpPr>
        <p:spPr>
          <a:xfrm>
            <a:off x="5321808"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h</a:t>
            </a:r>
            <a:endParaRPr lang="en-US" sz="1700" dirty="0"/>
          </a:p>
        </p:txBody>
      </p:sp>
      <p:sp>
        <p:nvSpPr>
          <p:cNvPr id="72" name="tile-69"/>
          <p:cNvSpPr/>
          <p:nvPr/>
        </p:nvSpPr>
        <p:spPr>
          <a:xfrm>
            <a:off x="5733288" y="2688336"/>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73" name="txt-70"/>
          <p:cNvSpPr txBox="1"/>
          <p:nvPr/>
        </p:nvSpPr>
        <p:spPr>
          <a:xfrm>
            <a:off x="5733288"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i</a:t>
            </a:r>
            <a:endParaRPr lang="en-US" sz="1700" dirty="0"/>
          </a:p>
        </p:txBody>
      </p:sp>
      <p:sp>
        <p:nvSpPr>
          <p:cNvPr id="74" name="tile-71"/>
          <p:cNvSpPr/>
          <p:nvPr/>
        </p:nvSpPr>
        <p:spPr>
          <a:xfrm>
            <a:off x="6144768" y="2688336"/>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75" name="txt-72"/>
          <p:cNvSpPr txBox="1"/>
          <p:nvPr/>
        </p:nvSpPr>
        <p:spPr>
          <a:xfrm>
            <a:off x="6144768" y="2688336"/>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j</a:t>
            </a:r>
            <a:endParaRPr lang="en-US" sz="1700" dirty="0"/>
          </a:p>
        </p:txBody>
      </p:sp>
      <p:sp>
        <p:nvSpPr>
          <p:cNvPr id="76" name="txt-73"/>
          <p:cNvSpPr txBox="1"/>
          <p:nvPr/>
        </p:nvSpPr>
        <p:spPr>
          <a:xfrm>
            <a:off x="4283964" y="2688336"/>
            <a:ext cx="18288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77" name="txt-74"/>
          <p:cNvSpPr txBox="1"/>
          <p:nvPr/>
        </p:nvSpPr>
        <p:spPr>
          <a:xfrm>
            <a:off x="6720840" y="2688336"/>
            <a:ext cx="2011680" cy="457200"/>
          </a:xfrm>
          <a:prstGeom prst="rect">
            <a:avLst/>
          </a:prstGeom>
          <a:noFill/>
          <a:ln/>
        </p:spPr>
        <p:txBody>
          <a:bodyPr wrap="square" lIns="0" tIns="0" rIns="0" bIns="0" rtlCol="0" anchor="ctr"/>
          <a:lstStyle/>
          <a:p>
            <a:pPr indent="0" marL="0">
              <a:buNone/>
            </a:pPr>
            <a:r>
              <a:rPr lang="en-US" sz="1400" dirty="0">
                <a:solidFill>
                  <a:schemeClr val="tx1"/>
                </a:solidFill>
              </a:rPr>
              <a:t>second half, in place</a:t>
            </a:r>
            <a:endParaRPr lang="en-US" sz="1400" dirty="0"/>
          </a:p>
        </p:txBody>
      </p:sp>
      <p:sp>
        <p:nvSpPr>
          <p:cNvPr id="78" name="txt-75"/>
          <p:cNvSpPr txBox="1"/>
          <p:nvPr/>
        </p:nvSpPr>
        <p:spPr>
          <a:xfrm>
            <a:off x="457200" y="3291840"/>
            <a:ext cx="1737360" cy="274320"/>
          </a:xfrm>
          <a:prstGeom prst="rect">
            <a:avLst/>
          </a:prstGeom>
          <a:noFill/>
          <a:ln/>
        </p:spPr>
        <p:txBody>
          <a:bodyPr wrap="square" lIns="0" tIns="0" rIns="0" bIns="0" rtlCol="0" anchor="ctr"/>
          <a:lstStyle/>
          <a:p>
            <a:pPr indent="0" marL="0">
              <a:buNone/>
            </a:pPr>
            <a:r>
              <a:rPr lang="en-US" sz="1500" b="1" dirty="0">
                <a:solidFill>
                  <a:schemeClr val="accent3"/>
                </a:solidFill>
              </a:rPr>
              <a:t>Half exchange</a:t>
            </a:r>
            <a:endParaRPr lang="en-US" sz="1500" dirty="0"/>
          </a:p>
        </p:txBody>
      </p:sp>
      <p:sp>
        <p:nvSpPr>
          <p:cNvPr id="79" name="txt-76"/>
          <p:cNvSpPr txBox="1"/>
          <p:nvPr/>
        </p:nvSpPr>
        <p:spPr>
          <a:xfrm>
            <a:off x="457200" y="3547872"/>
            <a:ext cx="1737360" cy="201168"/>
          </a:xfrm>
          <a:prstGeom prst="rect">
            <a:avLst/>
          </a:prstGeom>
          <a:noFill/>
          <a:ln/>
        </p:spPr>
        <p:txBody>
          <a:bodyPr wrap="square" lIns="0" tIns="0" rIns="0" bIns="0" rtlCol="0" anchor="ctr"/>
          <a:lstStyle/>
          <a:p>
            <a:pPr indent="0" marL="0">
              <a:buNone/>
            </a:pPr>
            <a:r>
              <a:rPr lang="en-US" sz="1100" dirty="0">
                <a:solidFill>
                  <a:schemeClr val="tx2"/>
                </a:solidFill>
              </a:rPr>
              <a:t>ex-half</a:t>
            </a:r>
            <a:endParaRPr lang="en-US" sz="1100" dirty="0"/>
          </a:p>
        </p:txBody>
      </p:sp>
      <p:sp>
        <p:nvSpPr>
          <p:cNvPr id="80" name="tile-77"/>
          <p:cNvSpPr/>
          <p:nvPr/>
        </p:nvSpPr>
        <p:spPr>
          <a:xfrm>
            <a:off x="2240280" y="3291840"/>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81" name="txt-78"/>
          <p:cNvSpPr txBox="1"/>
          <p:nvPr/>
        </p:nvSpPr>
        <p:spPr>
          <a:xfrm>
            <a:off x="2240280"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f</a:t>
            </a:r>
            <a:endParaRPr lang="en-US" sz="1700" dirty="0"/>
          </a:p>
        </p:txBody>
      </p:sp>
      <p:sp>
        <p:nvSpPr>
          <p:cNvPr id="82" name="tile-79"/>
          <p:cNvSpPr/>
          <p:nvPr/>
        </p:nvSpPr>
        <p:spPr>
          <a:xfrm>
            <a:off x="2651760" y="3291840"/>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83" name="txt-80"/>
          <p:cNvSpPr txBox="1"/>
          <p:nvPr/>
        </p:nvSpPr>
        <p:spPr>
          <a:xfrm>
            <a:off x="2651760"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g</a:t>
            </a:r>
            <a:endParaRPr lang="en-US" sz="1700" dirty="0"/>
          </a:p>
        </p:txBody>
      </p:sp>
      <p:sp>
        <p:nvSpPr>
          <p:cNvPr id="84" name="tile-81"/>
          <p:cNvSpPr/>
          <p:nvPr/>
        </p:nvSpPr>
        <p:spPr>
          <a:xfrm>
            <a:off x="3063240" y="3291840"/>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85" name="txt-82"/>
          <p:cNvSpPr txBox="1"/>
          <p:nvPr/>
        </p:nvSpPr>
        <p:spPr>
          <a:xfrm>
            <a:off x="3063240"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h</a:t>
            </a:r>
            <a:endParaRPr lang="en-US" sz="1700" dirty="0"/>
          </a:p>
        </p:txBody>
      </p:sp>
      <p:sp>
        <p:nvSpPr>
          <p:cNvPr id="86" name="tile-83"/>
          <p:cNvSpPr/>
          <p:nvPr/>
        </p:nvSpPr>
        <p:spPr>
          <a:xfrm>
            <a:off x="3474720" y="3291840"/>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87" name="txt-84"/>
          <p:cNvSpPr txBox="1"/>
          <p:nvPr/>
        </p:nvSpPr>
        <p:spPr>
          <a:xfrm>
            <a:off x="3474720"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i</a:t>
            </a:r>
            <a:endParaRPr lang="en-US" sz="1700" dirty="0"/>
          </a:p>
        </p:txBody>
      </p:sp>
      <p:sp>
        <p:nvSpPr>
          <p:cNvPr id="88" name="tile-85"/>
          <p:cNvSpPr/>
          <p:nvPr/>
        </p:nvSpPr>
        <p:spPr>
          <a:xfrm>
            <a:off x="3886200" y="3291840"/>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89" name="txt-86"/>
          <p:cNvSpPr txBox="1"/>
          <p:nvPr/>
        </p:nvSpPr>
        <p:spPr>
          <a:xfrm>
            <a:off x="3886200"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j</a:t>
            </a:r>
            <a:endParaRPr lang="en-US" sz="1700" dirty="0"/>
          </a:p>
        </p:txBody>
      </p:sp>
      <p:sp>
        <p:nvSpPr>
          <p:cNvPr id="90" name="tile-87"/>
          <p:cNvSpPr/>
          <p:nvPr/>
        </p:nvSpPr>
        <p:spPr>
          <a:xfrm>
            <a:off x="4498848" y="3291840"/>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91" name="txt-88"/>
          <p:cNvSpPr txBox="1"/>
          <p:nvPr/>
        </p:nvSpPr>
        <p:spPr>
          <a:xfrm>
            <a:off x="4498848"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p:txBody>
      </p:sp>
      <p:sp>
        <p:nvSpPr>
          <p:cNvPr id="92" name="tile-89"/>
          <p:cNvSpPr/>
          <p:nvPr/>
        </p:nvSpPr>
        <p:spPr>
          <a:xfrm>
            <a:off x="4910328" y="3291840"/>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93" name="txt-90"/>
          <p:cNvSpPr txBox="1"/>
          <p:nvPr/>
        </p:nvSpPr>
        <p:spPr>
          <a:xfrm>
            <a:off x="4910328"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b</a:t>
            </a:r>
            <a:endParaRPr lang="en-US" sz="1700" dirty="0"/>
          </a:p>
        </p:txBody>
      </p:sp>
      <p:sp>
        <p:nvSpPr>
          <p:cNvPr id="94" name="tile-91"/>
          <p:cNvSpPr/>
          <p:nvPr/>
        </p:nvSpPr>
        <p:spPr>
          <a:xfrm>
            <a:off x="5321808" y="3291840"/>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95" name="txt-92"/>
          <p:cNvSpPr txBox="1"/>
          <p:nvPr/>
        </p:nvSpPr>
        <p:spPr>
          <a:xfrm>
            <a:off x="5321808"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c</a:t>
            </a:r>
            <a:endParaRPr lang="en-US" sz="1700" dirty="0"/>
          </a:p>
        </p:txBody>
      </p:sp>
      <p:sp>
        <p:nvSpPr>
          <p:cNvPr id="96" name="tile-93"/>
          <p:cNvSpPr/>
          <p:nvPr/>
        </p:nvSpPr>
        <p:spPr>
          <a:xfrm>
            <a:off x="5733288" y="3291840"/>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97" name="txt-94"/>
          <p:cNvSpPr txBox="1"/>
          <p:nvPr/>
        </p:nvSpPr>
        <p:spPr>
          <a:xfrm>
            <a:off x="5733288"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d</a:t>
            </a:r>
            <a:endParaRPr lang="en-US" sz="1700" dirty="0"/>
          </a:p>
        </p:txBody>
      </p:sp>
      <p:sp>
        <p:nvSpPr>
          <p:cNvPr id="98" name="tile-95"/>
          <p:cNvSpPr/>
          <p:nvPr/>
        </p:nvSpPr>
        <p:spPr>
          <a:xfrm>
            <a:off x="6144768" y="3291840"/>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99" name="txt-96"/>
          <p:cNvSpPr txBox="1"/>
          <p:nvPr/>
        </p:nvSpPr>
        <p:spPr>
          <a:xfrm>
            <a:off x="6144768" y="3291840"/>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e</a:t>
            </a:r>
            <a:endParaRPr lang="en-US" sz="1700" dirty="0"/>
          </a:p>
        </p:txBody>
      </p:sp>
      <p:sp>
        <p:nvSpPr>
          <p:cNvPr id="100" name="txt-97"/>
          <p:cNvSpPr txBox="1"/>
          <p:nvPr/>
        </p:nvSpPr>
        <p:spPr>
          <a:xfrm>
            <a:off x="4283964" y="3291840"/>
            <a:ext cx="18288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101" name="txt-98"/>
          <p:cNvSpPr txBox="1"/>
          <p:nvPr/>
        </p:nvSpPr>
        <p:spPr>
          <a:xfrm>
            <a:off x="6720840" y="3291840"/>
            <a:ext cx="2011680" cy="457200"/>
          </a:xfrm>
          <a:prstGeom prst="rect">
            <a:avLst/>
          </a:prstGeom>
          <a:noFill/>
          <a:ln/>
        </p:spPr>
        <p:txBody>
          <a:bodyPr wrap="square" lIns="0" tIns="0" rIns="0" bIns="0" rtlCol="0" anchor="ctr"/>
          <a:lstStyle/>
          <a:p>
            <a:pPr indent="0" marL="0">
              <a:buNone/>
            </a:pPr>
            <a:r>
              <a:rPr lang="en-US" sz="1400" dirty="0">
                <a:solidFill>
                  <a:schemeClr val="tx1"/>
                </a:solidFill>
              </a:rPr>
              <a:t>order inside each half</a:t>
            </a:r>
            <a:endParaRPr lang="en-US" sz="1400" dirty="0"/>
          </a:p>
        </p:txBody>
      </p:sp>
      <p:sp>
        <p:nvSpPr>
          <p:cNvPr id="102" name="txt-99"/>
          <p:cNvSpPr txBox="1"/>
          <p:nvPr/>
        </p:nvSpPr>
        <p:spPr>
          <a:xfrm>
            <a:off x="457200" y="3895344"/>
            <a:ext cx="1737360" cy="274320"/>
          </a:xfrm>
          <a:prstGeom prst="rect">
            <a:avLst/>
          </a:prstGeom>
          <a:noFill/>
          <a:ln/>
        </p:spPr>
        <p:txBody>
          <a:bodyPr wrap="square" lIns="0" tIns="0" rIns="0" bIns="0" rtlCol="0" anchor="ctr"/>
          <a:lstStyle/>
          <a:p>
            <a:pPr indent="0" marL="0">
              <a:buNone/>
            </a:pPr>
            <a:r>
              <a:rPr lang="en-US" sz="1500" b="1" dirty="0">
                <a:solidFill>
                  <a:schemeClr val="accent4"/>
                </a:solidFill>
              </a:rPr>
              <a:t>Masking</a:t>
            </a:r>
            <a:endParaRPr lang="en-US" sz="1500" dirty="0"/>
          </a:p>
        </p:txBody>
      </p:sp>
      <p:sp>
        <p:nvSpPr>
          <p:cNvPr id="103" name="txt-100"/>
          <p:cNvSpPr txBox="1"/>
          <p:nvPr/>
        </p:nvSpPr>
        <p:spPr>
          <a:xfrm>
            <a:off x="457200" y="4151376"/>
            <a:ext cx="1737360" cy="201168"/>
          </a:xfrm>
          <a:prstGeom prst="rect">
            <a:avLst/>
          </a:prstGeom>
          <a:noFill/>
          <a:ln/>
        </p:spPr>
        <p:txBody>
          <a:bodyPr wrap="square" lIns="0" tIns="0" rIns="0" bIns="0" rtlCol="0" anchor="ctr"/>
          <a:lstStyle/>
          <a:p>
            <a:pPr indent="0" marL="0">
              <a:buNone/>
            </a:pPr>
            <a:r>
              <a:rPr lang="en-US" sz="1100" dirty="0">
                <a:solidFill>
                  <a:schemeClr val="tx2"/>
                </a:solidFill>
              </a:rPr>
              <a:t>mask</a:t>
            </a:r>
            <a:endParaRPr lang="en-US" sz="1100" dirty="0"/>
          </a:p>
        </p:txBody>
      </p:sp>
      <p:sp>
        <p:nvSpPr>
          <p:cNvPr id="104" name="tile-101"/>
          <p:cNvSpPr/>
          <p:nvPr/>
        </p:nvSpPr>
        <p:spPr>
          <a:xfrm>
            <a:off x="2240280" y="3895344"/>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05" name="txt-102"/>
          <p:cNvSpPr txBox="1"/>
          <p:nvPr/>
        </p:nvSpPr>
        <p:spPr>
          <a:xfrm>
            <a:off x="2240280"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a</a:t>
            </a:r>
            <a:endParaRPr lang="en-US" sz="1700" dirty="0"/>
          </a:p>
        </p:txBody>
      </p:sp>
      <p:sp>
        <p:nvSpPr>
          <p:cNvPr id="106" name="tile-103"/>
          <p:cNvSpPr/>
          <p:nvPr/>
        </p:nvSpPr>
        <p:spPr>
          <a:xfrm>
            <a:off x="2651760" y="3895344"/>
            <a:ext cx="365760" cy="457200"/>
          </a:xfrm>
          <a:prstGeom prst="roundRect">
            <a:avLst>
              <a:gd name="adj" fmla="val 15000"/>
            </a:avLst>
          </a:prstGeom>
          <a:solidFill>
            <a:schemeClr val="accent4">
              <a:alpha val="22000"/>
            </a:schemeClr>
          </a:solidFill>
          <a:ln w="12700">
            <a:solidFill>
              <a:schemeClr val="accent4"/>
            </a:solidFill>
            <a:prstDash val="dash"/>
          </a:ln>
        </p:spPr>
      </p:sp>
      <p:sp>
        <p:nvSpPr>
          <p:cNvPr id="107" name="txt-104"/>
          <p:cNvSpPr txBox="1"/>
          <p:nvPr/>
        </p:nvSpPr>
        <p:spPr>
          <a:xfrm>
            <a:off x="2651760"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m</a:t>
            </a:r>
            <a:endParaRPr lang="en-US" sz="1700" dirty="0"/>
          </a:p>
        </p:txBody>
      </p:sp>
      <p:sp>
        <p:nvSpPr>
          <p:cNvPr id="108" name="tile-105"/>
          <p:cNvSpPr/>
          <p:nvPr/>
        </p:nvSpPr>
        <p:spPr>
          <a:xfrm>
            <a:off x="3063240" y="3895344"/>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09" name="txt-106"/>
          <p:cNvSpPr txBox="1"/>
          <p:nvPr/>
        </p:nvSpPr>
        <p:spPr>
          <a:xfrm>
            <a:off x="3063240"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c</a:t>
            </a:r>
            <a:endParaRPr lang="en-US" sz="1700" dirty="0"/>
          </a:p>
        </p:txBody>
      </p:sp>
      <p:sp>
        <p:nvSpPr>
          <p:cNvPr id="110" name="tile-107"/>
          <p:cNvSpPr/>
          <p:nvPr/>
        </p:nvSpPr>
        <p:spPr>
          <a:xfrm>
            <a:off x="3474720" y="3895344"/>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11" name="txt-108"/>
          <p:cNvSpPr txBox="1"/>
          <p:nvPr/>
        </p:nvSpPr>
        <p:spPr>
          <a:xfrm>
            <a:off x="3474720"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d</a:t>
            </a:r>
            <a:endParaRPr lang="en-US" sz="1700" dirty="0"/>
          </a:p>
        </p:txBody>
      </p:sp>
      <p:sp>
        <p:nvSpPr>
          <p:cNvPr id="112" name="tile-109"/>
          <p:cNvSpPr/>
          <p:nvPr/>
        </p:nvSpPr>
        <p:spPr>
          <a:xfrm>
            <a:off x="3886200" y="3895344"/>
            <a:ext cx="365760" cy="457200"/>
          </a:xfrm>
          <a:prstGeom prst="roundRect">
            <a:avLst>
              <a:gd name="adj" fmla="val 15000"/>
            </a:avLst>
          </a:prstGeom>
          <a:solidFill>
            <a:schemeClr val="accent2">
              <a:alpha val="24000"/>
            </a:schemeClr>
          </a:solidFill>
          <a:ln w="9525">
            <a:solidFill>
              <a:schemeClr val="accent2"/>
            </a:solidFill>
            <a:prstDash val="solid"/>
          </a:ln>
        </p:spPr>
      </p:sp>
      <p:sp>
        <p:nvSpPr>
          <p:cNvPr id="113" name="txt-110"/>
          <p:cNvSpPr txBox="1"/>
          <p:nvPr/>
        </p:nvSpPr>
        <p:spPr>
          <a:xfrm>
            <a:off x="3886200"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e</a:t>
            </a:r>
            <a:endParaRPr lang="en-US" sz="1700" dirty="0"/>
          </a:p>
        </p:txBody>
      </p:sp>
      <p:sp>
        <p:nvSpPr>
          <p:cNvPr id="114" name="tile-111"/>
          <p:cNvSpPr/>
          <p:nvPr/>
        </p:nvSpPr>
        <p:spPr>
          <a:xfrm>
            <a:off x="4498848" y="3895344"/>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115" name="txt-112"/>
          <p:cNvSpPr txBox="1"/>
          <p:nvPr/>
        </p:nvSpPr>
        <p:spPr>
          <a:xfrm>
            <a:off x="4498848"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f</a:t>
            </a:r>
            <a:endParaRPr lang="en-US" sz="1700" dirty="0"/>
          </a:p>
        </p:txBody>
      </p:sp>
      <p:sp>
        <p:nvSpPr>
          <p:cNvPr id="116" name="tile-113"/>
          <p:cNvSpPr/>
          <p:nvPr/>
        </p:nvSpPr>
        <p:spPr>
          <a:xfrm>
            <a:off x="4910328" y="3895344"/>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117" name="txt-114"/>
          <p:cNvSpPr txBox="1"/>
          <p:nvPr/>
        </p:nvSpPr>
        <p:spPr>
          <a:xfrm>
            <a:off x="4910328"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g</a:t>
            </a:r>
            <a:endParaRPr lang="en-US" sz="1700" dirty="0"/>
          </a:p>
        </p:txBody>
      </p:sp>
      <p:sp>
        <p:nvSpPr>
          <p:cNvPr id="118" name="tile-115"/>
          <p:cNvSpPr/>
          <p:nvPr/>
        </p:nvSpPr>
        <p:spPr>
          <a:xfrm>
            <a:off x="5321808" y="3895344"/>
            <a:ext cx="365760" cy="457200"/>
          </a:xfrm>
          <a:prstGeom prst="roundRect">
            <a:avLst>
              <a:gd name="adj" fmla="val 15000"/>
            </a:avLst>
          </a:prstGeom>
          <a:solidFill>
            <a:schemeClr val="accent4">
              <a:alpha val="22000"/>
            </a:schemeClr>
          </a:solidFill>
          <a:ln w="12700">
            <a:solidFill>
              <a:schemeClr val="accent4"/>
            </a:solidFill>
            <a:prstDash val="dash"/>
          </a:ln>
        </p:spPr>
      </p:sp>
      <p:sp>
        <p:nvSpPr>
          <p:cNvPr id="119" name="txt-116"/>
          <p:cNvSpPr txBox="1"/>
          <p:nvPr/>
        </p:nvSpPr>
        <p:spPr>
          <a:xfrm>
            <a:off x="5321808"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m</a:t>
            </a:r>
            <a:endParaRPr lang="en-US" sz="1700" dirty="0"/>
          </a:p>
        </p:txBody>
      </p:sp>
      <p:sp>
        <p:nvSpPr>
          <p:cNvPr id="120" name="tile-117"/>
          <p:cNvSpPr/>
          <p:nvPr/>
        </p:nvSpPr>
        <p:spPr>
          <a:xfrm>
            <a:off x="5733288" y="3895344"/>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121" name="txt-118"/>
          <p:cNvSpPr txBox="1"/>
          <p:nvPr/>
        </p:nvSpPr>
        <p:spPr>
          <a:xfrm>
            <a:off x="5733288"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i</a:t>
            </a:r>
            <a:endParaRPr lang="en-US" sz="1700" dirty="0"/>
          </a:p>
        </p:txBody>
      </p:sp>
      <p:sp>
        <p:nvSpPr>
          <p:cNvPr id="122" name="tile-119"/>
          <p:cNvSpPr/>
          <p:nvPr/>
        </p:nvSpPr>
        <p:spPr>
          <a:xfrm>
            <a:off x="6144768" y="3895344"/>
            <a:ext cx="365760" cy="457200"/>
          </a:xfrm>
          <a:prstGeom prst="roundRect">
            <a:avLst>
              <a:gd name="adj" fmla="val 15000"/>
            </a:avLst>
          </a:prstGeom>
          <a:solidFill>
            <a:schemeClr val="accent3">
              <a:alpha val="24000"/>
            </a:schemeClr>
          </a:solidFill>
          <a:ln w="9525">
            <a:solidFill>
              <a:schemeClr val="accent3"/>
            </a:solidFill>
            <a:prstDash val="solid"/>
          </a:ln>
        </p:spPr>
      </p:sp>
      <p:sp>
        <p:nvSpPr>
          <p:cNvPr id="123" name="txt-120"/>
          <p:cNvSpPr txBox="1"/>
          <p:nvPr/>
        </p:nvSpPr>
        <p:spPr>
          <a:xfrm>
            <a:off x="6144768" y="3895344"/>
            <a:ext cx="365760" cy="457200"/>
          </a:xfrm>
          <a:prstGeom prst="rect">
            <a:avLst/>
          </a:prstGeom>
          <a:noFill/>
          <a:ln/>
        </p:spPr>
        <p:txBody>
          <a:bodyPr wrap="square" lIns="0" tIns="0" rIns="0" bIns="0" rtlCol="0" anchor="ctr"/>
          <a:lstStyle/>
          <a:p>
            <a:pPr algn="ctr" indent="0" marL="0">
              <a:buNone/>
            </a:pPr>
            <a:r>
              <a:rPr lang="en-US" sz="1700" b="1" dirty="0">
                <a:solidFill>
                  <a:schemeClr val="tx1"/>
                </a:solidFill>
              </a:rPr>
              <a:t>j</a:t>
            </a:r>
            <a:endParaRPr lang="en-US" sz="1700" dirty="0"/>
          </a:p>
        </p:txBody>
      </p:sp>
      <p:sp>
        <p:nvSpPr>
          <p:cNvPr id="124" name="txt-121"/>
          <p:cNvSpPr txBox="1"/>
          <p:nvPr/>
        </p:nvSpPr>
        <p:spPr>
          <a:xfrm>
            <a:off x="4283964" y="3895344"/>
            <a:ext cx="182880" cy="457200"/>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sp>
        <p:nvSpPr>
          <p:cNvPr id="125" name="txt-122"/>
          <p:cNvSpPr txBox="1"/>
          <p:nvPr/>
        </p:nvSpPr>
        <p:spPr>
          <a:xfrm>
            <a:off x="6720840" y="3895344"/>
            <a:ext cx="2011680" cy="457200"/>
          </a:xfrm>
          <a:prstGeom prst="rect">
            <a:avLst/>
          </a:prstGeom>
          <a:noFill/>
          <a:ln/>
        </p:spPr>
        <p:txBody>
          <a:bodyPr wrap="square" lIns="0" tIns="0" rIns="0" bIns="0" rtlCol="0" anchor="ctr"/>
          <a:lstStyle/>
          <a:p>
            <a:pPr indent="0" marL="0">
              <a:buNone/>
            </a:pPr>
            <a:r>
              <a:rPr lang="en-US" sz="1400" dirty="0">
                <a:solidFill>
                  <a:schemeClr val="tx1"/>
                </a:solidFill>
              </a:rPr>
              <a:t>order; 80% of values</a:t>
            </a:r>
            <a:endParaRPr lang="en-US" sz="1400" dirty="0"/>
          </a:p>
        </p:txBody>
      </p:sp>
      <p:sp>
        <p:nvSpPr>
          <p:cNvPr id="126" name="txt-123"/>
          <p:cNvSpPr txBox="1"/>
          <p:nvPr/>
        </p:nvSpPr>
        <p:spPr>
          <a:xfrm>
            <a:off x="457200" y="4498848"/>
            <a:ext cx="8229600" cy="228600"/>
          </a:xfrm>
          <a:prstGeom prst="rect">
            <a:avLst/>
          </a:prstGeom>
          <a:noFill/>
          <a:ln/>
        </p:spPr>
        <p:txBody>
          <a:bodyPr wrap="square" lIns="0" tIns="0" rIns="0" bIns="0" rtlCol="0" anchor="ctr"/>
          <a:lstStyle/>
          <a:p>
            <a:pPr indent="0" marL="0">
              <a:buNone/>
            </a:pPr>
            <a:r>
              <a:rPr lang="en-US" sz="1100" dirty="0">
                <a:solidFill>
                  <a:schemeClr val="tx2"/>
                </a:solidFill>
              </a:rPr>
              <a:t>“/” marks the middle; m = masked point, fed to the model as 0 (the series mean after normalisation); runs mask ⌊L/5⌋ points.</a:t>
            </a:r>
            <a:endParaRPr lang="en-US" sz="1100" dirty="0"/>
          </a:p>
        </p:txBody>
      </p:sp>
      <p:sp>
        <p:nvSpPr>
          <p:cNvPr id="25" name="Slide Number Placeholder 0"/>
          <p:cNvSpPr>
            <a:spLocks noGrp="1"/>
          </p:cNvSpPr>
          <p:nvPr>
            <p:ph type="sldNum" sz="quarter" idx="4294967295"/>
          </p:nvPr>
        </p:nvSpPr>
        <p:spPr>
          <a:xfrm>
            <a:off x="832104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566928"/>
          </a:xfrm>
          <a:prstGeom prst="rect">
            <a:avLst/>
          </a:prstGeom>
          <a:noFill/>
          <a:ln/>
        </p:spPr>
        <p:txBody>
          <a:bodyPr wrap="square" lIns="0" tIns="0" rIns="0" bIns="0" rtlCol="0" anchor="b"/>
          <a:lstStyle/>
          <a:p>
            <a:pPr algn="l" indent="0" marL="0">
              <a:buNone/>
            </a:pPr>
            <a:r>
              <a:rPr lang="en-US" sz="3400" b="1" dirty="0">
                <a:solidFill>
                  <a:schemeClr val="tx1"/>
                </a:solidFill>
                <a:latin typeface="Cambria" pitchFamily="34" charset="0"/>
                <a:ea typeface="Cambria" pitchFamily="34" charset="-122"/>
                <a:cs typeface="Cambria" pitchFamily="34" charset="-120"/>
              </a:rPr>
              <a:t>Real case: a TRUCE series</a:t>
            </a:r>
            <a:endParaRPr lang="en-US" sz="34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Test series pilot13/434 as CLaSP received it in run 42 · description: “Rises a bit at the middle.”</a:t>
            </a:r>
            <a:endParaRPr lang="en-US" sz="1500" dirty="0"/>
          </a:p>
        </p:txBody>
      </p:sp>
      <p:sp>
        <p:nvSpPr>
          <p:cNvPr id="4" name="txt-124"/>
          <p:cNvSpPr txBox="1"/>
          <p:nvPr/>
        </p:nvSpPr>
        <p:spPr>
          <a:xfrm>
            <a:off x="457200" y="1298448"/>
            <a:ext cx="1280160" cy="201168"/>
          </a:xfrm>
          <a:prstGeom prst="rect">
            <a:avLst/>
          </a:prstGeom>
          <a:noFill/>
          <a:ln/>
        </p:spPr>
        <p:txBody>
          <a:bodyPr wrap="square" lIns="0" tIns="0" rIns="0" bIns="0" rtlCol="0" anchor="ctr"/>
          <a:lstStyle/>
          <a:p>
            <a:pPr indent="0" marL="0">
              <a:buNone/>
            </a:pPr>
            <a:r>
              <a:rPr lang="en-US" sz="1100" b="1" spc="100" kern="0" dirty="0">
                <a:solidFill>
                  <a:schemeClr val="tx2"/>
                </a:solidFill>
              </a:rPr>
              <a:t>CONDITION</a:t>
            </a:r>
            <a:endParaRPr lang="en-US" sz="1100" dirty="0"/>
          </a:p>
        </p:txBody>
      </p:sp>
      <p:sp>
        <p:nvSpPr>
          <p:cNvPr id="5" name="txt-125"/>
          <p:cNvSpPr txBox="1"/>
          <p:nvPr/>
        </p:nvSpPr>
        <p:spPr>
          <a:xfrm>
            <a:off x="1828800" y="1298448"/>
            <a:ext cx="4297680" cy="201168"/>
          </a:xfrm>
          <a:prstGeom prst="rect">
            <a:avLst/>
          </a:prstGeom>
          <a:noFill/>
          <a:ln/>
        </p:spPr>
        <p:txBody>
          <a:bodyPr wrap="square" lIns="0" tIns="0" rIns="0" bIns="0" rtlCol="0" anchor="ctr"/>
          <a:lstStyle/>
          <a:p>
            <a:pPr indent="0" marL="0">
              <a:buNone/>
            </a:pPr>
            <a:r>
              <a:rPr lang="en-US" sz="1100" b="1" spc="100" kern="0" dirty="0">
                <a:solidFill>
                  <a:schemeClr val="tx2"/>
                </a:solidFill>
              </a:rPr>
              <a:t>12 TIME STEPS (LETTER = ORIGINAL POSITION)</a:t>
            </a:r>
            <a:endParaRPr lang="en-US" sz="1100" dirty="0"/>
          </a:p>
        </p:txBody>
      </p:sp>
      <p:sp>
        <p:nvSpPr>
          <p:cNvPr id="6" name="txt-126"/>
          <p:cNvSpPr txBox="1"/>
          <p:nvPr/>
        </p:nvSpPr>
        <p:spPr>
          <a:xfrm>
            <a:off x="6263640" y="1298448"/>
            <a:ext cx="1417320" cy="201168"/>
          </a:xfrm>
          <a:prstGeom prst="rect">
            <a:avLst/>
          </a:prstGeom>
          <a:noFill/>
          <a:ln/>
        </p:spPr>
        <p:txBody>
          <a:bodyPr wrap="square" lIns="0" tIns="0" rIns="0" bIns="0" rtlCol="0" anchor="ctr"/>
          <a:lstStyle/>
          <a:p>
            <a:pPr indent="0" marL="0">
              <a:buNone/>
            </a:pPr>
            <a:r>
              <a:rPr lang="en-US" sz="1100" b="1" spc="100" kern="0" dirty="0">
                <a:solidFill>
                  <a:schemeClr val="tx2"/>
                </a:solidFill>
              </a:rPr>
              <a:t>SHAPE</a:t>
            </a:r>
            <a:endParaRPr lang="en-US" sz="1100" dirty="0"/>
          </a:p>
        </p:txBody>
      </p:sp>
      <p:sp>
        <p:nvSpPr>
          <p:cNvPr id="7" name="txt-127"/>
          <p:cNvSpPr txBox="1"/>
          <p:nvPr/>
        </p:nvSpPr>
        <p:spPr>
          <a:xfrm>
            <a:off x="7863840" y="1298448"/>
            <a:ext cx="868680" cy="201168"/>
          </a:xfrm>
          <a:prstGeom prst="rect">
            <a:avLst/>
          </a:prstGeom>
          <a:noFill/>
          <a:ln/>
        </p:spPr>
        <p:txBody>
          <a:bodyPr wrap="square" lIns="0" tIns="0" rIns="0" bIns="0" rtlCol="0" anchor="ctr"/>
          <a:lstStyle/>
          <a:p>
            <a:pPr indent="0" marL="0">
              <a:buNone/>
            </a:pPr>
            <a:r>
              <a:rPr lang="en-US" sz="1100" b="1" spc="100" kern="0" dirty="0">
                <a:solidFill>
                  <a:schemeClr val="tx2"/>
                </a:solidFill>
              </a:rPr>
              <a:t>RANK / 386</a:t>
            </a:r>
            <a:endParaRPr lang="en-US" sz="1100" dirty="0"/>
          </a:p>
        </p:txBody>
      </p:sp>
      <p:sp>
        <p:nvSpPr>
          <p:cNvPr id="8" name="txt-128"/>
          <p:cNvSpPr txBox="1"/>
          <p:nvPr/>
        </p:nvSpPr>
        <p:spPr>
          <a:xfrm>
            <a:off x="457200" y="1572768"/>
            <a:ext cx="1325880" cy="256032"/>
          </a:xfrm>
          <a:prstGeom prst="rect">
            <a:avLst/>
          </a:prstGeom>
          <a:noFill/>
          <a:ln/>
        </p:spPr>
        <p:txBody>
          <a:bodyPr wrap="square" lIns="0" tIns="0" rIns="0" bIns="0" rtlCol="0" anchor="ctr"/>
          <a:lstStyle/>
          <a:p>
            <a:pPr indent="0" marL="0">
              <a:buNone/>
            </a:pPr>
            <a:r>
              <a:rPr lang="en-US" sz="1300" b="1" dirty="0">
                <a:solidFill>
                  <a:schemeClr val="tx1"/>
                </a:solidFill>
              </a:rPr>
              <a:t>Original</a:t>
            </a:r>
            <a:endParaRPr lang="en-US" sz="1300" dirty="0"/>
          </a:p>
        </p:txBody>
      </p:sp>
      <p:sp>
        <p:nvSpPr>
          <p:cNvPr id="9" name="tile-129"/>
          <p:cNvSpPr/>
          <p:nvPr/>
        </p:nvSpPr>
        <p:spPr>
          <a:xfrm>
            <a:off x="1828800" y="1572768"/>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0" name="txt-130"/>
          <p:cNvSpPr txBox="1"/>
          <p:nvPr/>
        </p:nvSpPr>
        <p:spPr>
          <a:xfrm>
            <a:off x="1828800"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a</a:t>
            </a:r>
            <a:endParaRPr lang="en-US" sz="1100" dirty="0"/>
          </a:p>
        </p:txBody>
      </p:sp>
      <p:sp>
        <p:nvSpPr>
          <p:cNvPr id="11" name="txt-131"/>
          <p:cNvSpPr txBox="1"/>
          <p:nvPr/>
        </p:nvSpPr>
        <p:spPr>
          <a:xfrm>
            <a:off x="1828800"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2" name="tile-132"/>
          <p:cNvSpPr/>
          <p:nvPr/>
        </p:nvSpPr>
        <p:spPr>
          <a:xfrm>
            <a:off x="2176272" y="1572768"/>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3" name="txt-133"/>
          <p:cNvSpPr txBox="1"/>
          <p:nvPr/>
        </p:nvSpPr>
        <p:spPr>
          <a:xfrm>
            <a:off x="2176272"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b</a:t>
            </a:r>
            <a:endParaRPr lang="en-US" sz="1100" dirty="0"/>
          </a:p>
        </p:txBody>
      </p:sp>
      <p:sp>
        <p:nvSpPr>
          <p:cNvPr id="14" name="txt-134"/>
          <p:cNvSpPr txBox="1"/>
          <p:nvPr/>
        </p:nvSpPr>
        <p:spPr>
          <a:xfrm>
            <a:off x="2176272"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5" name="tile-135"/>
          <p:cNvSpPr/>
          <p:nvPr/>
        </p:nvSpPr>
        <p:spPr>
          <a:xfrm>
            <a:off x="2523744" y="1572768"/>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6" name="txt-136"/>
          <p:cNvSpPr txBox="1"/>
          <p:nvPr/>
        </p:nvSpPr>
        <p:spPr>
          <a:xfrm>
            <a:off x="2523744"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c</a:t>
            </a:r>
            <a:endParaRPr lang="en-US" sz="1100" dirty="0"/>
          </a:p>
        </p:txBody>
      </p:sp>
      <p:sp>
        <p:nvSpPr>
          <p:cNvPr id="17" name="txt-137"/>
          <p:cNvSpPr txBox="1"/>
          <p:nvPr/>
        </p:nvSpPr>
        <p:spPr>
          <a:xfrm>
            <a:off x="2523744"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8" name="tile-138"/>
          <p:cNvSpPr/>
          <p:nvPr/>
        </p:nvSpPr>
        <p:spPr>
          <a:xfrm>
            <a:off x="2871216" y="1572768"/>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9" name="txt-139"/>
          <p:cNvSpPr txBox="1"/>
          <p:nvPr/>
        </p:nvSpPr>
        <p:spPr>
          <a:xfrm>
            <a:off x="2871216"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d</a:t>
            </a:r>
            <a:endParaRPr lang="en-US" sz="1100" dirty="0"/>
          </a:p>
        </p:txBody>
      </p:sp>
      <p:sp>
        <p:nvSpPr>
          <p:cNvPr id="20" name="txt-140"/>
          <p:cNvSpPr txBox="1"/>
          <p:nvPr/>
        </p:nvSpPr>
        <p:spPr>
          <a:xfrm>
            <a:off x="2871216"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21" name="tile-141"/>
          <p:cNvSpPr/>
          <p:nvPr/>
        </p:nvSpPr>
        <p:spPr>
          <a:xfrm>
            <a:off x="3218688" y="1572768"/>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22" name="txt-142"/>
          <p:cNvSpPr txBox="1"/>
          <p:nvPr/>
        </p:nvSpPr>
        <p:spPr>
          <a:xfrm>
            <a:off x="3218688"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e</a:t>
            </a:r>
            <a:endParaRPr lang="en-US" sz="1100" dirty="0"/>
          </a:p>
        </p:txBody>
      </p:sp>
      <p:sp>
        <p:nvSpPr>
          <p:cNvPr id="23" name="txt-143"/>
          <p:cNvSpPr txBox="1"/>
          <p:nvPr/>
        </p:nvSpPr>
        <p:spPr>
          <a:xfrm>
            <a:off x="3218688"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24" name="tile-144"/>
          <p:cNvSpPr/>
          <p:nvPr/>
        </p:nvSpPr>
        <p:spPr>
          <a:xfrm>
            <a:off x="3566160" y="1572768"/>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25" name="txt-145"/>
          <p:cNvSpPr txBox="1"/>
          <p:nvPr/>
        </p:nvSpPr>
        <p:spPr>
          <a:xfrm>
            <a:off x="3566160"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f</a:t>
            </a:r>
            <a:endParaRPr lang="en-US" sz="1100" dirty="0"/>
          </a:p>
        </p:txBody>
      </p:sp>
      <p:sp>
        <p:nvSpPr>
          <p:cNvPr id="26" name="txt-146"/>
          <p:cNvSpPr txBox="1"/>
          <p:nvPr/>
        </p:nvSpPr>
        <p:spPr>
          <a:xfrm>
            <a:off x="3566160"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27" name="tile-147"/>
          <p:cNvSpPr/>
          <p:nvPr/>
        </p:nvSpPr>
        <p:spPr>
          <a:xfrm>
            <a:off x="4059936" y="1572768"/>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28" name="txt-148"/>
          <p:cNvSpPr txBox="1"/>
          <p:nvPr/>
        </p:nvSpPr>
        <p:spPr>
          <a:xfrm>
            <a:off x="4059936"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g</a:t>
            </a:r>
            <a:endParaRPr lang="en-US" sz="1100" dirty="0"/>
          </a:p>
        </p:txBody>
      </p:sp>
      <p:sp>
        <p:nvSpPr>
          <p:cNvPr id="29" name="txt-149"/>
          <p:cNvSpPr txBox="1"/>
          <p:nvPr/>
        </p:nvSpPr>
        <p:spPr>
          <a:xfrm>
            <a:off x="4059936"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20</a:t>
            </a:r>
            <a:endParaRPr lang="en-US" sz="1300" dirty="0"/>
          </a:p>
        </p:txBody>
      </p:sp>
      <p:sp>
        <p:nvSpPr>
          <p:cNvPr id="30" name="tile-150"/>
          <p:cNvSpPr/>
          <p:nvPr/>
        </p:nvSpPr>
        <p:spPr>
          <a:xfrm>
            <a:off x="4407408" y="1572768"/>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31" name="txt-151"/>
          <p:cNvSpPr txBox="1"/>
          <p:nvPr/>
        </p:nvSpPr>
        <p:spPr>
          <a:xfrm>
            <a:off x="4407408"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h</a:t>
            </a:r>
            <a:endParaRPr lang="en-US" sz="1100" dirty="0"/>
          </a:p>
        </p:txBody>
      </p:sp>
      <p:sp>
        <p:nvSpPr>
          <p:cNvPr id="32" name="txt-152"/>
          <p:cNvSpPr txBox="1"/>
          <p:nvPr/>
        </p:nvSpPr>
        <p:spPr>
          <a:xfrm>
            <a:off x="4407408"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34</a:t>
            </a:r>
            <a:endParaRPr lang="en-US" sz="1300" dirty="0"/>
          </a:p>
        </p:txBody>
      </p:sp>
      <p:sp>
        <p:nvSpPr>
          <p:cNvPr id="33" name="tile-153"/>
          <p:cNvSpPr/>
          <p:nvPr/>
        </p:nvSpPr>
        <p:spPr>
          <a:xfrm>
            <a:off x="4754880" y="1572768"/>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34" name="txt-154"/>
          <p:cNvSpPr txBox="1"/>
          <p:nvPr/>
        </p:nvSpPr>
        <p:spPr>
          <a:xfrm>
            <a:off x="4754880"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i</a:t>
            </a:r>
            <a:endParaRPr lang="en-US" sz="1100" dirty="0"/>
          </a:p>
        </p:txBody>
      </p:sp>
      <p:sp>
        <p:nvSpPr>
          <p:cNvPr id="35" name="txt-155"/>
          <p:cNvSpPr txBox="1"/>
          <p:nvPr/>
        </p:nvSpPr>
        <p:spPr>
          <a:xfrm>
            <a:off x="4754880"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36" name="tile-156"/>
          <p:cNvSpPr/>
          <p:nvPr/>
        </p:nvSpPr>
        <p:spPr>
          <a:xfrm>
            <a:off x="5102352" y="1572768"/>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37" name="txt-157"/>
          <p:cNvSpPr txBox="1"/>
          <p:nvPr/>
        </p:nvSpPr>
        <p:spPr>
          <a:xfrm>
            <a:off x="5102352"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j</a:t>
            </a:r>
            <a:endParaRPr lang="en-US" sz="1100" dirty="0"/>
          </a:p>
        </p:txBody>
      </p:sp>
      <p:sp>
        <p:nvSpPr>
          <p:cNvPr id="38" name="txt-158"/>
          <p:cNvSpPr txBox="1"/>
          <p:nvPr/>
        </p:nvSpPr>
        <p:spPr>
          <a:xfrm>
            <a:off x="5102352"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33</a:t>
            </a:r>
            <a:endParaRPr lang="en-US" sz="1300" dirty="0"/>
          </a:p>
        </p:txBody>
      </p:sp>
      <p:sp>
        <p:nvSpPr>
          <p:cNvPr id="39" name="tile-159"/>
          <p:cNvSpPr/>
          <p:nvPr/>
        </p:nvSpPr>
        <p:spPr>
          <a:xfrm>
            <a:off x="5449824" y="1572768"/>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40" name="txt-160"/>
          <p:cNvSpPr txBox="1"/>
          <p:nvPr/>
        </p:nvSpPr>
        <p:spPr>
          <a:xfrm>
            <a:off x="5449824"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k</a:t>
            </a:r>
            <a:endParaRPr lang="en-US" sz="1100" dirty="0"/>
          </a:p>
        </p:txBody>
      </p:sp>
      <p:sp>
        <p:nvSpPr>
          <p:cNvPr id="41" name="txt-161"/>
          <p:cNvSpPr txBox="1"/>
          <p:nvPr/>
        </p:nvSpPr>
        <p:spPr>
          <a:xfrm>
            <a:off x="5449824"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42" name="tile-162"/>
          <p:cNvSpPr/>
          <p:nvPr/>
        </p:nvSpPr>
        <p:spPr>
          <a:xfrm>
            <a:off x="5797296" y="1572768"/>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43" name="txt-163"/>
          <p:cNvSpPr txBox="1"/>
          <p:nvPr/>
        </p:nvSpPr>
        <p:spPr>
          <a:xfrm>
            <a:off x="5797296" y="1609344"/>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l</a:t>
            </a:r>
            <a:endParaRPr lang="en-US" sz="1100" dirty="0"/>
          </a:p>
        </p:txBody>
      </p:sp>
      <p:sp>
        <p:nvSpPr>
          <p:cNvPr id="44" name="txt-164"/>
          <p:cNvSpPr txBox="1"/>
          <p:nvPr/>
        </p:nvSpPr>
        <p:spPr>
          <a:xfrm>
            <a:off x="5797296" y="1787835"/>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32</a:t>
            </a:r>
            <a:endParaRPr lang="en-US" sz="1300" dirty="0"/>
          </a:p>
        </p:txBody>
      </p:sp>
      <p:sp>
        <p:nvSpPr>
          <p:cNvPr id="45" name="txt-165"/>
          <p:cNvSpPr txBox="1"/>
          <p:nvPr/>
        </p:nvSpPr>
        <p:spPr>
          <a:xfrm>
            <a:off x="3877056" y="1572768"/>
            <a:ext cx="182880" cy="512064"/>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graphicFrame>
        <p:nvGraphicFramePr>
          <p:cNvPr id="46" name="spark-166" descr=""/>
          <p:cNvGraphicFramePr/>
          <p:nvPr/>
        </p:nvGraphicFramePr>
        <p:xfrm>
          <a:off x="6263640" y="1536192"/>
          <a:ext cx="1417320" cy="566928"/>
        </p:xfrm>
        <a:graphic xmlns:a="http://schemas.openxmlformats.org/drawingml/2006/main">
          <a:graphicData uri="http://schemas.openxmlformats.org/drawingml/2006/chart">
            <c:chart xmlns:c="http://schemas.openxmlformats.org/drawingml/2006/chart" r:id="rId1"/>
          </a:graphicData>
        </a:graphic>
      </p:graphicFrame>
      <p:sp>
        <p:nvSpPr>
          <p:cNvPr id="47" name="txt-167"/>
          <p:cNvSpPr txBox="1"/>
          <p:nvPr/>
        </p:nvSpPr>
        <p:spPr>
          <a:xfrm>
            <a:off x="7863840" y="1572768"/>
            <a:ext cx="868680" cy="512064"/>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1</a:t>
            </a:r>
            <a:endParaRPr lang="en-US" sz="1800" dirty="0"/>
          </a:p>
        </p:txBody>
      </p:sp>
      <p:sp>
        <p:nvSpPr>
          <p:cNvPr id="48" name="txt-168"/>
          <p:cNvSpPr txBox="1"/>
          <p:nvPr/>
        </p:nvSpPr>
        <p:spPr>
          <a:xfrm>
            <a:off x="457200" y="2176272"/>
            <a:ext cx="1325880" cy="256032"/>
          </a:xfrm>
          <a:prstGeom prst="rect">
            <a:avLst/>
          </a:prstGeom>
          <a:noFill/>
          <a:ln/>
        </p:spPr>
        <p:txBody>
          <a:bodyPr wrap="square" lIns="0" tIns="0" rIns="0" bIns="0" rtlCol="0" anchor="ctr"/>
          <a:lstStyle/>
          <a:p>
            <a:pPr indent="0" marL="0">
              <a:buNone/>
            </a:pPr>
            <a:r>
              <a:rPr lang="en-US" sz="1300" b="1" dirty="0">
                <a:solidFill>
                  <a:schemeClr val="accent1"/>
                </a:solidFill>
              </a:rPr>
              <a:t>Full shuffle</a:t>
            </a:r>
            <a:endParaRPr lang="en-US" sz="1300" dirty="0"/>
          </a:p>
        </p:txBody>
      </p:sp>
      <p:sp>
        <p:nvSpPr>
          <p:cNvPr id="49" name="txt-169"/>
          <p:cNvSpPr txBox="1"/>
          <p:nvPr/>
        </p:nvSpPr>
        <p:spPr>
          <a:xfrm>
            <a:off x="457200" y="2423160"/>
            <a:ext cx="1325880" cy="201168"/>
          </a:xfrm>
          <a:prstGeom prst="rect">
            <a:avLst/>
          </a:prstGeom>
          <a:noFill/>
          <a:ln/>
        </p:spPr>
        <p:txBody>
          <a:bodyPr wrap="square" lIns="0" tIns="0" rIns="0" bIns="0" rtlCol="0" anchor="ctr"/>
          <a:lstStyle/>
          <a:p>
            <a:pPr indent="0" marL="0">
              <a:buNone/>
            </a:pPr>
            <a:r>
              <a:rPr lang="en-US" sz="1000" dirty="0">
                <a:solidFill>
                  <a:schemeClr val="tx2"/>
                </a:solidFill>
              </a:rPr>
              <a:t>sf-all</a:t>
            </a:r>
            <a:endParaRPr lang="en-US" sz="1000" dirty="0"/>
          </a:p>
        </p:txBody>
      </p:sp>
      <p:sp>
        <p:nvSpPr>
          <p:cNvPr id="50" name="tile-170"/>
          <p:cNvSpPr/>
          <p:nvPr/>
        </p:nvSpPr>
        <p:spPr>
          <a:xfrm>
            <a:off x="1828800" y="2176272"/>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51" name="txt-171"/>
          <p:cNvSpPr txBox="1"/>
          <p:nvPr/>
        </p:nvSpPr>
        <p:spPr>
          <a:xfrm>
            <a:off x="1828800"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e</a:t>
            </a:r>
            <a:endParaRPr lang="en-US" sz="1100" dirty="0"/>
          </a:p>
        </p:txBody>
      </p:sp>
      <p:sp>
        <p:nvSpPr>
          <p:cNvPr id="52" name="txt-172"/>
          <p:cNvSpPr txBox="1"/>
          <p:nvPr/>
        </p:nvSpPr>
        <p:spPr>
          <a:xfrm>
            <a:off x="1828800"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53" name="tile-173"/>
          <p:cNvSpPr/>
          <p:nvPr/>
        </p:nvSpPr>
        <p:spPr>
          <a:xfrm>
            <a:off x="2176272" y="2176272"/>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54" name="txt-174"/>
          <p:cNvSpPr txBox="1"/>
          <p:nvPr/>
        </p:nvSpPr>
        <p:spPr>
          <a:xfrm>
            <a:off x="2176272"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a</a:t>
            </a:r>
            <a:endParaRPr lang="en-US" sz="1100" dirty="0"/>
          </a:p>
        </p:txBody>
      </p:sp>
      <p:sp>
        <p:nvSpPr>
          <p:cNvPr id="55" name="txt-175"/>
          <p:cNvSpPr txBox="1"/>
          <p:nvPr/>
        </p:nvSpPr>
        <p:spPr>
          <a:xfrm>
            <a:off x="2176272"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56" name="tile-176"/>
          <p:cNvSpPr/>
          <p:nvPr/>
        </p:nvSpPr>
        <p:spPr>
          <a:xfrm>
            <a:off x="2523744" y="2176272"/>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57" name="txt-177"/>
          <p:cNvSpPr txBox="1"/>
          <p:nvPr/>
        </p:nvSpPr>
        <p:spPr>
          <a:xfrm>
            <a:off x="2523744"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g</a:t>
            </a:r>
            <a:endParaRPr lang="en-US" sz="1100" dirty="0"/>
          </a:p>
        </p:txBody>
      </p:sp>
      <p:sp>
        <p:nvSpPr>
          <p:cNvPr id="58" name="txt-178"/>
          <p:cNvSpPr txBox="1"/>
          <p:nvPr/>
        </p:nvSpPr>
        <p:spPr>
          <a:xfrm>
            <a:off x="2523744"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20</a:t>
            </a:r>
            <a:endParaRPr lang="en-US" sz="1300" dirty="0"/>
          </a:p>
        </p:txBody>
      </p:sp>
      <p:sp>
        <p:nvSpPr>
          <p:cNvPr id="59" name="tile-179"/>
          <p:cNvSpPr/>
          <p:nvPr/>
        </p:nvSpPr>
        <p:spPr>
          <a:xfrm>
            <a:off x="2871216" y="2176272"/>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60" name="txt-180"/>
          <p:cNvSpPr txBox="1"/>
          <p:nvPr/>
        </p:nvSpPr>
        <p:spPr>
          <a:xfrm>
            <a:off x="2871216"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j</a:t>
            </a:r>
            <a:endParaRPr lang="en-US" sz="1100" dirty="0"/>
          </a:p>
        </p:txBody>
      </p:sp>
      <p:sp>
        <p:nvSpPr>
          <p:cNvPr id="61" name="txt-181"/>
          <p:cNvSpPr txBox="1"/>
          <p:nvPr/>
        </p:nvSpPr>
        <p:spPr>
          <a:xfrm>
            <a:off x="2871216"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33</a:t>
            </a:r>
            <a:endParaRPr lang="en-US" sz="1300" dirty="0"/>
          </a:p>
        </p:txBody>
      </p:sp>
      <p:sp>
        <p:nvSpPr>
          <p:cNvPr id="62" name="tile-182"/>
          <p:cNvSpPr/>
          <p:nvPr/>
        </p:nvSpPr>
        <p:spPr>
          <a:xfrm>
            <a:off x="3218688" y="2176272"/>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63" name="txt-183"/>
          <p:cNvSpPr txBox="1"/>
          <p:nvPr/>
        </p:nvSpPr>
        <p:spPr>
          <a:xfrm>
            <a:off x="3218688"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d</a:t>
            </a:r>
            <a:endParaRPr lang="en-US" sz="1100" dirty="0"/>
          </a:p>
        </p:txBody>
      </p:sp>
      <p:sp>
        <p:nvSpPr>
          <p:cNvPr id="64" name="txt-184"/>
          <p:cNvSpPr txBox="1"/>
          <p:nvPr/>
        </p:nvSpPr>
        <p:spPr>
          <a:xfrm>
            <a:off x="3218688"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65" name="tile-185"/>
          <p:cNvSpPr/>
          <p:nvPr/>
        </p:nvSpPr>
        <p:spPr>
          <a:xfrm>
            <a:off x="3566160" y="2176272"/>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66" name="txt-186"/>
          <p:cNvSpPr txBox="1"/>
          <p:nvPr/>
        </p:nvSpPr>
        <p:spPr>
          <a:xfrm>
            <a:off x="3566160"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i</a:t>
            </a:r>
            <a:endParaRPr lang="en-US" sz="1100" dirty="0"/>
          </a:p>
        </p:txBody>
      </p:sp>
      <p:sp>
        <p:nvSpPr>
          <p:cNvPr id="67" name="txt-187"/>
          <p:cNvSpPr txBox="1"/>
          <p:nvPr/>
        </p:nvSpPr>
        <p:spPr>
          <a:xfrm>
            <a:off x="3566160"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68" name="tile-188"/>
          <p:cNvSpPr/>
          <p:nvPr/>
        </p:nvSpPr>
        <p:spPr>
          <a:xfrm>
            <a:off x="4059936" y="2176272"/>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69" name="txt-189"/>
          <p:cNvSpPr txBox="1"/>
          <p:nvPr/>
        </p:nvSpPr>
        <p:spPr>
          <a:xfrm>
            <a:off x="4059936"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l</a:t>
            </a:r>
            <a:endParaRPr lang="en-US" sz="1100" dirty="0"/>
          </a:p>
        </p:txBody>
      </p:sp>
      <p:sp>
        <p:nvSpPr>
          <p:cNvPr id="70" name="txt-190"/>
          <p:cNvSpPr txBox="1"/>
          <p:nvPr/>
        </p:nvSpPr>
        <p:spPr>
          <a:xfrm>
            <a:off x="4059936"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32</a:t>
            </a:r>
            <a:endParaRPr lang="en-US" sz="1300" dirty="0"/>
          </a:p>
        </p:txBody>
      </p:sp>
      <p:sp>
        <p:nvSpPr>
          <p:cNvPr id="71" name="tile-191"/>
          <p:cNvSpPr/>
          <p:nvPr/>
        </p:nvSpPr>
        <p:spPr>
          <a:xfrm>
            <a:off x="4407408" y="2176272"/>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72" name="txt-192"/>
          <p:cNvSpPr txBox="1"/>
          <p:nvPr/>
        </p:nvSpPr>
        <p:spPr>
          <a:xfrm>
            <a:off x="4407408"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h</a:t>
            </a:r>
            <a:endParaRPr lang="en-US" sz="1100" dirty="0"/>
          </a:p>
        </p:txBody>
      </p:sp>
      <p:sp>
        <p:nvSpPr>
          <p:cNvPr id="73" name="txt-193"/>
          <p:cNvSpPr txBox="1"/>
          <p:nvPr/>
        </p:nvSpPr>
        <p:spPr>
          <a:xfrm>
            <a:off x="4407408"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34</a:t>
            </a:r>
            <a:endParaRPr lang="en-US" sz="1300" dirty="0"/>
          </a:p>
        </p:txBody>
      </p:sp>
      <p:sp>
        <p:nvSpPr>
          <p:cNvPr id="74" name="tile-194"/>
          <p:cNvSpPr/>
          <p:nvPr/>
        </p:nvSpPr>
        <p:spPr>
          <a:xfrm>
            <a:off x="4754880" y="2176272"/>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75" name="txt-195"/>
          <p:cNvSpPr txBox="1"/>
          <p:nvPr/>
        </p:nvSpPr>
        <p:spPr>
          <a:xfrm>
            <a:off x="4754880"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k</a:t>
            </a:r>
            <a:endParaRPr lang="en-US" sz="1100" dirty="0"/>
          </a:p>
        </p:txBody>
      </p:sp>
      <p:sp>
        <p:nvSpPr>
          <p:cNvPr id="76" name="txt-196"/>
          <p:cNvSpPr txBox="1"/>
          <p:nvPr/>
        </p:nvSpPr>
        <p:spPr>
          <a:xfrm>
            <a:off x="4754880"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77" name="tile-197"/>
          <p:cNvSpPr/>
          <p:nvPr/>
        </p:nvSpPr>
        <p:spPr>
          <a:xfrm>
            <a:off x="5102352" y="2176272"/>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78" name="txt-198"/>
          <p:cNvSpPr txBox="1"/>
          <p:nvPr/>
        </p:nvSpPr>
        <p:spPr>
          <a:xfrm>
            <a:off x="5102352"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b</a:t>
            </a:r>
            <a:endParaRPr lang="en-US" sz="1100" dirty="0"/>
          </a:p>
        </p:txBody>
      </p:sp>
      <p:sp>
        <p:nvSpPr>
          <p:cNvPr id="79" name="txt-199"/>
          <p:cNvSpPr txBox="1"/>
          <p:nvPr/>
        </p:nvSpPr>
        <p:spPr>
          <a:xfrm>
            <a:off x="5102352"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80" name="tile-200"/>
          <p:cNvSpPr/>
          <p:nvPr/>
        </p:nvSpPr>
        <p:spPr>
          <a:xfrm>
            <a:off x="5449824" y="2176272"/>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81" name="txt-201"/>
          <p:cNvSpPr txBox="1"/>
          <p:nvPr/>
        </p:nvSpPr>
        <p:spPr>
          <a:xfrm>
            <a:off x="5449824"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c</a:t>
            </a:r>
            <a:endParaRPr lang="en-US" sz="1100" dirty="0"/>
          </a:p>
        </p:txBody>
      </p:sp>
      <p:sp>
        <p:nvSpPr>
          <p:cNvPr id="82" name="txt-202"/>
          <p:cNvSpPr txBox="1"/>
          <p:nvPr/>
        </p:nvSpPr>
        <p:spPr>
          <a:xfrm>
            <a:off x="5449824"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83" name="tile-203"/>
          <p:cNvSpPr/>
          <p:nvPr/>
        </p:nvSpPr>
        <p:spPr>
          <a:xfrm>
            <a:off x="5797296" y="2176272"/>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84" name="txt-204"/>
          <p:cNvSpPr txBox="1"/>
          <p:nvPr/>
        </p:nvSpPr>
        <p:spPr>
          <a:xfrm>
            <a:off x="5797296" y="2212848"/>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f</a:t>
            </a:r>
            <a:endParaRPr lang="en-US" sz="1100" dirty="0"/>
          </a:p>
        </p:txBody>
      </p:sp>
      <p:sp>
        <p:nvSpPr>
          <p:cNvPr id="85" name="txt-205"/>
          <p:cNvSpPr txBox="1"/>
          <p:nvPr/>
        </p:nvSpPr>
        <p:spPr>
          <a:xfrm>
            <a:off x="5797296" y="2391339"/>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86" name="txt-206"/>
          <p:cNvSpPr txBox="1"/>
          <p:nvPr/>
        </p:nvSpPr>
        <p:spPr>
          <a:xfrm>
            <a:off x="3877056" y="2176272"/>
            <a:ext cx="182880" cy="512064"/>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graphicFrame>
        <p:nvGraphicFramePr>
          <p:cNvPr id="87" name="spark-207" descr=""/>
          <p:cNvGraphicFramePr/>
          <p:nvPr/>
        </p:nvGraphicFramePr>
        <p:xfrm>
          <a:off x="6263640" y="2139696"/>
          <a:ext cx="1417320" cy="566928"/>
        </p:xfrm>
        <a:graphic xmlns:a="http://schemas.openxmlformats.org/drawingml/2006/main">
          <a:graphicData uri="http://schemas.openxmlformats.org/drawingml/2006/chart">
            <c:chart xmlns:c="http://schemas.openxmlformats.org/drawingml/2006/chart" r:id="rId2"/>
          </a:graphicData>
        </a:graphic>
      </p:graphicFrame>
      <p:sp>
        <p:nvSpPr>
          <p:cNvPr id="88" name="txt-208"/>
          <p:cNvSpPr txBox="1"/>
          <p:nvPr/>
        </p:nvSpPr>
        <p:spPr>
          <a:xfrm>
            <a:off x="7863840" y="2176272"/>
            <a:ext cx="868680" cy="512064"/>
          </a:xfrm>
          <a:prstGeom prst="rect">
            <a:avLst/>
          </a:prstGeom>
          <a:noFill/>
          <a:ln/>
        </p:spPr>
        <p:txBody>
          <a:bodyPr wrap="square" lIns="0" tIns="0" rIns="0" bIns="0" rtlCol="0" anchor="ctr"/>
          <a:lstStyle/>
          <a:p>
            <a:pPr indent="0" marL="0">
              <a:buNone/>
            </a:pPr>
            <a:r>
              <a:rPr lang="en-US" sz="1800" b="1" dirty="0">
                <a:solidFill>
                  <a:schemeClr val="accent1"/>
                </a:solidFill>
                <a:latin typeface="Cambria" pitchFamily="34" charset="0"/>
                <a:ea typeface="Cambria" pitchFamily="34" charset="-122"/>
                <a:cs typeface="Cambria" pitchFamily="34" charset="-120"/>
              </a:rPr>
              <a:t>1 → 29</a:t>
            </a:r>
            <a:endParaRPr lang="en-US" sz="1800" dirty="0"/>
          </a:p>
        </p:txBody>
      </p:sp>
      <p:sp>
        <p:nvSpPr>
          <p:cNvPr id="89" name="txt-209"/>
          <p:cNvSpPr txBox="1"/>
          <p:nvPr/>
        </p:nvSpPr>
        <p:spPr>
          <a:xfrm>
            <a:off x="457200" y="2779776"/>
            <a:ext cx="1325880" cy="256032"/>
          </a:xfrm>
          <a:prstGeom prst="rect">
            <a:avLst/>
          </a:prstGeom>
          <a:noFill/>
          <a:ln/>
        </p:spPr>
        <p:txBody>
          <a:bodyPr wrap="square" lIns="0" tIns="0" rIns="0" bIns="0" rtlCol="0" anchor="ctr"/>
          <a:lstStyle/>
          <a:p>
            <a:pPr indent="0" marL="0">
              <a:buNone/>
            </a:pPr>
            <a:r>
              <a:rPr lang="en-US" sz="1300" b="1" dirty="0">
                <a:solidFill>
                  <a:schemeClr val="accent2"/>
                </a:solidFill>
              </a:rPr>
              <a:t>First-half shuffle</a:t>
            </a:r>
            <a:endParaRPr lang="en-US" sz="1300" dirty="0"/>
          </a:p>
        </p:txBody>
      </p:sp>
      <p:sp>
        <p:nvSpPr>
          <p:cNvPr id="90" name="txt-210"/>
          <p:cNvSpPr txBox="1"/>
          <p:nvPr/>
        </p:nvSpPr>
        <p:spPr>
          <a:xfrm>
            <a:off x="457200" y="3026664"/>
            <a:ext cx="1325880" cy="201168"/>
          </a:xfrm>
          <a:prstGeom prst="rect">
            <a:avLst/>
          </a:prstGeom>
          <a:noFill/>
          <a:ln/>
        </p:spPr>
        <p:txBody>
          <a:bodyPr wrap="square" lIns="0" tIns="0" rIns="0" bIns="0" rtlCol="0" anchor="ctr"/>
          <a:lstStyle/>
          <a:p>
            <a:pPr indent="0" marL="0">
              <a:buNone/>
            </a:pPr>
            <a:r>
              <a:rPr lang="en-US" sz="1000" dirty="0">
                <a:solidFill>
                  <a:schemeClr val="tx2"/>
                </a:solidFill>
              </a:rPr>
              <a:t>sf-half</a:t>
            </a:r>
            <a:endParaRPr lang="en-US" sz="1000" dirty="0"/>
          </a:p>
        </p:txBody>
      </p:sp>
      <p:sp>
        <p:nvSpPr>
          <p:cNvPr id="91" name="tile-211"/>
          <p:cNvSpPr/>
          <p:nvPr/>
        </p:nvSpPr>
        <p:spPr>
          <a:xfrm>
            <a:off x="1828800" y="2779776"/>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92" name="txt-212"/>
          <p:cNvSpPr txBox="1"/>
          <p:nvPr/>
        </p:nvSpPr>
        <p:spPr>
          <a:xfrm>
            <a:off x="1828800"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e</a:t>
            </a:r>
            <a:endParaRPr lang="en-US" sz="1100" dirty="0"/>
          </a:p>
        </p:txBody>
      </p:sp>
      <p:sp>
        <p:nvSpPr>
          <p:cNvPr id="93" name="txt-213"/>
          <p:cNvSpPr txBox="1"/>
          <p:nvPr/>
        </p:nvSpPr>
        <p:spPr>
          <a:xfrm>
            <a:off x="1828800"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94" name="tile-214"/>
          <p:cNvSpPr/>
          <p:nvPr/>
        </p:nvSpPr>
        <p:spPr>
          <a:xfrm>
            <a:off x="2176272" y="2779776"/>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95" name="txt-215"/>
          <p:cNvSpPr txBox="1"/>
          <p:nvPr/>
        </p:nvSpPr>
        <p:spPr>
          <a:xfrm>
            <a:off x="2176272"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b</a:t>
            </a:r>
            <a:endParaRPr lang="en-US" sz="1100" dirty="0"/>
          </a:p>
        </p:txBody>
      </p:sp>
      <p:sp>
        <p:nvSpPr>
          <p:cNvPr id="96" name="txt-216"/>
          <p:cNvSpPr txBox="1"/>
          <p:nvPr/>
        </p:nvSpPr>
        <p:spPr>
          <a:xfrm>
            <a:off x="2176272"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97" name="tile-217"/>
          <p:cNvSpPr/>
          <p:nvPr/>
        </p:nvSpPr>
        <p:spPr>
          <a:xfrm>
            <a:off x="2523744" y="2779776"/>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98" name="txt-218"/>
          <p:cNvSpPr txBox="1"/>
          <p:nvPr/>
        </p:nvSpPr>
        <p:spPr>
          <a:xfrm>
            <a:off x="2523744"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d</a:t>
            </a:r>
            <a:endParaRPr lang="en-US" sz="1100" dirty="0"/>
          </a:p>
        </p:txBody>
      </p:sp>
      <p:sp>
        <p:nvSpPr>
          <p:cNvPr id="99" name="txt-219"/>
          <p:cNvSpPr txBox="1"/>
          <p:nvPr/>
        </p:nvSpPr>
        <p:spPr>
          <a:xfrm>
            <a:off x="2523744"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00" name="tile-220"/>
          <p:cNvSpPr/>
          <p:nvPr/>
        </p:nvSpPr>
        <p:spPr>
          <a:xfrm>
            <a:off x="2871216" y="2779776"/>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01" name="txt-221"/>
          <p:cNvSpPr txBox="1"/>
          <p:nvPr/>
        </p:nvSpPr>
        <p:spPr>
          <a:xfrm>
            <a:off x="2871216"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a</a:t>
            </a:r>
            <a:endParaRPr lang="en-US" sz="1100" dirty="0"/>
          </a:p>
        </p:txBody>
      </p:sp>
      <p:sp>
        <p:nvSpPr>
          <p:cNvPr id="102" name="txt-222"/>
          <p:cNvSpPr txBox="1"/>
          <p:nvPr/>
        </p:nvSpPr>
        <p:spPr>
          <a:xfrm>
            <a:off x="2871216"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03" name="tile-223"/>
          <p:cNvSpPr/>
          <p:nvPr/>
        </p:nvSpPr>
        <p:spPr>
          <a:xfrm>
            <a:off x="3218688" y="2779776"/>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04" name="txt-224"/>
          <p:cNvSpPr txBox="1"/>
          <p:nvPr/>
        </p:nvSpPr>
        <p:spPr>
          <a:xfrm>
            <a:off x="3218688"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c</a:t>
            </a:r>
            <a:endParaRPr lang="en-US" sz="1100" dirty="0"/>
          </a:p>
        </p:txBody>
      </p:sp>
      <p:sp>
        <p:nvSpPr>
          <p:cNvPr id="105" name="txt-225"/>
          <p:cNvSpPr txBox="1"/>
          <p:nvPr/>
        </p:nvSpPr>
        <p:spPr>
          <a:xfrm>
            <a:off x="3218688"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06" name="tile-226"/>
          <p:cNvSpPr/>
          <p:nvPr/>
        </p:nvSpPr>
        <p:spPr>
          <a:xfrm>
            <a:off x="3566160" y="2779776"/>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07" name="txt-227"/>
          <p:cNvSpPr txBox="1"/>
          <p:nvPr/>
        </p:nvSpPr>
        <p:spPr>
          <a:xfrm>
            <a:off x="3566160"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f</a:t>
            </a:r>
            <a:endParaRPr lang="en-US" sz="1100" dirty="0"/>
          </a:p>
        </p:txBody>
      </p:sp>
      <p:sp>
        <p:nvSpPr>
          <p:cNvPr id="108" name="txt-228"/>
          <p:cNvSpPr txBox="1"/>
          <p:nvPr/>
        </p:nvSpPr>
        <p:spPr>
          <a:xfrm>
            <a:off x="3566160"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09" name="tile-229"/>
          <p:cNvSpPr/>
          <p:nvPr/>
        </p:nvSpPr>
        <p:spPr>
          <a:xfrm>
            <a:off x="4059936" y="2779776"/>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10" name="txt-230"/>
          <p:cNvSpPr txBox="1"/>
          <p:nvPr/>
        </p:nvSpPr>
        <p:spPr>
          <a:xfrm>
            <a:off x="4059936"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g</a:t>
            </a:r>
            <a:endParaRPr lang="en-US" sz="1100" dirty="0"/>
          </a:p>
        </p:txBody>
      </p:sp>
      <p:sp>
        <p:nvSpPr>
          <p:cNvPr id="111" name="txt-231"/>
          <p:cNvSpPr txBox="1"/>
          <p:nvPr/>
        </p:nvSpPr>
        <p:spPr>
          <a:xfrm>
            <a:off x="4059936"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20</a:t>
            </a:r>
            <a:endParaRPr lang="en-US" sz="1300" dirty="0"/>
          </a:p>
        </p:txBody>
      </p:sp>
      <p:sp>
        <p:nvSpPr>
          <p:cNvPr id="112" name="tile-232"/>
          <p:cNvSpPr/>
          <p:nvPr/>
        </p:nvSpPr>
        <p:spPr>
          <a:xfrm>
            <a:off x="4407408" y="2779776"/>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13" name="txt-233"/>
          <p:cNvSpPr txBox="1"/>
          <p:nvPr/>
        </p:nvSpPr>
        <p:spPr>
          <a:xfrm>
            <a:off x="4407408"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h</a:t>
            </a:r>
            <a:endParaRPr lang="en-US" sz="1100" dirty="0"/>
          </a:p>
        </p:txBody>
      </p:sp>
      <p:sp>
        <p:nvSpPr>
          <p:cNvPr id="114" name="txt-234"/>
          <p:cNvSpPr txBox="1"/>
          <p:nvPr/>
        </p:nvSpPr>
        <p:spPr>
          <a:xfrm>
            <a:off x="4407408"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34</a:t>
            </a:r>
            <a:endParaRPr lang="en-US" sz="1300" dirty="0"/>
          </a:p>
        </p:txBody>
      </p:sp>
      <p:sp>
        <p:nvSpPr>
          <p:cNvPr id="115" name="tile-235"/>
          <p:cNvSpPr/>
          <p:nvPr/>
        </p:nvSpPr>
        <p:spPr>
          <a:xfrm>
            <a:off x="4754880" y="2779776"/>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16" name="txt-236"/>
          <p:cNvSpPr txBox="1"/>
          <p:nvPr/>
        </p:nvSpPr>
        <p:spPr>
          <a:xfrm>
            <a:off x="4754880"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i</a:t>
            </a:r>
            <a:endParaRPr lang="en-US" sz="1100" dirty="0"/>
          </a:p>
        </p:txBody>
      </p:sp>
      <p:sp>
        <p:nvSpPr>
          <p:cNvPr id="117" name="txt-237"/>
          <p:cNvSpPr txBox="1"/>
          <p:nvPr/>
        </p:nvSpPr>
        <p:spPr>
          <a:xfrm>
            <a:off x="4754880"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118" name="tile-238"/>
          <p:cNvSpPr/>
          <p:nvPr/>
        </p:nvSpPr>
        <p:spPr>
          <a:xfrm>
            <a:off x="5102352" y="2779776"/>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19" name="txt-239"/>
          <p:cNvSpPr txBox="1"/>
          <p:nvPr/>
        </p:nvSpPr>
        <p:spPr>
          <a:xfrm>
            <a:off x="5102352"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j</a:t>
            </a:r>
            <a:endParaRPr lang="en-US" sz="1100" dirty="0"/>
          </a:p>
        </p:txBody>
      </p:sp>
      <p:sp>
        <p:nvSpPr>
          <p:cNvPr id="120" name="txt-240"/>
          <p:cNvSpPr txBox="1"/>
          <p:nvPr/>
        </p:nvSpPr>
        <p:spPr>
          <a:xfrm>
            <a:off x="5102352"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33</a:t>
            </a:r>
            <a:endParaRPr lang="en-US" sz="1300" dirty="0"/>
          </a:p>
        </p:txBody>
      </p:sp>
      <p:sp>
        <p:nvSpPr>
          <p:cNvPr id="121" name="tile-241"/>
          <p:cNvSpPr/>
          <p:nvPr/>
        </p:nvSpPr>
        <p:spPr>
          <a:xfrm>
            <a:off x="5449824" y="2779776"/>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22" name="txt-242"/>
          <p:cNvSpPr txBox="1"/>
          <p:nvPr/>
        </p:nvSpPr>
        <p:spPr>
          <a:xfrm>
            <a:off x="5449824"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k</a:t>
            </a:r>
            <a:endParaRPr lang="en-US" sz="1100" dirty="0"/>
          </a:p>
        </p:txBody>
      </p:sp>
      <p:sp>
        <p:nvSpPr>
          <p:cNvPr id="123" name="txt-243"/>
          <p:cNvSpPr txBox="1"/>
          <p:nvPr/>
        </p:nvSpPr>
        <p:spPr>
          <a:xfrm>
            <a:off x="5449824"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124" name="tile-244"/>
          <p:cNvSpPr/>
          <p:nvPr/>
        </p:nvSpPr>
        <p:spPr>
          <a:xfrm>
            <a:off x="5797296" y="2779776"/>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25" name="txt-245"/>
          <p:cNvSpPr txBox="1"/>
          <p:nvPr/>
        </p:nvSpPr>
        <p:spPr>
          <a:xfrm>
            <a:off x="5797296" y="2816352"/>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l</a:t>
            </a:r>
            <a:endParaRPr lang="en-US" sz="1100" dirty="0"/>
          </a:p>
        </p:txBody>
      </p:sp>
      <p:sp>
        <p:nvSpPr>
          <p:cNvPr id="126" name="txt-246"/>
          <p:cNvSpPr txBox="1"/>
          <p:nvPr/>
        </p:nvSpPr>
        <p:spPr>
          <a:xfrm>
            <a:off x="5797296" y="2994843"/>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32</a:t>
            </a:r>
            <a:endParaRPr lang="en-US" sz="1300" dirty="0"/>
          </a:p>
        </p:txBody>
      </p:sp>
      <p:sp>
        <p:nvSpPr>
          <p:cNvPr id="127" name="txt-247"/>
          <p:cNvSpPr txBox="1"/>
          <p:nvPr/>
        </p:nvSpPr>
        <p:spPr>
          <a:xfrm>
            <a:off x="3877056" y="2779776"/>
            <a:ext cx="182880" cy="512064"/>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graphicFrame>
        <p:nvGraphicFramePr>
          <p:cNvPr id="128" name="spark-248" descr=""/>
          <p:cNvGraphicFramePr/>
          <p:nvPr/>
        </p:nvGraphicFramePr>
        <p:xfrm>
          <a:off x="6263640" y="2743200"/>
          <a:ext cx="1417320" cy="566928"/>
        </p:xfrm>
        <a:graphic xmlns:a="http://schemas.openxmlformats.org/drawingml/2006/main">
          <a:graphicData uri="http://schemas.openxmlformats.org/drawingml/2006/chart">
            <c:chart xmlns:c="http://schemas.openxmlformats.org/drawingml/2006/chart" r:id="rId3"/>
          </a:graphicData>
        </a:graphic>
      </p:graphicFrame>
      <p:sp>
        <p:nvSpPr>
          <p:cNvPr id="129" name="txt-249"/>
          <p:cNvSpPr txBox="1"/>
          <p:nvPr/>
        </p:nvSpPr>
        <p:spPr>
          <a:xfrm>
            <a:off x="7863840" y="2779776"/>
            <a:ext cx="868680" cy="512064"/>
          </a:xfrm>
          <a:prstGeom prst="rect">
            <a:avLst/>
          </a:prstGeom>
          <a:noFill/>
          <a:ln/>
        </p:spPr>
        <p:txBody>
          <a:bodyPr wrap="square" lIns="0" tIns="0" rIns="0" bIns="0" rtlCol="0" anchor="ctr"/>
          <a:lstStyle/>
          <a:p>
            <a:pPr indent="0" marL="0">
              <a:buNone/>
            </a:pPr>
            <a:r>
              <a:rPr lang="en-US" sz="1800" b="1" dirty="0">
                <a:solidFill>
                  <a:schemeClr val="accent2"/>
                </a:solidFill>
                <a:latin typeface="Cambria" pitchFamily="34" charset="0"/>
                <a:ea typeface="Cambria" pitchFamily="34" charset="-122"/>
                <a:cs typeface="Cambria" pitchFamily="34" charset="-120"/>
              </a:rPr>
              <a:t>1 → 1</a:t>
            </a:r>
            <a:endParaRPr lang="en-US" sz="1800" dirty="0"/>
          </a:p>
        </p:txBody>
      </p:sp>
      <p:sp>
        <p:nvSpPr>
          <p:cNvPr id="130" name="txt-250"/>
          <p:cNvSpPr txBox="1"/>
          <p:nvPr/>
        </p:nvSpPr>
        <p:spPr>
          <a:xfrm>
            <a:off x="457200" y="3383280"/>
            <a:ext cx="1325880" cy="256032"/>
          </a:xfrm>
          <a:prstGeom prst="rect">
            <a:avLst/>
          </a:prstGeom>
          <a:noFill/>
          <a:ln/>
        </p:spPr>
        <p:txBody>
          <a:bodyPr wrap="square" lIns="0" tIns="0" rIns="0" bIns="0" rtlCol="0" anchor="ctr"/>
          <a:lstStyle/>
          <a:p>
            <a:pPr indent="0" marL="0">
              <a:buNone/>
            </a:pPr>
            <a:r>
              <a:rPr lang="en-US" sz="1300" b="1" dirty="0">
                <a:solidFill>
                  <a:schemeClr val="accent3"/>
                </a:solidFill>
              </a:rPr>
              <a:t>Half exchange</a:t>
            </a:r>
            <a:endParaRPr lang="en-US" sz="1300" dirty="0"/>
          </a:p>
        </p:txBody>
      </p:sp>
      <p:sp>
        <p:nvSpPr>
          <p:cNvPr id="131" name="txt-251"/>
          <p:cNvSpPr txBox="1"/>
          <p:nvPr/>
        </p:nvSpPr>
        <p:spPr>
          <a:xfrm>
            <a:off x="457200" y="3630168"/>
            <a:ext cx="1325880" cy="201168"/>
          </a:xfrm>
          <a:prstGeom prst="rect">
            <a:avLst/>
          </a:prstGeom>
          <a:noFill/>
          <a:ln/>
        </p:spPr>
        <p:txBody>
          <a:bodyPr wrap="square" lIns="0" tIns="0" rIns="0" bIns="0" rtlCol="0" anchor="ctr"/>
          <a:lstStyle/>
          <a:p>
            <a:pPr indent="0" marL="0">
              <a:buNone/>
            </a:pPr>
            <a:r>
              <a:rPr lang="en-US" sz="1000" dirty="0">
                <a:solidFill>
                  <a:schemeClr val="tx2"/>
                </a:solidFill>
              </a:rPr>
              <a:t>ex-half</a:t>
            </a:r>
            <a:endParaRPr lang="en-US" sz="1000" dirty="0"/>
          </a:p>
        </p:txBody>
      </p:sp>
      <p:sp>
        <p:nvSpPr>
          <p:cNvPr id="132" name="tile-252"/>
          <p:cNvSpPr/>
          <p:nvPr/>
        </p:nvSpPr>
        <p:spPr>
          <a:xfrm>
            <a:off x="1828800" y="3383280"/>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33" name="txt-253"/>
          <p:cNvSpPr txBox="1"/>
          <p:nvPr/>
        </p:nvSpPr>
        <p:spPr>
          <a:xfrm>
            <a:off x="1828800"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g</a:t>
            </a:r>
            <a:endParaRPr lang="en-US" sz="1100" dirty="0"/>
          </a:p>
        </p:txBody>
      </p:sp>
      <p:sp>
        <p:nvSpPr>
          <p:cNvPr id="134" name="txt-254"/>
          <p:cNvSpPr txBox="1"/>
          <p:nvPr/>
        </p:nvSpPr>
        <p:spPr>
          <a:xfrm>
            <a:off x="1828800"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20</a:t>
            </a:r>
            <a:endParaRPr lang="en-US" sz="1300" dirty="0"/>
          </a:p>
        </p:txBody>
      </p:sp>
      <p:sp>
        <p:nvSpPr>
          <p:cNvPr id="135" name="tile-255"/>
          <p:cNvSpPr/>
          <p:nvPr/>
        </p:nvSpPr>
        <p:spPr>
          <a:xfrm>
            <a:off x="2176272" y="3383280"/>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36" name="txt-256"/>
          <p:cNvSpPr txBox="1"/>
          <p:nvPr/>
        </p:nvSpPr>
        <p:spPr>
          <a:xfrm>
            <a:off x="2176272"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h</a:t>
            </a:r>
            <a:endParaRPr lang="en-US" sz="1100" dirty="0"/>
          </a:p>
        </p:txBody>
      </p:sp>
      <p:sp>
        <p:nvSpPr>
          <p:cNvPr id="137" name="txt-257"/>
          <p:cNvSpPr txBox="1"/>
          <p:nvPr/>
        </p:nvSpPr>
        <p:spPr>
          <a:xfrm>
            <a:off x="2176272"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34</a:t>
            </a:r>
            <a:endParaRPr lang="en-US" sz="1300" dirty="0"/>
          </a:p>
        </p:txBody>
      </p:sp>
      <p:sp>
        <p:nvSpPr>
          <p:cNvPr id="138" name="tile-258"/>
          <p:cNvSpPr/>
          <p:nvPr/>
        </p:nvSpPr>
        <p:spPr>
          <a:xfrm>
            <a:off x="2523744" y="3383280"/>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39" name="txt-259"/>
          <p:cNvSpPr txBox="1"/>
          <p:nvPr/>
        </p:nvSpPr>
        <p:spPr>
          <a:xfrm>
            <a:off x="2523744"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i</a:t>
            </a:r>
            <a:endParaRPr lang="en-US" sz="1100" dirty="0"/>
          </a:p>
        </p:txBody>
      </p:sp>
      <p:sp>
        <p:nvSpPr>
          <p:cNvPr id="140" name="txt-260"/>
          <p:cNvSpPr txBox="1"/>
          <p:nvPr/>
        </p:nvSpPr>
        <p:spPr>
          <a:xfrm>
            <a:off x="2523744"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141" name="tile-261"/>
          <p:cNvSpPr/>
          <p:nvPr/>
        </p:nvSpPr>
        <p:spPr>
          <a:xfrm>
            <a:off x="2871216" y="3383280"/>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42" name="txt-262"/>
          <p:cNvSpPr txBox="1"/>
          <p:nvPr/>
        </p:nvSpPr>
        <p:spPr>
          <a:xfrm>
            <a:off x="2871216"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j</a:t>
            </a:r>
            <a:endParaRPr lang="en-US" sz="1100" dirty="0"/>
          </a:p>
        </p:txBody>
      </p:sp>
      <p:sp>
        <p:nvSpPr>
          <p:cNvPr id="143" name="txt-263"/>
          <p:cNvSpPr txBox="1"/>
          <p:nvPr/>
        </p:nvSpPr>
        <p:spPr>
          <a:xfrm>
            <a:off x="2871216"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33</a:t>
            </a:r>
            <a:endParaRPr lang="en-US" sz="1300" dirty="0"/>
          </a:p>
        </p:txBody>
      </p:sp>
      <p:sp>
        <p:nvSpPr>
          <p:cNvPr id="144" name="tile-264"/>
          <p:cNvSpPr/>
          <p:nvPr/>
        </p:nvSpPr>
        <p:spPr>
          <a:xfrm>
            <a:off x="3218688" y="3383280"/>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45" name="txt-265"/>
          <p:cNvSpPr txBox="1"/>
          <p:nvPr/>
        </p:nvSpPr>
        <p:spPr>
          <a:xfrm>
            <a:off x="3218688"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k</a:t>
            </a:r>
            <a:endParaRPr lang="en-US" sz="1100" dirty="0"/>
          </a:p>
        </p:txBody>
      </p:sp>
      <p:sp>
        <p:nvSpPr>
          <p:cNvPr id="146" name="txt-266"/>
          <p:cNvSpPr txBox="1"/>
          <p:nvPr/>
        </p:nvSpPr>
        <p:spPr>
          <a:xfrm>
            <a:off x="3218688"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147" name="tile-267"/>
          <p:cNvSpPr/>
          <p:nvPr/>
        </p:nvSpPr>
        <p:spPr>
          <a:xfrm>
            <a:off x="3566160" y="3383280"/>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48" name="txt-268"/>
          <p:cNvSpPr txBox="1"/>
          <p:nvPr/>
        </p:nvSpPr>
        <p:spPr>
          <a:xfrm>
            <a:off x="3566160"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l</a:t>
            </a:r>
            <a:endParaRPr lang="en-US" sz="1100" dirty="0"/>
          </a:p>
        </p:txBody>
      </p:sp>
      <p:sp>
        <p:nvSpPr>
          <p:cNvPr id="149" name="txt-269"/>
          <p:cNvSpPr txBox="1"/>
          <p:nvPr/>
        </p:nvSpPr>
        <p:spPr>
          <a:xfrm>
            <a:off x="3566160"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32</a:t>
            </a:r>
            <a:endParaRPr lang="en-US" sz="1300" dirty="0"/>
          </a:p>
        </p:txBody>
      </p:sp>
      <p:sp>
        <p:nvSpPr>
          <p:cNvPr id="150" name="tile-270"/>
          <p:cNvSpPr/>
          <p:nvPr/>
        </p:nvSpPr>
        <p:spPr>
          <a:xfrm>
            <a:off x="4059936" y="3383280"/>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51" name="txt-271"/>
          <p:cNvSpPr txBox="1"/>
          <p:nvPr/>
        </p:nvSpPr>
        <p:spPr>
          <a:xfrm>
            <a:off x="4059936"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a</a:t>
            </a:r>
            <a:endParaRPr lang="en-US" sz="1100" dirty="0"/>
          </a:p>
        </p:txBody>
      </p:sp>
      <p:sp>
        <p:nvSpPr>
          <p:cNvPr id="152" name="txt-272"/>
          <p:cNvSpPr txBox="1"/>
          <p:nvPr/>
        </p:nvSpPr>
        <p:spPr>
          <a:xfrm>
            <a:off x="4059936"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53" name="tile-273"/>
          <p:cNvSpPr/>
          <p:nvPr/>
        </p:nvSpPr>
        <p:spPr>
          <a:xfrm>
            <a:off x="4407408" y="3383280"/>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54" name="txt-274"/>
          <p:cNvSpPr txBox="1"/>
          <p:nvPr/>
        </p:nvSpPr>
        <p:spPr>
          <a:xfrm>
            <a:off x="4407408"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b</a:t>
            </a:r>
            <a:endParaRPr lang="en-US" sz="1100" dirty="0"/>
          </a:p>
        </p:txBody>
      </p:sp>
      <p:sp>
        <p:nvSpPr>
          <p:cNvPr id="155" name="txt-275"/>
          <p:cNvSpPr txBox="1"/>
          <p:nvPr/>
        </p:nvSpPr>
        <p:spPr>
          <a:xfrm>
            <a:off x="4407408"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56" name="tile-276"/>
          <p:cNvSpPr/>
          <p:nvPr/>
        </p:nvSpPr>
        <p:spPr>
          <a:xfrm>
            <a:off x="4754880" y="3383280"/>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57" name="txt-277"/>
          <p:cNvSpPr txBox="1"/>
          <p:nvPr/>
        </p:nvSpPr>
        <p:spPr>
          <a:xfrm>
            <a:off x="4754880"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c</a:t>
            </a:r>
            <a:endParaRPr lang="en-US" sz="1100" dirty="0"/>
          </a:p>
        </p:txBody>
      </p:sp>
      <p:sp>
        <p:nvSpPr>
          <p:cNvPr id="158" name="txt-278"/>
          <p:cNvSpPr txBox="1"/>
          <p:nvPr/>
        </p:nvSpPr>
        <p:spPr>
          <a:xfrm>
            <a:off x="4754880"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59" name="tile-279"/>
          <p:cNvSpPr/>
          <p:nvPr/>
        </p:nvSpPr>
        <p:spPr>
          <a:xfrm>
            <a:off x="5102352" y="3383280"/>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60" name="txt-280"/>
          <p:cNvSpPr txBox="1"/>
          <p:nvPr/>
        </p:nvSpPr>
        <p:spPr>
          <a:xfrm>
            <a:off x="5102352"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d</a:t>
            </a:r>
            <a:endParaRPr lang="en-US" sz="1100" dirty="0"/>
          </a:p>
        </p:txBody>
      </p:sp>
      <p:sp>
        <p:nvSpPr>
          <p:cNvPr id="161" name="txt-281"/>
          <p:cNvSpPr txBox="1"/>
          <p:nvPr/>
        </p:nvSpPr>
        <p:spPr>
          <a:xfrm>
            <a:off x="5102352"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62" name="tile-282"/>
          <p:cNvSpPr/>
          <p:nvPr/>
        </p:nvSpPr>
        <p:spPr>
          <a:xfrm>
            <a:off x="5449824" y="3383280"/>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63" name="txt-283"/>
          <p:cNvSpPr txBox="1"/>
          <p:nvPr/>
        </p:nvSpPr>
        <p:spPr>
          <a:xfrm>
            <a:off x="5449824"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e</a:t>
            </a:r>
            <a:endParaRPr lang="en-US" sz="1100" dirty="0"/>
          </a:p>
        </p:txBody>
      </p:sp>
      <p:sp>
        <p:nvSpPr>
          <p:cNvPr id="164" name="txt-284"/>
          <p:cNvSpPr txBox="1"/>
          <p:nvPr/>
        </p:nvSpPr>
        <p:spPr>
          <a:xfrm>
            <a:off x="5449824"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65" name="tile-285"/>
          <p:cNvSpPr/>
          <p:nvPr/>
        </p:nvSpPr>
        <p:spPr>
          <a:xfrm>
            <a:off x="5797296" y="3383280"/>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66" name="txt-286"/>
          <p:cNvSpPr txBox="1"/>
          <p:nvPr/>
        </p:nvSpPr>
        <p:spPr>
          <a:xfrm>
            <a:off x="5797296" y="3419856"/>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f</a:t>
            </a:r>
            <a:endParaRPr lang="en-US" sz="1100" dirty="0"/>
          </a:p>
        </p:txBody>
      </p:sp>
      <p:sp>
        <p:nvSpPr>
          <p:cNvPr id="167" name="txt-287"/>
          <p:cNvSpPr txBox="1"/>
          <p:nvPr/>
        </p:nvSpPr>
        <p:spPr>
          <a:xfrm>
            <a:off x="5797296" y="3598347"/>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68" name="txt-288"/>
          <p:cNvSpPr txBox="1"/>
          <p:nvPr/>
        </p:nvSpPr>
        <p:spPr>
          <a:xfrm>
            <a:off x="3877056" y="3383280"/>
            <a:ext cx="182880" cy="512064"/>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graphicFrame>
        <p:nvGraphicFramePr>
          <p:cNvPr id="169" name="spark-289" descr=""/>
          <p:cNvGraphicFramePr/>
          <p:nvPr/>
        </p:nvGraphicFramePr>
        <p:xfrm>
          <a:off x="6263640" y="3346704"/>
          <a:ext cx="1417320" cy="566928"/>
        </p:xfrm>
        <a:graphic xmlns:a="http://schemas.openxmlformats.org/drawingml/2006/main">
          <a:graphicData uri="http://schemas.openxmlformats.org/drawingml/2006/chart">
            <c:chart xmlns:c="http://schemas.openxmlformats.org/drawingml/2006/chart" r:id="rId4"/>
          </a:graphicData>
        </a:graphic>
      </p:graphicFrame>
      <p:sp>
        <p:nvSpPr>
          <p:cNvPr id="170" name="txt-290"/>
          <p:cNvSpPr txBox="1"/>
          <p:nvPr/>
        </p:nvSpPr>
        <p:spPr>
          <a:xfrm>
            <a:off x="7863840" y="3383280"/>
            <a:ext cx="868680" cy="512064"/>
          </a:xfrm>
          <a:prstGeom prst="rect">
            <a:avLst/>
          </a:prstGeom>
          <a:noFill/>
          <a:ln/>
        </p:spPr>
        <p:txBody>
          <a:bodyPr wrap="square" lIns="0" tIns="0" rIns="0" bIns="0" rtlCol="0" anchor="ctr"/>
          <a:lstStyle/>
          <a:p>
            <a:pPr indent="0" marL="0">
              <a:buNone/>
            </a:pPr>
            <a:r>
              <a:rPr lang="en-US" sz="1800" b="1" dirty="0">
                <a:solidFill>
                  <a:schemeClr val="accent3"/>
                </a:solidFill>
                <a:latin typeface="Cambria" pitchFamily="34" charset="0"/>
                <a:ea typeface="Cambria" pitchFamily="34" charset="-122"/>
                <a:cs typeface="Cambria" pitchFamily="34" charset="-120"/>
              </a:rPr>
              <a:t>1 → 62</a:t>
            </a:r>
            <a:endParaRPr lang="en-US" sz="1800" dirty="0"/>
          </a:p>
        </p:txBody>
      </p:sp>
      <p:sp>
        <p:nvSpPr>
          <p:cNvPr id="171" name="txt-291"/>
          <p:cNvSpPr txBox="1"/>
          <p:nvPr/>
        </p:nvSpPr>
        <p:spPr>
          <a:xfrm>
            <a:off x="457200" y="3986784"/>
            <a:ext cx="1325880" cy="256032"/>
          </a:xfrm>
          <a:prstGeom prst="rect">
            <a:avLst/>
          </a:prstGeom>
          <a:noFill/>
          <a:ln/>
        </p:spPr>
        <p:txBody>
          <a:bodyPr wrap="square" lIns="0" tIns="0" rIns="0" bIns="0" rtlCol="0" anchor="ctr"/>
          <a:lstStyle/>
          <a:p>
            <a:pPr indent="0" marL="0">
              <a:buNone/>
            </a:pPr>
            <a:r>
              <a:rPr lang="en-US" sz="1300" b="1" dirty="0">
                <a:solidFill>
                  <a:schemeClr val="accent4"/>
                </a:solidFill>
              </a:rPr>
              <a:t>Masking</a:t>
            </a:r>
            <a:endParaRPr lang="en-US" sz="1300" dirty="0"/>
          </a:p>
        </p:txBody>
      </p:sp>
      <p:sp>
        <p:nvSpPr>
          <p:cNvPr id="172" name="txt-292"/>
          <p:cNvSpPr txBox="1"/>
          <p:nvPr/>
        </p:nvSpPr>
        <p:spPr>
          <a:xfrm>
            <a:off x="457200" y="4233672"/>
            <a:ext cx="1325880" cy="201168"/>
          </a:xfrm>
          <a:prstGeom prst="rect">
            <a:avLst/>
          </a:prstGeom>
          <a:noFill/>
          <a:ln/>
        </p:spPr>
        <p:txBody>
          <a:bodyPr wrap="square" lIns="0" tIns="0" rIns="0" bIns="0" rtlCol="0" anchor="ctr"/>
          <a:lstStyle/>
          <a:p>
            <a:pPr indent="0" marL="0">
              <a:buNone/>
            </a:pPr>
            <a:r>
              <a:rPr lang="en-US" sz="1000" dirty="0">
                <a:solidFill>
                  <a:schemeClr val="tx2"/>
                </a:solidFill>
              </a:rPr>
              <a:t>mask 0.2</a:t>
            </a:r>
            <a:endParaRPr lang="en-US" sz="1000" dirty="0"/>
          </a:p>
        </p:txBody>
      </p:sp>
      <p:sp>
        <p:nvSpPr>
          <p:cNvPr id="173" name="tile-293"/>
          <p:cNvSpPr/>
          <p:nvPr/>
        </p:nvSpPr>
        <p:spPr>
          <a:xfrm>
            <a:off x="1828800" y="3986784"/>
            <a:ext cx="310896" cy="512064"/>
          </a:xfrm>
          <a:prstGeom prst="roundRect">
            <a:avLst>
              <a:gd name="adj" fmla="val 17647"/>
            </a:avLst>
          </a:prstGeom>
          <a:solidFill>
            <a:schemeClr val="accent4">
              <a:alpha val="22000"/>
            </a:schemeClr>
          </a:solidFill>
          <a:ln w="12700">
            <a:solidFill>
              <a:schemeClr val="accent4"/>
            </a:solidFill>
            <a:prstDash val="dash"/>
          </a:ln>
        </p:spPr>
      </p:sp>
      <p:sp>
        <p:nvSpPr>
          <p:cNvPr id="174" name="txt-294"/>
          <p:cNvSpPr txBox="1"/>
          <p:nvPr/>
        </p:nvSpPr>
        <p:spPr>
          <a:xfrm>
            <a:off x="1828800"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m</a:t>
            </a:r>
            <a:endParaRPr lang="en-US" sz="1100" dirty="0"/>
          </a:p>
        </p:txBody>
      </p:sp>
      <p:sp>
        <p:nvSpPr>
          <p:cNvPr id="175" name="txt-295"/>
          <p:cNvSpPr txBox="1"/>
          <p:nvPr/>
        </p:nvSpPr>
        <p:spPr>
          <a:xfrm>
            <a:off x="1828800" y="4201851"/>
            <a:ext cx="310896" cy="256032"/>
          </a:xfrm>
          <a:prstGeom prst="rect">
            <a:avLst/>
          </a:prstGeom>
          <a:noFill/>
          <a:ln/>
        </p:spPr>
        <p:txBody>
          <a:bodyPr wrap="square" lIns="0" tIns="0" rIns="0" bIns="0" rtlCol="0" anchor="ctr"/>
          <a:lstStyle/>
          <a:p>
            <a:pPr algn="ctr" indent="0" marL="0">
              <a:buNone/>
            </a:pPr>
            <a:r>
              <a:rPr lang="en-US" sz="1000" i="1" dirty="0">
                <a:solidFill>
                  <a:schemeClr val="tx1"/>
                </a:solidFill>
              </a:rPr>
              <a:t>18.9</a:t>
            </a:r>
            <a:endParaRPr lang="en-US" sz="1000" dirty="0"/>
          </a:p>
        </p:txBody>
      </p:sp>
      <p:sp>
        <p:nvSpPr>
          <p:cNvPr id="176" name="tile-296"/>
          <p:cNvSpPr/>
          <p:nvPr/>
        </p:nvSpPr>
        <p:spPr>
          <a:xfrm>
            <a:off x="2176272" y="3986784"/>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77" name="txt-297"/>
          <p:cNvSpPr txBox="1"/>
          <p:nvPr/>
        </p:nvSpPr>
        <p:spPr>
          <a:xfrm>
            <a:off x="2176272"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b</a:t>
            </a:r>
            <a:endParaRPr lang="en-US" sz="1100" dirty="0"/>
          </a:p>
        </p:txBody>
      </p:sp>
      <p:sp>
        <p:nvSpPr>
          <p:cNvPr id="178" name="txt-298"/>
          <p:cNvSpPr txBox="1"/>
          <p:nvPr/>
        </p:nvSpPr>
        <p:spPr>
          <a:xfrm>
            <a:off x="2176272"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79" name="tile-299"/>
          <p:cNvSpPr/>
          <p:nvPr/>
        </p:nvSpPr>
        <p:spPr>
          <a:xfrm>
            <a:off x="2523744" y="3986784"/>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80" name="txt-300"/>
          <p:cNvSpPr txBox="1"/>
          <p:nvPr/>
        </p:nvSpPr>
        <p:spPr>
          <a:xfrm>
            <a:off x="2523744"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c</a:t>
            </a:r>
            <a:endParaRPr lang="en-US" sz="1100" dirty="0"/>
          </a:p>
        </p:txBody>
      </p:sp>
      <p:sp>
        <p:nvSpPr>
          <p:cNvPr id="181" name="txt-301"/>
          <p:cNvSpPr txBox="1"/>
          <p:nvPr/>
        </p:nvSpPr>
        <p:spPr>
          <a:xfrm>
            <a:off x="2523744"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82" name="tile-302"/>
          <p:cNvSpPr/>
          <p:nvPr/>
        </p:nvSpPr>
        <p:spPr>
          <a:xfrm>
            <a:off x="2871216" y="3986784"/>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83" name="txt-303"/>
          <p:cNvSpPr txBox="1"/>
          <p:nvPr/>
        </p:nvSpPr>
        <p:spPr>
          <a:xfrm>
            <a:off x="2871216"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d</a:t>
            </a:r>
            <a:endParaRPr lang="en-US" sz="1100" dirty="0"/>
          </a:p>
        </p:txBody>
      </p:sp>
      <p:sp>
        <p:nvSpPr>
          <p:cNvPr id="184" name="txt-304"/>
          <p:cNvSpPr txBox="1"/>
          <p:nvPr/>
        </p:nvSpPr>
        <p:spPr>
          <a:xfrm>
            <a:off x="2871216"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7</a:t>
            </a:r>
            <a:endParaRPr lang="en-US" sz="1300" dirty="0"/>
          </a:p>
        </p:txBody>
      </p:sp>
      <p:sp>
        <p:nvSpPr>
          <p:cNvPr id="185" name="tile-305"/>
          <p:cNvSpPr/>
          <p:nvPr/>
        </p:nvSpPr>
        <p:spPr>
          <a:xfrm>
            <a:off x="3218688" y="3986784"/>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86" name="txt-306"/>
          <p:cNvSpPr txBox="1"/>
          <p:nvPr/>
        </p:nvSpPr>
        <p:spPr>
          <a:xfrm>
            <a:off x="3218688"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e</a:t>
            </a:r>
            <a:endParaRPr lang="en-US" sz="1100" dirty="0"/>
          </a:p>
        </p:txBody>
      </p:sp>
      <p:sp>
        <p:nvSpPr>
          <p:cNvPr id="187" name="txt-307"/>
          <p:cNvSpPr txBox="1"/>
          <p:nvPr/>
        </p:nvSpPr>
        <p:spPr>
          <a:xfrm>
            <a:off x="3218688"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88" name="tile-308"/>
          <p:cNvSpPr/>
          <p:nvPr/>
        </p:nvSpPr>
        <p:spPr>
          <a:xfrm>
            <a:off x="3566160" y="3986784"/>
            <a:ext cx="310896" cy="512064"/>
          </a:xfrm>
          <a:prstGeom prst="roundRect">
            <a:avLst>
              <a:gd name="adj" fmla="val 17647"/>
            </a:avLst>
          </a:prstGeom>
          <a:solidFill>
            <a:schemeClr val="accent2">
              <a:alpha val="24000"/>
            </a:schemeClr>
          </a:solidFill>
          <a:ln w="9525">
            <a:solidFill>
              <a:schemeClr val="accent2"/>
            </a:solidFill>
            <a:prstDash val="solid"/>
          </a:ln>
        </p:spPr>
      </p:sp>
      <p:sp>
        <p:nvSpPr>
          <p:cNvPr id="189" name="txt-309"/>
          <p:cNvSpPr txBox="1"/>
          <p:nvPr/>
        </p:nvSpPr>
        <p:spPr>
          <a:xfrm>
            <a:off x="3566160"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f</a:t>
            </a:r>
            <a:endParaRPr lang="en-US" sz="1100" dirty="0"/>
          </a:p>
        </p:txBody>
      </p:sp>
      <p:sp>
        <p:nvSpPr>
          <p:cNvPr id="190" name="txt-310"/>
          <p:cNvSpPr txBox="1"/>
          <p:nvPr/>
        </p:nvSpPr>
        <p:spPr>
          <a:xfrm>
            <a:off x="3566160"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6</a:t>
            </a:r>
            <a:endParaRPr lang="en-US" sz="1300" dirty="0"/>
          </a:p>
        </p:txBody>
      </p:sp>
      <p:sp>
        <p:nvSpPr>
          <p:cNvPr id="191" name="tile-311"/>
          <p:cNvSpPr/>
          <p:nvPr/>
        </p:nvSpPr>
        <p:spPr>
          <a:xfrm>
            <a:off x="4059936" y="3986784"/>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92" name="txt-312"/>
          <p:cNvSpPr txBox="1"/>
          <p:nvPr/>
        </p:nvSpPr>
        <p:spPr>
          <a:xfrm>
            <a:off x="4059936"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g</a:t>
            </a:r>
            <a:endParaRPr lang="en-US" sz="1100" dirty="0"/>
          </a:p>
        </p:txBody>
      </p:sp>
      <p:sp>
        <p:nvSpPr>
          <p:cNvPr id="193" name="txt-313"/>
          <p:cNvSpPr txBox="1"/>
          <p:nvPr/>
        </p:nvSpPr>
        <p:spPr>
          <a:xfrm>
            <a:off x="4059936"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20</a:t>
            </a:r>
            <a:endParaRPr lang="en-US" sz="1300" dirty="0"/>
          </a:p>
        </p:txBody>
      </p:sp>
      <p:sp>
        <p:nvSpPr>
          <p:cNvPr id="194" name="tile-314"/>
          <p:cNvSpPr/>
          <p:nvPr/>
        </p:nvSpPr>
        <p:spPr>
          <a:xfrm>
            <a:off x="4407408" y="3986784"/>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95" name="txt-315"/>
          <p:cNvSpPr txBox="1"/>
          <p:nvPr/>
        </p:nvSpPr>
        <p:spPr>
          <a:xfrm>
            <a:off x="4407408"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h</a:t>
            </a:r>
            <a:endParaRPr lang="en-US" sz="1100" dirty="0"/>
          </a:p>
        </p:txBody>
      </p:sp>
      <p:sp>
        <p:nvSpPr>
          <p:cNvPr id="196" name="txt-316"/>
          <p:cNvSpPr txBox="1"/>
          <p:nvPr/>
        </p:nvSpPr>
        <p:spPr>
          <a:xfrm>
            <a:off x="4407408"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34</a:t>
            </a:r>
            <a:endParaRPr lang="en-US" sz="1300" dirty="0"/>
          </a:p>
        </p:txBody>
      </p:sp>
      <p:sp>
        <p:nvSpPr>
          <p:cNvPr id="197" name="tile-317"/>
          <p:cNvSpPr/>
          <p:nvPr/>
        </p:nvSpPr>
        <p:spPr>
          <a:xfrm>
            <a:off x="4754880" y="3986784"/>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198" name="txt-318"/>
          <p:cNvSpPr txBox="1"/>
          <p:nvPr/>
        </p:nvSpPr>
        <p:spPr>
          <a:xfrm>
            <a:off x="4754880"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i</a:t>
            </a:r>
            <a:endParaRPr lang="en-US" sz="1100" dirty="0"/>
          </a:p>
        </p:txBody>
      </p:sp>
      <p:sp>
        <p:nvSpPr>
          <p:cNvPr id="199" name="txt-319"/>
          <p:cNvSpPr txBox="1"/>
          <p:nvPr/>
        </p:nvSpPr>
        <p:spPr>
          <a:xfrm>
            <a:off x="4754880"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200" name="tile-320"/>
          <p:cNvSpPr/>
          <p:nvPr/>
        </p:nvSpPr>
        <p:spPr>
          <a:xfrm>
            <a:off x="5102352" y="3986784"/>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201" name="txt-321"/>
          <p:cNvSpPr txBox="1"/>
          <p:nvPr/>
        </p:nvSpPr>
        <p:spPr>
          <a:xfrm>
            <a:off x="5102352"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j</a:t>
            </a:r>
            <a:endParaRPr lang="en-US" sz="1100" dirty="0"/>
          </a:p>
        </p:txBody>
      </p:sp>
      <p:sp>
        <p:nvSpPr>
          <p:cNvPr id="202" name="txt-322"/>
          <p:cNvSpPr txBox="1"/>
          <p:nvPr/>
        </p:nvSpPr>
        <p:spPr>
          <a:xfrm>
            <a:off x="5102352"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33</a:t>
            </a:r>
            <a:endParaRPr lang="en-US" sz="1300" dirty="0"/>
          </a:p>
        </p:txBody>
      </p:sp>
      <p:sp>
        <p:nvSpPr>
          <p:cNvPr id="203" name="tile-323"/>
          <p:cNvSpPr/>
          <p:nvPr/>
        </p:nvSpPr>
        <p:spPr>
          <a:xfrm>
            <a:off x="5449824" y="3986784"/>
            <a:ext cx="310896" cy="512064"/>
          </a:xfrm>
          <a:prstGeom prst="roundRect">
            <a:avLst>
              <a:gd name="adj" fmla="val 17647"/>
            </a:avLst>
          </a:prstGeom>
          <a:solidFill>
            <a:schemeClr val="accent3">
              <a:alpha val="24000"/>
            </a:schemeClr>
          </a:solidFill>
          <a:ln w="9525">
            <a:solidFill>
              <a:schemeClr val="accent3"/>
            </a:solidFill>
            <a:prstDash val="solid"/>
          </a:ln>
        </p:spPr>
      </p:sp>
      <p:sp>
        <p:nvSpPr>
          <p:cNvPr id="204" name="txt-324"/>
          <p:cNvSpPr txBox="1"/>
          <p:nvPr/>
        </p:nvSpPr>
        <p:spPr>
          <a:xfrm>
            <a:off x="5449824"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k</a:t>
            </a:r>
            <a:endParaRPr lang="en-US" sz="1100" dirty="0"/>
          </a:p>
        </p:txBody>
      </p:sp>
      <p:sp>
        <p:nvSpPr>
          <p:cNvPr id="205" name="txt-325"/>
          <p:cNvSpPr txBox="1"/>
          <p:nvPr/>
        </p:nvSpPr>
        <p:spPr>
          <a:xfrm>
            <a:off x="5449824" y="4201851"/>
            <a:ext cx="310896" cy="256032"/>
          </a:xfrm>
          <a:prstGeom prst="rect">
            <a:avLst/>
          </a:prstGeom>
          <a:noFill/>
          <a:ln/>
        </p:spPr>
        <p:txBody>
          <a:bodyPr wrap="square" lIns="0" tIns="0" rIns="0" bIns="0" rtlCol="0" anchor="ctr"/>
          <a:lstStyle/>
          <a:p>
            <a:pPr algn="ctr" indent="0" marL="0">
              <a:buNone/>
            </a:pPr>
            <a:r>
              <a:rPr lang="en-US" sz="1300" b="1" dirty="0">
                <a:solidFill>
                  <a:schemeClr val="tx1"/>
                </a:solidFill>
              </a:rPr>
              <a:t>35</a:t>
            </a:r>
            <a:endParaRPr lang="en-US" sz="1300" dirty="0"/>
          </a:p>
        </p:txBody>
      </p:sp>
      <p:sp>
        <p:nvSpPr>
          <p:cNvPr id="206" name="tile-326"/>
          <p:cNvSpPr/>
          <p:nvPr/>
        </p:nvSpPr>
        <p:spPr>
          <a:xfrm>
            <a:off x="5797296" y="3986784"/>
            <a:ext cx="310896" cy="512064"/>
          </a:xfrm>
          <a:prstGeom prst="roundRect">
            <a:avLst>
              <a:gd name="adj" fmla="val 17647"/>
            </a:avLst>
          </a:prstGeom>
          <a:solidFill>
            <a:schemeClr val="accent4">
              <a:alpha val="22000"/>
            </a:schemeClr>
          </a:solidFill>
          <a:ln w="12700">
            <a:solidFill>
              <a:schemeClr val="accent4"/>
            </a:solidFill>
            <a:prstDash val="dash"/>
          </a:ln>
        </p:spPr>
      </p:sp>
      <p:sp>
        <p:nvSpPr>
          <p:cNvPr id="207" name="txt-327"/>
          <p:cNvSpPr txBox="1"/>
          <p:nvPr/>
        </p:nvSpPr>
        <p:spPr>
          <a:xfrm>
            <a:off x="5797296" y="4023360"/>
            <a:ext cx="310896" cy="201168"/>
          </a:xfrm>
          <a:prstGeom prst="rect">
            <a:avLst/>
          </a:prstGeom>
          <a:noFill/>
          <a:ln/>
        </p:spPr>
        <p:txBody>
          <a:bodyPr wrap="square" lIns="0" tIns="0" rIns="0" bIns="0" rtlCol="0" anchor="ctr"/>
          <a:lstStyle/>
          <a:p>
            <a:pPr algn="ctr" indent="0" marL="0">
              <a:buNone/>
            </a:pPr>
            <a:r>
              <a:rPr lang="en-US" sz="1100" dirty="0">
                <a:solidFill>
                  <a:schemeClr val="tx2"/>
                </a:solidFill>
              </a:rPr>
              <a:t>m</a:t>
            </a:r>
            <a:endParaRPr lang="en-US" sz="1100" dirty="0"/>
          </a:p>
        </p:txBody>
      </p:sp>
      <p:sp>
        <p:nvSpPr>
          <p:cNvPr id="208" name="txt-328"/>
          <p:cNvSpPr txBox="1"/>
          <p:nvPr/>
        </p:nvSpPr>
        <p:spPr>
          <a:xfrm>
            <a:off x="5797296" y="4201851"/>
            <a:ext cx="310896" cy="256032"/>
          </a:xfrm>
          <a:prstGeom prst="rect">
            <a:avLst/>
          </a:prstGeom>
          <a:noFill/>
          <a:ln/>
        </p:spPr>
        <p:txBody>
          <a:bodyPr wrap="square" lIns="0" tIns="0" rIns="0" bIns="0" rtlCol="0" anchor="ctr"/>
          <a:lstStyle/>
          <a:p>
            <a:pPr algn="ctr" indent="0" marL="0">
              <a:buNone/>
            </a:pPr>
            <a:r>
              <a:rPr lang="en-US" sz="1000" i="1" dirty="0">
                <a:solidFill>
                  <a:schemeClr val="tx1"/>
                </a:solidFill>
              </a:rPr>
              <a:t>18.9</a:t>
            </a:r>
            <a:endParaRPr lang="en-US" sz="1000" dirty="0"/>
          </a:p>
        </p:txBody>
      </p:sp>
      <p:sp>
        <p:nvSpPr>
          <p:cNvPr id="209" name="txt-329"/>
          <p:cNvSpPr txBox="1"/>
          <p:nvPr/>
        </p:nvSpPr>
        <p:spPr>
          <a:xfrm>
            <a:off x="3877056" y="3986784"/>
            <a:ext cx="182880" cy="512064"/>
          </a:xfrm>
          <a:prstGeom prst="rect">
            <a:avLst/>
          </a:prstGeom>
          <a:noFill/>
          <a:ln/>
        </p:spPr>
        <p:txBody>
          <a:bodyPr wrap="square" lIns="0" tIns="0" rIns="0" bIns="0" rtlCol="0" anchor="ctr"/>
          <a:lstStyle/>
          <a:p>
            <a:pPr algn="ctr" indent="0" marL="0">
              <a:buNone/>
            </a:pPr>
            <a:r>
              <a:rPr lang="en-US" sz="1800" dirty="0">
                <a:solidFill>
                  <a:schemeClr val="tx2"/>
                </a:solidFill>
              </a:rPr>
              <a:t>/</a:t>
            </a:r>
            <a:endParaRPr lang="en-US" sz="1800" dirty="0"/>
          </a:p>
        </p:txBody>
      </p:sp>
      <p:graphicFrame>
        <p:nvGraphicFramePr>
          <p:cNvPr id="210" name="spark-330" descr=""/>
          <p:cNvGraphicFramePr/>
          <p:nvPr/>
        </p:nvGraphicFramePr>
        <p:xfrm>
          <a:off x="6263640" y="3950208"/>
          <a:ext cx="1417320" cy="566928"/>
        </p:xfrm>
        <a:graphic xmlns:a="http://schemas.openxmlformats.org/drawingml/2006/main">
          <a:graphicData uri="http://schemas.openxmlformats.org/drawingml/2006/chart">
            <c:chart xmlns:c="http://schemas.openxmlformats.org/drawingml/2006/chart" r:id="rId5"/>
          </a:graphicData>
        </a:graphic>
      </p:graphicFrame>
      <p:sp>
        <p:nvSpPr>
          <p:cNvPr id="211" name="txt-331"/>
          <p:cNvSpPr txBox="1"/>
          <p:nvPr/>
        </p:nvSpPr>
        <p:spPr>
          <a:xfrm>
            <a:off x="7863840" y="3986784"/>
            <a:ext cx="868680" cy="512064"/>
          </a:xfrm>
          <a:prstGeom prst="rect">
            <a:avLst/>
          </a:prstGeom>
          <a:noFill/>
          <a:ln/>
        </p:spPr>
        <p:txBody>
          <a:bodyPr wrap="square" lIns="0" tIns="0" rIns="0" bIns="0" rtlCol="0" anchor="ctr"/>
          <a:lstStyle/>
          <a:p>
            <a:pPr indent="0" marL="0">
              <a:buNone/>
            </a:pPr>
            <a:r>
              <a:rPr lang="en-US" sz="1800" b="1" dirty="0">
                <a:solidFill>
                  <a:schemeClr val="accent4"/>
                </a:solidFill>
                <a:latin typeface="Cambria" pitchFamily="34" charset="0"/>
                <a:ea typeface="Cambria" pitchFamily="34" charset="-122"/>
                <a:cs typeface="Cambria" pitchFamily="34" charset="-120"/>
              </a:rPr>
              <a:t>1 → 35</a:t>
            </a:r>
            <a:endParaRPr lang="en-US" sz="1800" dirty="0"/>
          </a:p>
        </p:txBody>
      </p:sp>
      <p:sp>
        <p:nvSpPr>
          <p:cNvPr id="212" name="txt-332"/>
          <p:cNvSpPr txBox="1"/>
          <p:nvPr/>
        </p:nvSpPr>
        <p:spPr>
          <a:xfrm>
            <a:off x="457200" y="4572000"/>
            <a:ext cx="8229600" cy="201168"/>
          </a:xfrm>
          <a:prstGeom prst="rect">
            <a:avLst/>
          </a:prstGeom>
          <a:noFill/>
          <a:ln/>
        </p:spPr>
        <p:txBody>
          <a:bodyPr wrap="square" lIns="0" tIns="0" rIns="0" bIns="0" rtlCol="0" anchor="ctr"/>
          <a:lstStyle/>
          <a:p>
            <a:pPr indent="0" marL="0">
              <a:buNone/>
            </a:pPr>
            <a:r>
              <a:rPr lang="en-US" sz="1100" dirty="0">
                <a:solidFill>
                  <a:schemeClr val="tx2"/>
                </a:solidFill>
              </a:rPr>
              <a:t>Teal / amber = first / second half of the original; m = masked step, fed to the model as 0 (the series mean, 18.9). Grey line = original.</a:t>
            </a:r>
            <a:endParaRPr lang="en-US" sz="1100" dirty="0"/>
          </a:p>
        </p:txBody>
      </p:sp>
      <p:sp>
        <p:nvSpPr>
          <p:cNvPr id="25" name="Slide Number Placeholder 0"/>
          <p:cNvSpPr>
            <a:spLocks noGrp="1"/>
          </p:cNvSpPr>
          <p:nvPr>
            <p:ph type="sldNum" sz="quarter" idx="4294967295"/>
          </p:nvPr>
        </p:nvSpPr>
        <p:spPr>
          <a:xfrm>
            <a:off x="832104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6949440" cy="566928"/>
          </a:xfrm>
          <a:prstGeom prst="rect">
            <a:avLst/>
          </a:prstGeom>
          <a:noFill/>
          <a:ln/>
        </p:spPr>
        <p:txBody>
          <a:bodyPr wrap="square" lIns="0" tIns="0" rIns="0" bIns="0" rtlCol="0" anchor="b"/>
          <a:lstStyle/>
          <a:p>
            <a:pPr algn="l" indent="0" marL="0">
              <a:buNone/>
            </a:pPr>
            <a:r>
              <a:rPr lang="en-US" sz="3400" b="1" dirty="0">
                <a:solidFill>
                  <a:schemeClr val="tx1"/>
                </a:solidFill>
                <a:latin typeface="Cambria" pitchFamily="34" charset="0"/>
                <a:ea typeface="Cambria" pitchFamily="34" charset="-122"/>
                <a:cs typeface="Cambria" pitchFamily="34" charset="-120"/>
              </a:rPr>
              <a:t>Real case: a weather record</a:t>
            </a:r>
            <a:endParaRPr lang="en-US" sz="3400" dirty="0"/>
          </a:p>
        </p:txBody>
      </p:sp>
      <p:sp>
        <p:nvSpPr>
          <p:cNvPr id="3" name="Text 0"/>
          <p:cNvSpPr/>
          <p:nvPr>
            <p:ph idx="101" type="body" hasCustomPrompt="1"/>
          </p:nvPr>
        </p:nvSpPr>
        <p:spPr>
          <a:xfrm>
            <a:off x="457200" y="822960"/>
            <a:ext cx="8229600" cy="365760"/>
          </a:xfrm>
          <a:prstGeom prst="rect">
            <a:avLst/>
          </a:prstGeom>
          <a:noFill/>
          <a:ln/>
        </p:spPr>
        <p:txBody>
          <a:bodyPr wrap="square" lIns="0" tIns="0" rIns="0" bIns="0" rtlCol="0" anchor="t"/>
          <a:lstStyle/>
          <a:p>
            <a:pPr algn="l" indent="0" marL="0">
              <a:buNone/>
            </a:pPr>
            <a:r>
              <a:rPr lang="en-US" sz="1500" dirty="0">
                <a:solidFill>
                  <a:schemeClr val="tx2"/>
                </a:solidFill>
              </a:rPr>
              <a:t>NOAA test record 206 · Mariposa, CA, Jul–Dec 2022 · 180 days × 7 channels · TRACE draw 13</a:t>
            </a:r>
            <a:endParaRPr lang="en-US" sz="1500" dirty="0"/>
          </a:p>
        </p:txBody>
      </p:sp>
      <p:graphicFrame>
        <p:nvGraphicFramePr>
          <p:cNvPr id="4" name="chart-trace-sf_all" descr=""/>
          <p:cNvGraphicFramePr/>
          <p:nvPr/>
        </p:nvGraphicFramePr>
        <p:xfrm>
          <a:off x="457200" y="1298448"/>
          <a:ext cx="2834640" cy="1627632"/>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trace-sf_half" descr=""/>
          <p:cNvGraphicFramePr/>
          <p:nvPr/>
        </p:nvGraphicFramePr>
        <p:xfrm>
          <a:off x="3429000" y="1298448"/>
          <a:ext cx="2834640" cy="1627632"/>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trace-ex_half" descr=""/>
          <p:cNvGraphicFramePr/>
          <p:nvPr/>
        </p:nvGraphicFramePr>
        <p:xfrm>
          <a:off x="457200" y="3054096"/>
          <a:ext cx="2834640" cy="1627632"/>
        </p:xfrm>
        <a:graphic xmlns:a="http://schemas.openxmlformats.org/drawingml/2006/main">
          <a:graphicData uri="http://schemas.openxmlformats.org/drawingml/2006/chart">
            <c:chart xmlns:c="http://schemas.openxmlformats.org/drawingml/2006/chart" r:id="rId3"/>
          </a:graphicData>
        </a:graphic>
      </p:graphicFrame>
      <p:graphicFrame>
        <p:nvGraphicFramePr>
          <p:cNvPr id="7" name="chart-trace-masking" descr=""/>
          <p:cNvGraphicFramePr/>
          <p:nvPr/>
        </p:nvGraphicFramePr>
        <p:xfrm>
          <a:off x="3429000" y="3054096"/>
          <a:ext cx="2834640" cy="1627632"/>
        </p:xfrm>
        <a:graphic xmlns:a="http://schemas.openxmlformats.org/drawingml/2006/main">
          <a:graphicData uri="http://schemas.openxmlformats.org/drawingml/2006/chart">
            <c:chart xmlns:c="http://schemas.openxmlformats.org/drawingml/2006/chart" r:id="rId4"/>
          </a:graphicData>
        </a:graphic>
      </p:graphicFrame>
      <p:sp>
        <p:nvSpPr>
          <p:cNvPr id="8" name="txt-333"/>
          <p:cNvSpPr txBox="1"/>
          <p:nvPr/>
        </p:nvSpPr>
        <p:spPr>
          <a:xfrm>
            <a:off x="6355080" y="1325880"/>
            <a:ext cx="2331720" cy="201168"/>
          </a:xfrm>
          <a:prstGeom prst="rect">
            <a:avLst/>
          </a:prstGeom>
          <a:noFill/>
          <a:ln/>
        </p:spPr>
        <p:txBody>
          <a:bodyPr wrap="square" lIns="0" tIns="0" rIns="0" bIns="0" rtlCol="0" anchor="ctr"/>
          <a:lstStyle/>
          <a:p>
            <a:pPr indent="0" marL="0">
              <a:buNone/>
            </a:pPr>
            <a:r>
              <a:rPr lang="en-US" sz="1100" b="1" spc="100" kern="0" dirty="0">
                <a:solidFill>
                  <a:schemeClr val="tx2"/>
                </a:solidFill>
              </a:rPr>
              <a:t>THE DESCRIPTION SAYS</a:t>
            </a:r>
            <a:endParaRPr lang="en-US" sz="1100" dirty="0"/>
          </a:p>
        </p:txBody>
      </p:sp>
      <p:sp>
        <p:nvSpPr>
          <p:cNvPr id="9" name="txt-334"/>
          <p:cNvSpPr txBox="1"/>
          <p:nvPr/>
        </p:nvSpPr>
        <p:spPr>
          <a:xfrm>
            <a:off x="6355080" y="1581912"/>
            <a:ext cx="2331720" cy="1508760"/>
          </a:xfrm>
          <a:prstGeom prst="rect">
            <a:avLst/>
          </a:prstGeom>
          <a:noFill/>
          <a:ln/>
        </p:spPr>
        <p:txBody>
          <a:bodyPr wrap="square" lIns="0" tIns="0" rIns="0" bIns="0" rtlCol="0" anchor="t"/>
          <a:lstStyle/>
          <a:p>
            <a:pPr indent="0" marL="0">
              <a:buNone/>
            </a:pPr>
            <a:r>
              <a:rPr lang="en-US" sz="1300" i="1" dirty="0">
                <a:solidFill>
                  <a:schemeClr val="tx1"/>
                </a:solidFill>
              </a:rPr>
              <a:t>“The temperature showed a noticeable trend of rising during the summer months, peaking in August…, followed by a gradual decline into colder temperatures in December.”</a:t>
            </a:r>
            <a:endParaRPr lang="en-US" sz="1300" dirty="0"/>
          </a:p>
        </p:txBody>
      </p:sp>
      <p:sp>
        <p:nvSpPr>
          <p:cNvPr id="10" name="txt-335"/>
          <p:cNvSpPr txBox="1"/>
          <p:nvPr/>
        </p:nvSpPr>
        <p:spPr>
          <a:xfrm>
            <a:off x="6355080" y="3154680"/>
            <a:ext cx="2331720" cy="201168"/>
          </a:xfrm>
          <a:prstGeom prst="rect">
            <a:avLst/>
          </a:prstGeom>
          <a:noFill/>
          <a:ln/>
        </p:spPr>
        <p:txBody>
          <a:bodyPr wrap="square" lIns="0" tIns="0" rIns="0" bIns="0" rtlCol="0" anchor="ctr"/>
          <a:lstStyle/>
          <a:p>
            <a:pPr indent="0" marL="0">
              <a:buNone/>
            </a:pPr>
            <a:r>
              <a:rPr lang="en-US" sz="1100" b="1" spc="100" kern="0" dirty="0">
                <a:solidFill>
                  <a:schemeClr val="tx2"/>
                </a:solidFill>
              </a:rPr>
              <a:t>READING THE PANELS</a:t>
            </a:r>
            <a:endParaRPr lang="en-US" sz="1100" dirty="0"/>
          </a:p>
        </p:txBody>
      </p:sp>
      <p:sp>
        <p:nvSpPr>
          <p:cNvPr id="11" name="txt-336"/>
          <p:cNvSpPr txBox="1"/>
          <p:nvPr/>
        </p:nvSpPr>
        <p:spPr>
          <a:xfrm>
            <a:off x="6355080" y="3410712"/>
            <a:ext cx="2331720" cy="1325880"/>
          </a:xfrm>
          <a:prstGeom prst="rect">
            <a:avLst/>
          </a:prstGeom>
          <a:noFill/>
          <a:ln/>
        </p:spPr>
        <p:txBody>
          <a:bodyPr wrap="square" lIns="0" tIns="0" rIns="0" bIns="0" rtlCol="0" anchor="t"/>
          <a:lstStyle/>
          <a:p>
            <a:pPr indent="0" marL="0">
              <a:spcAft>
                <a:spcPts val="400"/>
              </a:spcAft>
              <a:buNone/>
            </a:pPr>
            <a:r>
              <a:rPr lang="en-US" sz="1200" dirty="0">
                <a:solidFill>
                  <a:schemeClr val="tx2"/>
                </a:solidFill>
              </a:rPr>
              <a:t>Temperature in °C; grey = original. Rank among 2,006 test records.</a:t>
            </a:r>
            <a:endParaRPr lang="en-US" sz="1200" dirty="0"/>
          </a:p>
          <a:p>
            <a:pPr indent="0" marL="0">
              <a:spcAft>
                <a:spcPts val="400"/>
              </a:spcAft>
              <a:buNone/>
            </a:pPr>
            <a:r>
              <a:rPr lang="en-US" sz="1200" dirty="0">
                <a:solidFill>
                  <a:schemeClr val="tx2"/>
                </a:solidFill>
              </a:rPr>
              <a:t>All 7 channels share one permutation, so each day’s readings stay together. Masking hits 36 of 180 days.</a:t>
            </a:r>
            <a:endParaRPr lang="en-US" sz="1200" dirty="0"/>
          </a:p>
        </p:txBody>
      </p:sp>
      <p:sp>
        <p:nvSpPr>
          <p:cNvPr id="25" name="Slide Number Placeholder 0"/>
          <p:cNvSpPr>
            <a:spLocks noGrp="1"/>
          </p:cNvSpPr>
          <p:nvPr>
            <p:ph type="sldNum" sz="quarter" idx="4294967295"/>
          </p:nvPr>
        </p:nvSpPr>
        <p:spPr>
          <a:xfrm>
            <a:off x="8321040" y="4846320"/>
            <a:ext cx="365760" cy="201168"/>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D2 Signal">
  <a:themeElements>
    <a:clrScheme name="D2 Signal">
      <a:dk1>
        <a:srgbClr val="1B2333"/>
      </a:dk1>
      <a:lt1>
        <a:srgbClr val="FFFFFF"/>
      </a:lt1>
      <a:dk2>
        <a:srgbClr val="4A5568"/>
      </a:dk2>
      <a:lt2>
        <a:srgbClr val="F1F4F8"/>
      </a:lt2>
      <a:accent1>
        <a:srgbClr val="22364F"/>
      </a:accent1>
      <a:accent2>
        <a:srgbClr val="1F8A80"/>
      </a:accent2>
      <a:accent3>
        <a:srgbClr val="D98324"/>
      </a:accent3>
      <a:accent4>
        <a:srgbClr val="7B61A8"/>
      </a:accent4>
      <a:accent5>
        <a:srgbClr val="B83A2E"/>
      </a:accent5>
      <a:accent6>
        <a:srgbClr val="B9C2CF"/>
      </a:accent6>
      <a:hlink>
        <a:srgbClr val="1F8A80"/>
      </a:hlink>
      <a:folHlink>
        <a:srgbClr val="4A5568"/>
      </a:folHlink>
    </a:clrScheme>
    <a:fontScheme name="D2 Sig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Diagnostic 2: Temporal-Order Sensitivity</dc:title>
  <dc:subject>D2 perturbations illustrated</dc:subject>
  <dc:creator>PptxGenJS</dc:creator>
  <cp:lastModifiedBy>PptxGenJS</cp:lastModifiedBy>
  <cp:revision>1</cp:revision>
  <dcterms:created xsi:type="dcterms:W3CDTF">2026-10-27T16:48:23Z</dcterms:created>
  <dcterms:modified xsi:type="dcterms:W3CDTF">2026-10-27T16:48:23Z</dcterms:modified>
</cp:coreProperties>
</file>