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7b6f279-a20f-b691-0db7-f6d152cf6dd3}">
          <p14:sldIdLst>
            <p14:sldId id="256"/>
            <p14:sldId id="257"/>
          </p14:sldIdLst>
        </p14:section>
        <p14:section name="Real-series examples" id="{ca43c40a-e286-48bb-973f-e9f77a6a8b4d}">
          <p14:sldIdLst>
            <p14:sldId id="258"/>
            <p14:sldId id="259"/>
            <p14:sldId id="260"/>
            <p14:sldId id="261"/>
            <p14:sldId id="262"/>
          </p14:sldIdLst>
        </p14:section>
        <p14:section name="At scale" id="{da2cab13-20b7-4018-1196-fa318100d4fc}">
          <p14:sldIdLst>
            <p14:sldId id="263"/>
            <p14:sldId id="264"/>
          </p14:sldIdLst>
        </p14:section>
        <p14:section name="Results" id="{35efc93f-2ba6-bfdd-1c0b-2d061f0159ea}">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pilot13/434</c:v>
                </c:pt>
              </c:strCache>
            </c:strRef>
          </c:tx>
          <c:spPr>
            <a:solidFill>
              <a:srgbClr val="22364F"/>
            </a:solidFill>
            <a:ln w="31750" cap="flat">
              <a:solidFill>
                <a:srgbClr val="22364F"/>
              </a:solidFill>
              <a:prstDash val="solid"/>
              <a:round/>
            </a:ln>
            <a:effectLst/>
          </c:spPr>
          <c:invertIfNegative val="0"/>
          <c:dLbls>
            <c:numFmt formatCode="#,##0" sourceLinked="0"/>
            <c:txPr>
              <a:bodyPr/>
              <a:lstStyle/>
              <a:p>
                <a:pPr>
                  <a:defRPr b="0" i="0" strike="noStrike" sz="1000" u="none">
                    <a:solidFill>
                      <a:srgbClr val="1B2333"/>
                    </a:solidFill>
                    <a:latin typeface="+mn-lt"/>
                  </a:defRPr>
                </a:pPr>
              </a:p>
            </c:txPr>
            <c:dLblPos val="t"/>
            <c:showLegendKey val="0"/>
            <c:showVal val="1"/>
            <c:showCatName val="0"/>
            <c:showSerName val="0"/>
            <c:showPercent val="0"/>
            <c:showBubbleSize val="0"/>
            <c:showLeaderLines val="0"/>
          </c:dLbls>
          <c:marker>
            <c:symbol val="circle"/>
            <c:size val="7"/>
            <c:spPr>
              <a:solidFill>
                <a:srgbClr val="22364F"/>
              </a:solidFill>
              <a:ln w="9525" cap="flat">
                <a:solidFill>
                  <a:srgbClr val="22364F"/>
                </a:solidFill>
                <a:prstDash val="solid"/>
                <a:round/>
              </a:ln>
              <a:effectLst/>
            </c:spPr>
          </c:marker>
          <c:cat>
            <c:multiLvlStrRef>
              <c:f>Sheet1!$A$2:$A$13</c:f>
              <c:multiLvlStrCache>
                <c:ptCount val="12"/>
                <c:lvl>
                  <c:pt idx="0">
                    <c:v>a</c:v>
                  </c:pt>
                  <c:pt idx="1">
                    <c:v>b</c:v>
                  </c:pt>
                  <c:pt idx="2">
                    <c:v>c</c:v>
                  </c:pt>
                  <c:pt idx="3">
                    <c:v>d</c:v>
                  </c:pt>
                  <c:pt idx="4">
                    <c:v>e</c:v>
                  </c:pt>
                  <c:pt idx="5">
                    <c:v>f</c:v>
                  </c:pt>
                  <c:pt idx="6">
                    <c:v>g</c:v>
                  </c:pt>
                  <c:pt idx="7">
                    <c:v>h</c:v>
                  </c:pt>
                  <c:pt idx="8">
                    <c:v>i</c:v>
                  </c:pt>
                  <c:pt idx="9">
                    <c:v>j</c:v>
                  </c:pt>
                  <c:pt idx="10">
                    <c:v>k</c:v>
                  </c:pt>
                  <c:pt idx="11">
                    <c:v>l</c:v>
                  </c:pt>
                </c:lvl>
              </c:multiLvlStrCache>
            </c:multiLvlStrRef>
          </c:cat>
          <c:val>
            <c:numRef>
              <c:f>Sheet1!$B$2:$B$13</c:f>
              <c:numCache>
                <c:formatCode>General</c:formatCode>
                <c:ptCount val="12"/>
                <c:pt idx="0">
                  <c:v>6</c:v>
                </c:pt>
                <c:pt idx="1">
                  <c:v>7</c:v>
                </c:pt>
                <c:pt idx="2">
                  <c:v>7</c:v>
                </c:pt>
                <c:pt idx="3">
                  <c:v>7</c:v>
                </c:pt>
                <c:pt idx="4">
                  <c:v>5</c:v>
                </c:pt>
                <c:pt idx="5">
                  <c:v>6</c:v>
                </c:pt>
                <c:pt idx="6">
                  <c:v>20</c:v>
                </c:pt>
                <c:pt idx="7">
                  <c:v>34</c:v>
                </c:pt>
                <c:pt idx="8">
                  <c:v>35</c:v>
                </c:pt>
                <c:pt idx="9">
                  <c:v>33</c:v>
                </c:pt>
                <c:pt idx="10">
                  <c:v>35</c:v>
                </c:pt>
                <c:pt idx="11">
                  <c:v>32</c:v>
                </c:pt>
              </c:numCache>
            </c:numRef>
          </c:val>
          <c:smooth val="0"/>
        </c:ser>
        <c:dLbls>
          <c:numFmt formatCode="#,##0" sourceLinked="0"/>
          <c:txPr>
            <a:bodyPr/>
            <a:lstStyle/>
            <a:p>
              <a:pPr>
                <a:defRPr b="0" i="0" strike="noStrike" sz="1000" u="none">
                  <a:solidFill>
                    <a:srgbClr val="1B2333"/>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4A5568"/>
                    </a:solidFill>
                    <a:latin typeface="+mn-lt"/>
                  </a:defRPr>
                </a:pPr>
                <a:r>
                  <a:rPr sz="1000" b="0" i="0" u="none" strike="noStrike">
                    <a:solidFill>
                      <a:srgbClr val="4A5568"/>
                    </a:solidFill>
                    <a:latin typeface="+mn-lt"/>
                  </a:rPr>
                  <a:t>time step (letter)</a:t>
                </a:r>
              </a:p>
            </c:rich>
          </c:tx>
          <c:layout/>
          <c:overlay val="0"/>
        </c:title>
        <c:numFmt formatCode="General" sourceLinked="1"/>
        <c:majorTickMark val="out"/>
        <c:minorTickMark val="none"/>
        <c:tickLblPos val="low"/>
        <c:spPr>
          <a:ln w="12700" cap="flat">
            <a:solidFill>
              <a:srgbClr val="C9D0DA"/>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c:v>
                </c:pt>
              </c:strCache>
            </c:strRef>
          </c:tx>
          <c:spPr>
            <a:solidFill>
              <a:srgbClr val="B9C2CF"/>
            </a:solidFill>
            <a:ln w="28575" cap="flat">
              <a:solidFill>
                <a:srgbClr val="B9C2C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9C2CF"/>
              </a:solidFill>
              <a:ln w="9525" cap="flat">
                <a:solidFill>
                  <a:srgbClr val="B9C2CF"/>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6</c:v>
                </c:pt>
                <c:pt idx="1">
                  <c:v>7</c:v>
                </c:pt>
                <c:pt idx="2">
                  <c:v>7</c:v>
                </c:pt>
                <c:pt idx="3">
                  <c:v>7</c:v>
                </c:pt>
                <c:pt idx="4">
                  <c:v>5</c:v>
                </c:pt>
                <c:pt idx="5">
                  <c:v>6</c:v>
                </c:pt>
                <c:pt idx="6">
                  <c:v>20</c:v>
                </c:pt>
                <c:pt idx="7">
                  <c:v>34</c:v>
                </c:pt>
                <c:pt idx="8">
                  <c:v>35</c:v>
                </c:pt>
                <c:pt idx="9">
                  <c:v>33</c:v>
                </c:pt>
                <c:pt idx="10">
                  <c:v>35</c:v>
                </c:pt>
                <c:pt idx="11">
                  <c:v>32</c:v>
                </c:pt>
              </c:numCache>
            </c:numRef>
          </c:val>
          <c:smooth val="0"/>
        </c:ser>
        <c:ser>
          <c:idx val="1"/>
          <c:order val="1"/>
          <c:tx>
            <c:strRef>
              <c:f>Sheet1!$C$1</c:f>
              <c:strCache>
                <c:ptCount val="1"/>
                <c:pt idx="0">
                  <c:v>Full shuffle</c:v>
                </c:pt>
              </c:strCache>
            </c:strRef>
          </c:tx>
          <c:spPr>
            <a:solidFill>
              <a:srgbClr val="22364F"/>
            </a:solidFill>
            <a:ln w="28575" cap="flat">
              <a:solidFill>
                <a:srgbClr val="22364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2364F"/>
              </a:solidFill>
              <a:ln w="9525" cap="flat">
                <a:solidFill>
                  <a:srgbClr val="22364F"/>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Sheet1!$C$2:$C$13</c:f>
              <c:numCache>
                <c:formatCode>General</c:formatCode>
                <c:ptCount val="12"/>
                <c:pt idx="0">
                  <c:v>5</c:v>
                </c:pt>
                <c:pt idx="1">
                  <c:v>6</c:v>
                </c:pt>
                <c:pt idx="2">
                  <c:v>20</c:v>
                </c:pt>
                <c:pt idx="3">
                  <c:v>33</c:v>
                </c:pt>
                <c:pt idx="4">
                  <c:v>7</c:v>
                </c:pt>
                <c:pt idx="5">
                  <c:v>35</c:v>
                </c:pt>
                <c:pt idx="6">
                  <c:v>32</c:v>
                </c:pt>
                <c:pt idx="7">
                  <c:v>34</c:v>
                </c:pt>
                <c:pt idx="8">
                  <c:v>35</c:v>
                </c:pt>
                <c:pt idx="9">
                  <c:v>7</c:v>
                </c:pt>
                <c:pt idx="10">
                  <c:v>7</c:v>
                </c:pt>
                <c:pt idx="11">
                  <c:v>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4A5568"/>
                    </a:solidFill>
                    <a:latin typeface="+mn-lt"/>
                  </a:defRPr>
                </a:pPr>
                <a:r>
                  <a:rPr sz="1000" b="0" i="0" u="none" strike="noStrike">
                    <a:solidFill>
                      <a:srgbClr val="4A5568"/>
                    </a:solidFill>
                    <a:latin typeface="+mn-lt"/>
                  </a:rPr>
                  <a:t>time step</a:t>
                </a:r>
              </a:p>
            </c:rich>
          </c:tx>
          <c:layout/>
          <c:overlay val="0"/>
        </c:title>
        <c:numFmt formatCode="General" sourceLinked="1"/>
        <c:majorTickMark val="out"/>
        <c:minorTickMark val="none"/>
        <c:tickLblPos val="low"/>
        <c:spPr>
          <a:ln w="12700" cap="flat">
            <a:solidFill>
              <a:srgbClr val="C9D0DA"/>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solidFill>
                <a:srgbClr val="4A55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c:v>
                </c:pt>
              </c:strCache>
            </c:strRef>
          </c:tx>
          <c:spPr>
            <a:solidFill>
              <a:srgbClr val="B9C2CF"/>
            </a:solidFill>
            <a:ln w="28575" cap="flat">
              <a:solidFill>
                <a:srgbClr val="B9C2C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9C2CF"/>
              </a:solidFill>
              <a:ln w="9525" cap="flat">
                <a:solidFill>
                  <a:srgbClr val="B9C2CF"/>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6</c:v>
                </c:pt>
                <c:pt idx="1">
                  <c:v>7</c:v>
                </c:pt>
                <c:pt idx="2">
                  <c:v>7</c:v>
                </c:pt>
                <c:pt idx="3">
                  <c:v>7</c:v>
                </c:pt>
                <c:pt idx="4">
                  <c:v>5</c:v>
                </c:pt>
                <c:pt idx="5">
                  <c:v>6</c:v>
                </c:pt>
                <c:pt idx="6">
                  <c:v>20</c:v>
                </c:pt>
                <c:pt idx="7">
                  <c:v>34</c:v>
                </c:pt>
                <c:pt idx="8">
                  <c:v>35</c:v>
                </c:pt>
                <c:pt idx="9">
                  <c:v>33</c:v>
                </c:pt>
                <c:pt idx="10">
                  <c:v>35</c:v>
                </c:pt>
                <c:pt idx="11">
                  <c:v>32</c:v>
                </c:pt>
              </c:numCache>
            </c:numRef>
          </c:val>
          <c:smooth val="0"/>
        </c:ser>
        <c:ser>
          <c:idx val="1"/>
          <c:order val="1"/>
          <c:tx>
            <c:strRef>
              <c:f>Sheet1!$C$1</c:f>
              <c:strCache>
                <c:ptCount val="1"/>
                <c:pt idx="0">
                  <c:v>First-half shuffle</c:v>
                </c:pt>
              </c:strCache>
            </c:strRef>
          </c:tx>
          <c:spPr>
            <a:solidFill>
              <a:srgbClr val="1F8A80"/>
            </a:solidFill>
            <a:ln w="28575" cap="flat">
              <a:solidFill>
                <a:srgbClr val="1F8A8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8A80"/>
              </a:solidFill>
              <a:ln w="9525" cap="flat">
                <a:solidFill>
                  <a:srgbClr val="1F8A80"/>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Sheet1!$C$2:$C$13</c:f>
              <c:numCache>
                <c:formatCode>General</c:formatCode>
                <c:ptCount val="12"/>
                <c:pt idx="0">
                  <c:v>5</c:v>
                </c:pt>
                <c:pt idx="1">
                  <c:v>7</c:v>
                </c:pt>
                <c:pt idx="2">
                  <c:v>7</c:v>
                </c:pt>
                <c:pt idx="3">
                  <c:v>6</c:v>
                </c:pt>
                <c:pt idx="4">
                  <c:v>7</c:v>
                </c:pt>
                <c:pt idx="5">
                  <c:v>6</c:v>
                </c:pt>
                <c:pt idx="6">
                  <c:v>20</c:v>
                </c:pt>
                <c:pt idx="7">
                  <c:v>34</c:v>
                </c:pt>
                <c:pt idx="8">
                  <c:v>35</c:v>
                </c:pt>
                <c:pt idx="9">
                  <c:v>33</c:v>
                </c:pt>
                <c:pt idx="10">
                  <c:v>35</c:v>
                </c:pt>
                <c:pt idx="11">
                  <c:v>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4A5568"/>
                    </a:solidFill>
                    <a:latin typeface="+mn-lt"/>
                  </a:defRPr>
                </a:pPr>
                <a:r>
                  <a:rPr sz="1000" b="0" i="0" u="none" strike="noStrike">
                    <a:solidFill>
                      <a:srgbClr val="4A5568"/>
                    </a:solidFill>
                    <a:latin typeface="+mn-lt"/>
                  </a:rPr>
                  <a:t>time step</a:t>
                </a:r>
              </a:p>
            </c:rich>
          </c:tx>
          <c:layout/>
          <c:overlay val="0"/>
        </c:title>
        <c:numFmt formatCode="General" sourceLinked="1"/>
        <c:majorTickMark val="out"/>
        <c:minorTickMark val="none"/>
        <c:tickLblPos val="low"/>
        <c:spPr>
          <a:ln w="12700" cap="flat">
            <a:solidFill>
              <a:srgbClr val="C9D0DA"/>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solidFill>
                <a:srgbClr val="4A55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c:v>
                </c:pt>
              </c:strCache>
            </c:strRef>
          </c:tx>
          <c:spPr>
            <a:solidFill>
              <a:srgbClr val="B9C2CF"/>
            </a:solidFill>
            <a:ln w="28575" cap="flat">
              <a:solidFill>
                <a:srgbClr val="B9C2C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9C2CF"/>
              </a:solidFill>
              <a:ln w="9525" cap="flat">
                <a:solidFill>
                  <a:srgbClr val="B9C2CF"/>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6</c:v>
                </c:pt>
                <c:pt idx="1">
                  <c:v>7</c:v>
                </c:pt>
                <c:pt idx="2">
                  <c:v>7</c:v>
                </c:pt>
                <c:pt idx="3">
                  <c:v>7</c:v>
                </c:pt>
                <c:pt idx="4">
                  <c:v>5</c:v>
                </c:pt>
                <c:pt idx="5">
                  <c:v>6</c:v>
                </c:pt>
                <c:pt idx="6">
                  <c:v>20</c:v>
                </c:pt>
                <c:pt idx="7">
                  <c:v>34</c:v>
                </c:pt>
                <c:pt idx="8">
                  <c:v>35</c:v>
                </c:pt>
                <c:pt idx="9">
                  <c:v>33</c:v>
                </c:pt>
                <c:pt idx="10">
                  <c:v>35</c:v>
                </c:pt>
                <c:pt idx="11">
                  <c:v>32</c:v>
                </c:pt>
              </c:numCache>
            </c:numRef>
          </c:val>
          <c:smooth val="0"/>
        </c:ser>
        <c:ser>
          <c:idx val="1"/>
          <c:order val="1"/>
          <c:tx>
            <c:strRef>
              <c:f>Sheet1!$C$1</c:f>
              <c:strCache>
                <c:ptCount val="1"/>
                <c:pt idx="0">
                  <c:v>Half exchange</c:v>
                </c:pt>
              </c:strCache>
            </c:strRef>
          </c:tx>
          <c:spPr>
            <a:solidFill>
              <a:srgbClr val="D98324"/>
            </a:solidFill>
            <a:ln w="28575" cap="flat">
              <a:solidFill>
                <a:srgbClr val="D983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98324"/>
              </a:solidFill>
              <a:ln w="9525" cap="flat">
                <a:solidFill>
                  <a:srgbClr val="D98324"/>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Sheet1!$C$2:$C$13</c:f>
              <c:numCache>
                <c:formatCode>General</c:formatCode>
                <c:ptCount val="12"/>
                <c:pt idx="0">
                  <c:v>20</c:v>
                </c:pt>
                <c:pt idx="1">
                  <c:v>34</c:v>
                </c:pt>
                <c:pt idx="2">
                  <c:v>35</c:v>
                </c:pt>
                <c:pt idx="3">
                  <c:v>33</c:v>
                </c:pt>
                <c:pt idx="4">
                  <c:v>35</c:v>
                </c:pt>
                <c:pt idx="5">
                  <c:v>32</c:v>
                </c:pt>
                <c:pt idx="6">
                  <c:v>6</c:v>
                </c:pt>
                <c:pt idx="7">
                  <c:v>7</c:v>
                </c:pt>
                <c:pt idx="8">
                  <c:v>7</c:v>
                </c:pt>
                <c:pt idx="9">
                  <c:v>7</c:v>
                </c:pt>
                <c:pt idx="10">
                  <c:v>5</c:v>
                </c:pt>
                <c:pt idx="11">
                  <c:v>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4A5568"/>
                    </a:solidFill>
                    <a:latin typeface="+mn-lt"/>
                  </a:defRPr>
                </a:pPr>
                <a:r>
                  <a:rPr sz="1000" b="0" i="0" u="none" strike="noStrike">
                    <a:solidFill>
                      <a:srgbClr val="4A5568"/>
                    </a:solidFill>
                    <a:latin typeface="+mn-lt"/>
                  </a:rPr>
                  <a:t>time step</a:t>
                </a:r>
              </a:p>
            </c:rich>
          </c:tx>
          <c:layout/>
          <c:overlay val="0"/>
        </c:title>
        <c:numFmt formatCode="General" sourceLinked="1"/>
        <c:majorTickMark val="out"/>
        <c:minorTickMark val="none"/>
        <c:tickLblPos val="low"/>
        <c:spPr>
          <a:ln w="12700" cap="flat">
            <a:solidFill>
              <a:srgbClr val="C9D0DA"/>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solidFill>
                <a:srgbClr val="4A55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c:v>
                </c:pt>
              </c:strCache>
            </c:strRef>
          </c:tx>
          <c:spPr>
            <a:solidFill>
              <a:srgbClr val="B9C2CF"/>
            </a:solidFill>
            <a:ln w="28575" cap="flat">
              <a:solidFill>
                <a:srgbClr val="B9C2C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9C2CF"/>
              </a:solidFill>
              <a:ln w="9525" cap="flat">
                <a:solidFill>
                  <a:srgbClr val="B9C2CF"/>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6</c:v>
                </c:pt>
                <c:pt idx="1">
                  <c:v>7</c:v>
                </c:pt>
                <c:pt idx="2">
                  <c:v>7</c:v>
                </c:pt>
                <c:pt idx="3">
                  <c:v>7</c:v>
                </c:pt>
                <c:pt idx="4">
                  <c:v>5</c:v>
                </c:pt>
                <c:pt idx="5">
                  <c:v>6</c:v>
                </c:pt>
                <c:pt idx="6">
                  <c:v>20</c:v>
                </c:pt>
                <c:pt idx="7">
                  <c:v>34</c:v>
                </c:pt>
                <c:pt idx="8">
                  <c:v>35</c:v>
                </c:pt>
                <c:pt idx="9">
                  <c:v>33</c:v>
                </c:pt>
                <c:pt idx="10">
                  <c:v>35</c:v>
                </c:pt>
                <c:pt idx="11">
                  <c:v>32</c:v>
                </c:pt>
              </c:numCache>
            </c:numRef>
          </c:val>
          <c:smooth val="0"/>
        </c:ser>
        <c:ser>
          <c:idx val="1"/>
          <c:order val="1"/>
          <c:tx>
            <c:strRef>
              <c:f>Sheet1!$C$1</c:f>
              <c:strCache>
                <c:ptCount val="1"/>
                <c:pt idx="0">
                  <c:v>Masking</c:v>
                </c:pt>
              </c:strCache>
            </c:strRef>
          </c:tx>
          <c:spPr>
            <a:solidFill>
              <a:srgbClr val="7B61A8"/>
            </a:solidFill>
            <a:ln w="28575" cap="flat">
              <a:solidFill>
                <a:srgbClr val="7B61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B61A8"/>
              </a:solidFill>
              <a:ln w="9525" cap="flat">
                <a:solidFill>
                  <a:srgbClr val="7B61A8"/>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Sheet1!$C$2:$C$13</c:f>
              <c:numCache>
                <c:formatCode>General</c:formatCode>
                <c:ptCount val="12"/>
                <c:pt idx="0">
                  <c:v>18.916666666666668</c:v>
                </c:pt>
                <c:pt idx="1">
                  <c:v>7</c:v>
                </c:pt>
                <c:pt idx="2">
                  <c:v>7</c:v>
                </c:pt>
                <c:pt idx="3">
                  <c:v>7</c:v>
                </c:pt>
                <c:pt idx="4">
                  <c:v>5</c:v>
                </c:pt>
                <c:pt idx="5">
                  <c:v>6</c:v>
                </c:pt>
                <c:pt idx="6">
                  <c:v>20</c:v>
                </c:pt>
                <c:pt idx="7">
                  <c:v>34</c:v>
                </c:pt>
                <c:pt idx="8">
                  <c:v>35</c:v>
                </c:pt>
                <c:pt idx="9">
                  <c:v>33</c:v>
                </c:pt>
                <c:pt idx="10">
                  <c:v>35</c:v>
                </c:pt>
                <c:pt idx="11">
                  <c:v>18.916666666666668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4A5568"/>
                    </a:solidFill>
                    <a:latin typeface="+mn-lt"/>
                  </a:defRPr>
                </a:pPr>
                <a:r>
                  <a:rPr sz="1000" b="0" i="0" u="none" strike="noStrike">
                    <a:solidFill>
                      <a:srgbClr val="4A5568"/>
                    </a:solidFill>
                    <a:latin typeface="+mn-lt"/>
                  </a:rPr>
                  <a:t>time step</a:t>
                </a:r>
              </a:p>
            </c:rich>
          </c:tx>
          <c:layout/>
          <c:overlay val="0"/>
        </c:title>
        <c:numFmt formatCode="General" sourceLinked="1"/>
        <c:majorTickMark val="out"/>
        <c:minorTickMark val="none"/>
        <c:tickLblPos val="low"/>
        <c:spPr>
          <a:ln w="12700" cap="flat">
            <a:solidFill>
              <a:srgbClr val="C9D0DA"/>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solidFill>
                <a:srgbClr val="4A55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2364F"/>
                </a:solidFill>
                <a:latin typeface="+mn-lt"/>
              </a:defRPr>
            </a:pPr>
            <a:r>
              <a:rPr sz="1100" b="0" i="0" u="none" strike="noStrike">
                <a:solidFill>
                  <a:srgbClr val="22364F"/>
                </a:solidFill>
                <a:latin typeface="+mn-lt"/>
              </a:rPr>
              <a:t>Full shuffle: rank 1 → 459</a:t>
            </a:r>
          </a:p>
        </c:rich>
      </c:tx>
      <c:layout/>
      <c:overlay val="0"/>
    </c:title>
    <c:autoTitleDeleted val="0"/>
    <c:plotArea>
      <c:layout/>
      <c:lineChart>
        <c:varyColors val="0"/>
        <c:ser>
          <c:idx val="0"/>
          <c:order val="0"/>
          <c:tx>
            <c:strRef>
              <c:f>Sheet1!$B$1</c:f>
              <c:strCache>
                <c:ptCount val="1"/>
                <c:pt idx="0">
                  <c:v>Original</c:v>
                </c:pt>
              </c:strCache>
            </c:strRef>
          </c:tx>
          <c:spPr>
            <a:solidFill>
              <a:srgbClr val="B9C2CF"/>
            </a:solidFill>
            <a:ln w="15875" cap="flat">
              <a:solidFill>
                <a:srgbClr val="B9C2C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C2CF"/>
              </a:solidFill>
              <a:ln w="9525" cap="flat">
                <a:solidFill>
                  <a:srgbClr val="B9C2CF"/>
                </a:solidFill>
                <a:prstDash val="solid"/>
                <a:round/>
              </a:ln>
              <a:effectLst/>
            </c:spPr>
          </c:marker>
          <c:cat>
            <c:multiLvlStrRef>
              <c:f>Sheet1!$A$2:$A$181</c:f>
              <c:multiLvlStrCache>
                <c:ptCount val="18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lvl>
              </c:multiLvlStrCache>
            </c:multiLvlStrRef>
          </c:cat>
          <c:val>
            <c:numRef>
              <c:f>Sheet1!$B$2:$B$181</c:f>
              <c:numCache>
                <c:formatCode>General</c:formatCode>
                <c:ptCount val="180"/>
                <c:pt idx="0">
                  <c:v>22.37</c:v>
                </c:pt>
                <c:pt idx="1">
                  <c:v>24.9</c:v>
                </c:pt>
                <c:pt idx="2">
                  <c:v>24.12</c:v>
                </c:pt>
                <c:pt idx="3">
                  <c:v>24.85</c:v>
                </c:pt>
                <c:pt idx="4">
                  <c:v>26.67</c:v>
                </c:pt>
                <c:pt idx="5">
                  <c:v>26.15</c:v>
                </c:pt>
                <c:pt idx="6">
                  <c:v>26.62</c:v>
                </c:pt>
                <c:pt idx="7">
                  <c:v>29.53</c:v>
                </c:pt>
                <c:pt idx="8">
                  <c:v>28.47</c:v>
                </c:pt>
                <c:pt idx="9">
                  <c:v>26.41</c:v>
                </c:pt>
                <c:pt idx="10">
                  <c:v>28.02</c:v>
                </c:pt>
                <c:pt idx="11">
                  <c:v>28.08</c:v>
                </c:pt>
                <c:pt idx="12">
                  <c:v>29.63</c:v>
                </c:pt>
                <c:pt idx="13">
                  <c:v>31.33</c:v>
                </c:pt>
                <c:pt idx="14">
                  <c:v>30.02</c:v>
                </c:pt>
                <c:pt idx="15">
                  <c:v>30.36</c:v>
                </c:pt>
                <c:pt idx="16">
                  <c:v>29.14</c:v>
                </c:pt>
                <c:pt idx="17">
                  <c:v>29.1</c:v>
                </c:pt>
                <c:pt idx="18">
                  <c:v>28.01</c:v>
                </c:pt>
                <c:pt idx="19">
                  <c:v>27.46</c:v>
                </c:pt>
                <c:pt idx="20">
                  <c:v>27.2</c:v>
                </c:pt>
                <c:pt idx="21">
                  <c:v>27.15</c:v>
                </c:pt>
                <c:pt idx="22">
                  <c:v>27.43</c:v>
                </c:pt>
                <c:pt idx="23">
                  <c:v>26.8</c:v>
                </c:pt>
                <c:pt idx="24">
                  <c:v>28.42</c:v>
                </c:pt>
                <c:pt idx="25">
                  <c:v>28.42</c:v>
                </c:pt>
                <c:pt idx="26">
                  <c:v>28.1</c:v>
                </c:pt>
                <c:pt idx="27">
                  <c:v>28.17</c:v>
                </c:pt>
                <c:pt idx="28">
                  <c:v>27.4</c:v>
                </c:pt>
                <c:pt idx="29">
                  <c:v>27.65</c:v>
                </c:pt>
                <c:pt idx="30">
                  <c:v>30.07</c:v>
                </c:pt>
                <c:pt idx="31">
                  <c:v>30.84</c:v>
                </c:pt>
                <c:pt idx="32">
                  <c:v>26.55</c:v>
                </c:pt>
                <c:pt idx="33">
                  <c:v>25.7</c:v>
                </c:pt>
                <c:pt idx="34">
                  <c:v>25.76</c:v>
                </c:pt>
                <c:pt idx="35">
                  <c:v>26.18</c:v>
                </c:pt>
                <c:pt idx="36">
                  <c:v>26.67</c:v>
                </c:pt>
                <c:pt idx="37">
                  <c:v>25.5</c:v>
                </c:pt>
                <c:pt idx="38">
                  <c:v>26.32</c:v>
                </c:pt>
                <c:pt idx="39">
                  <c:v>25.84</c:v>
                </c:pt>
                <c:pt idx="40">
                  <c:v>25.79</c:v>
                </c:pt>
                <c:pt idx="41">
                  <c:v>26.7</c:v>
                </c:pt>
                <c:pt idx="42">
                  <c:v>28.15</c:v>
                </c:pt>
                <c:pt idx="43">
                  <c:v>29.98</c:v>
                </c:pt>
                <c:pt idx="44">
                  <c:v>30.39</c:v>
                </c:pt>
                <c:pt idx="45">
                  <c:v>29.79</c:v>
                </c:pt>
                <c:pt idx="46">
                  <c:v>28.96</c:v>
                </c:pt>
                <c:pt idx="47">
                  <c:v>29.17</c:v>
                </c:pt>
                <c:pt idx="48">
                  <c:v>28.73</c:v>
                </c:pt>
                <c:pt idx="49">
                  <c:v>26.77</c:v>
                </c:pt>
                <c:pt idx="50">
                  <c:v>27.65</c:v>
                </c:pt>
                <c:pt idx="51">
                  <c:v>29.54</c:v>
                </c:pt>
                <c:pt idx="52">
                  <c:v>28.59</c:v>
                </c:pt>
                <c:pt idx="53">
                  <c:v>27.3</c:v>
                </c:pt>
                <c:pt idx="54">
                  <c:v>27.03</c:v>
                </c:pt>
                <c:pt idx="55">
                  <c:v>25.78</c:v>
                </c:pt>
                <c:pt idx="56">
                  <c:v>26.15</c:v>
                </c:pt>
                <c:pt idx="57">
                  <c:v>27.17</c:v>
                </c:pt>
                <c:pt idx="58">
                  <c:v>26.76</c:v>
                </c:pt>
                <c:pt idx="59">
                  <c:v>28.59</c:v>
                </c:pt>
                <c:pt idx="60">
                  <c:v>30.33</c:v>
                </c:pt>
                <c:pt idx="61">
                  <c:v>29.9</c:v>
                </c:pt>
                <c:pt idx="62">
                  <c:v>29.51</c:v>
                </c:pt>
                <c:pt idx="63">
                  <c:v>30.52</c:v>
                </c:pt>
                <c:pt idx="64">
                  <c:v>34.6</c:v>
                </c:pt>
                <c:pt idx="65">
                  <c:v>33.49</c:v>
                </c:pt>
                <c:pt idx="66">
                  <c:v>31.15</c:v>
                </c:pt>
                <c:pt idx="67">
                  <c:v>31.37</c:v>
                </c:pt>
                <c:pt idx="68">
                  <c:v>28.98</c:v>
                </c:pt>
                <c:pt idx="69">
                  <c:v>27.91</c:v>
                </c:pt>
                <c:pt idx="70">
                  <c:v>28.42</c:v>
                </c:pt>
                <c:pt idx="71">
                  <c:v>24.31</c:v>
                </c:pt>
                <c:pt idx="72">
                  <c:v>20.85</c:v>
                </c:pt>
                <c:pt idx="73">
                  <c:v>21.06</c:v>
                </c:pt>
                <c:pt idx="74">
                  <c:v>20.68</c:v>
                </c:pt>
                <c:pt idx="75">
                  <c:v>20.79</c:v>
                </c:pt>
                <c:pt idx="76">
                  <c:v>19.19</c:v>
                </c:pt>
                <c:pt idx="77">
                  <c:v>18.62</c:v>
                </c:pt>
                <c:pt idx="78">
                  <c:v>18.94</c:v>
                </c:pt>
                <c:pt idx="79">
                  <c:v>20.23</c:v>
                </c:pt>
                <c:pt idx="80">
                  <c:v>20.25</c:v>
                </c:pt>
                <c:pt idx="81">
                  <c:v>21.62</c:v>
                </c:pt>
                <c:pt idx="82">
                  <c:v>23.98</c:v>
                </c:pt>
                <c:pt idx="83">
                  <c:v>25.31</c:v>
                </c:pt>
                <c:pt idx="84">
                  <c:v>25.9</c:v>
                </c:pt>
                <c:pt idx="85">
                  <c:v>24.1</c:v>
                </c:pt>
                <c:pt idx="86">
                  <c:v>23.21</c:v>
                </c:pt>
                <c:pt idx="87">
                  <c:v>22.83</c:v>
                </c:pt>
                <c:pt idx="88">
                  <c:v>22.75</c:v>
                </c:pt>
                <c:pt idx="89">
                  <c:v>22.64</c:v>
                </c:pt>
                <c:pt idx="90">
                  <c:v>20.35</c:v>
                </c:pt>
                <c:pt idx="91">
                  <c:v>21.01</c:v>
                </c:pt>
                <c:pt idx="92">
                  <c:v>21.39</c:v>
                </c:pt>
                <c:pt idx="93">
                  <c:v>22.57</c:v>
                </c:pt>
                <c:pt idx="94">
                  <c:v>23.33</c:v>
                </c:pt>
                <c:pt idx="95">
                  <c:v>22.89</c:v>
                </c:pt>
                <c:pt idx="96">
                  <c:v>23.56</c:v>
                </c:pt>
                <c:pt idx="97">
                  <c:v>23.42</c:v>
                </c:pt>
                <c:pt idx="98">
                  <c:v>22.32</c:v>
                </c:pt>
                <c:pt idx="99">
                  <c:v>22.52</c:v>
                </c:pt>
                <c:pt idx="100">
                  <c:v>21.08</c:v>
                </c:pt>
                <c:pt idx="101">
                  <c:v>19.95</c:v>
                </c:pt>
                <c:pt idx="102">
                  <c:v>20.18</c:v>
                </c:pt>
                <c:pt idx="103">
                  <c:v>19.49</c:v>
                </c:pt>
                <c:pt idx="104">
                  <c:v>17.27</c:v>
                </c:pt>
                <c:pt idx="105">
                  <c:v>17.64</c:v>
                </c:pt>
                <c:pt idx="106">
                  <c:v>19.03</c:v>
                </c:pt>
                <c:pt idx="107">
                  <c:v>20.51</c:v>
                </c:pt>
                <c:pt idx="108">
                  <c:v>20.87</c:v>
                </c:pt>
                <c:pt idx="109">
                  <c:v>20.75</c:v>
                </c:pt>
                <c:pt idx="110">
                  <c:v>17.76</c:v>
                </c:pt>
                <c:pt idx="111">
                  <c:v>13.18</c:v>
                </c:pt>
                <c:pt idx="112">
                  <c:v>13.09</c:v>
                </c:pt>
                <c:pt idx="113">
                  <c:v>15</c:v>
                </c:pt>
                <c:pt idx="114">
                  <c:v>13.29</c:v>
                </c:pt>
                <c:pt idx="115">
                  <c:v>12.55</c:v>
                </c:pt>
                <c:pt idx="116">
                  <c:v>15.61</c:v>
                </c:pt>
                <c:pt idx="117">
                  <c:v>13.87</c:v>
                </c:pt>
                <c:pt idx="118">
                  <c:v>14.03</c:v>
                </c:pt>
                <c:pt idx="119">
                  <c:v>14</c:v>
                </c:pt>
                <c:pt idx="120">
                  <c:v>12.05</c:v>
                </c:pt>
                <c:pt idx="121">
                  <c:v>9.9</c:v>
                </c:pt>
                <c:pt idx="122">
                  <c:v>8.01</c:v>
                </c:pt>
                <c:pt idx="123">
                  <c:v>9</c:v>
                </c:pt>
                <c:pt idx="124">
                  <c:v>11.9</c:v>
                </c:pt>
                <c:pt idx="125">
                  <c:v>14.47</c:v>
                </c:pt>
                <c:pt idx="126">
                  <c:v>11.07</c:v>
                </c:pt>
                <c:pt idx="127">
                  <c:v>10.43</c:v>
                </c:pt>
                <c:pt idx="128">
                  <c:v>9.43</c:v>
                </c:pt>
                <c:pt idx="129">
                  <c:v>5.77</c:v>
                </c:pt>
                <c:pt idx="130">
                  <c:v>8.16</c:v>
                </c:pt>
                <c:pt idx="131">
                  <c:v>6.67</c:v>
                </c:pt>
                <c:pt idx="132">
                  <c:v>8.24</c:v>
                </c:pt>
                <c:pt idx="133">
                  <c:v>8.08</c:v>
                </c:pt>
                <c:pt idx="134">
                  <c:v>5.87</c:v>
                </c:pt>
                <c:pt idx="135">
                  <c:v>8.83</c:v>
                </c:pt>
                <c:pt idx="136">
                  <c:v>8.92</c:v>
                </c:pt>
                <c:pt idx="137">
                  <c:v>7.79</c:v>
                </c:pt>
                <c:pt idx="138">
                  <c:v>5.99</c:v>
                </c:pt>
                <c:pt idx="139">
                  <c:v>7.96</c:v>
                </c:pt>
                <c:pt idx="140">
                  <c:v>3.54</c:v>
                </c:pt>
                <c:pt idx="141">
                  <c:v>8.64</c:v>
                </c:pt>
                <c:pt idx="142">
                  <c:v>8.43</c:v>
                </c:pt>
                <c:pt idx="143">
                  <c:v>9.77</c:v>
                </c:pt>
                <c:pt idx="144">
                  <c:v>9.7</c:v>
                </c:pt>
                <c:pt idx="145">
                  <c:v>9.11</c:v>
                </c:pt>
                <c:pt idx="146">
                  <c:v>9.06</c:v>
                </c:pt>
                <c:pt idx="147">
                  <c:v>9.1</c:v>
                </c:pt>
                <c:pt idx="148">
                  <c:v>6.4</c:v>
                </c:pt>
                <c:pt idx="149">
                  <c:v>8.72</c:v>
                </c:pt>
                <c:pt idx="150">
                  <c:v>9.1</c:v>
                </c:pt>
                <c:pt idx="151">
                  <c:v>5.88</c:v>
                </c:pt>
                <c:pt idx="152">
                  <c:v>10.3</c:v>
                </c:pt>
                <c:pt idx="153">
                  <c:v>13</c:v>
                </c:pt>
                <c:pt idx="154">
                  <c:v>11.12</c:v>
                </c:pt>
                <c:pt idx="155">
                  <c:v>8.58</c:v>
                </c:pt>
                <c:pt idx="156">
                  <c:v>6.19</c:v>
                </c:pt>
                <c:pt idx="157">
                  <c:v>5.17</c:v>
                </c:pt>
                <c:pt idx="158">
                  <c:v>11.86</c:v>
                </c:pt>
                <c:pt idx="159">
                  <c:v>12.62</c:v>
                </c:pt>
                <c:pt idx="160">
                  <c:v>9.93</c:v>
                </c:pt>
                <c:pt idx="161">
                  <c:v>8.13</c:v>
                </c:pt>
                <c:pt idx="162">
                  <c:v>4.61</c:v>
                </c:pt>
                <c:pt idx="163">
                  <c:v>5.57</c:v>
                </c:pt>
                <c:pt idx="164">
                  <c:v>3.95</c:v>
                </c:pt>
                <c:pt idx="165">
                  <c:v>4.25</c:v>
                </c:pt>
                <c:pt idx="166">
                  <c:v>2.05</c:v>
                </c:pt>
                <c:pt idx="167">
                  <c:v>4.1</c:v>
                </c:pt>
                <c:pt idx="168">
                  <c:v>3.69</c:v>
                </c:pt>
                <c:pt idx="169">
                  <c:v>5.1</c:v>
                </c:pt>
                <c:pt idx="170">
                  <c:v>4.81</c:v>
                </c:pt>
                <c:pt idx="171">
                  <c:v>4.35</c:v>
                </c:pt>
                <c:pt idx="172">
                  <c:v>4.34</c:v>
                </c:pt>
                <c:pt idx="173">
                  <c:v>4.8</c:v>
                </c:pt>
                <c:pt idx="174">
                  <c:v>5.67</c:v>
                </c:pt>
                <c:pt idx="175">
                  <c:v>6.39</c:v>
                </c:pt>
                <c:pt idx="176">
                  <c:v>11.12</c:v>
                </c:pt>
                <c:pt idx="177">
                  <c:v>8.51</c:v>
                </c:pt>
                <c:pt idx="178">
                  <c:v>9.84</c:v>
                </c:pt>
                <c:pt idx="179">
                  <c:v>12.27</c:v>
                </c:pt>
              </c:numCache>
            </c:numRef>
          </c:val>
          <c:smooth val="0"/>
        </c:ser>
        <c:ser>
          <c:idx val="1"/>
          <c:order val="1"/>
          <c:tx>
            <c:strRef>
              <c:f>Sheet1!$C$1</c:f>
              <c:strCache>
                <c:ptCount val="1"/>
                <c:pt idx="0">
                  <c:v>Full shuffle</c:v>
                </c:pt>
              </c:strCache>
            </c:strRef>
          </c:tx>
          <c:spPr>
            <a:solidFill>
              <a:srgbClr val="22364F"/>
            </a:solidFill>
            <a:ln w="15875" cap="flat">
              <a:solidFill>
                <a:srgbClr val="22364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2364F"/>
              </a:solidFill>
              <a:ln w="9525" cap="flat">
                <a:solidFill>
                  <a:srgbClr val="22364F"/>
                </a:solidFill>
                <a:prstDash val="solid"/>
                <a:round/>
              </a:ln>
              <a:effectLst/>
            </c:spPr>
          </c:marker>
          <c:cat>
            <c:multiLvlStrRef>
              <c:f>Sheet1!$A$2:$A$181</c:f>
              <c:multiLvlStrCache>
                <c:ptCount val="18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lvl>
              </c:multiLvlStrCache>
            </c:multiLvlStrRef>
          </c:cat>
          <c:val>
            <c:numRef>
              <c:f>Sheet1!$C$2:$C$181</c:f>
              <c:numCache>
                <c:formatCode>General</c:formatCode>
                <c:ptCount val="180"/>
                <c:pt idx="0">
                  <c:v>5.17</c:v>
                </c:pt>
                <c:pt idx="1">
                  <c:v>19.03</c:v>
                </c:pt>
                <c:pt idx="2">
                  <c:v>3.95</c:v>
                </c:pt>
                <c:pt idx="3">
                  <c:v>13.18</c:v>
                </c:pt>
                <c:pt idx="4">
                  <c:v>27.15</c:v>
                </c:pt>
                <c:pt idx="5">
                  <c:v>21.08</c:v>
                </c:pt>
                <c:pt idx="6">
                  <c:v>6.19</c:v>
                </c:pt>
                <c:pt idx="7">
                  <c:v>28.17</c:v>
                </c:pt>
                <c:pt idx="8">
                  <c:v>21.39</c:v>
                </c:pt>
                <c:pt idx="9">
                  <c:v>28.1</c:v>
                </c:pt>
                <c:pt idx="10">
                  <c:v>5.1</c:v>
                </c:pt>
                <c:pt idx="11">
                  <c:v>13</c:v>
                </c:pt>
                <c:pt idx="12">
                  <c:v>29.54</c:v>
                </c:pt>
                <c:pt idx="13">
                  <c:v>9.84</c:v>
                </c:pt>
                <c:pt idx="14">
                  <c:v>26.77</c:v>
                </c:pt>
                <c:pt idx="15">
                  <c:v>29.53</c:v>
                </c:pt>
                <c:pt idx="16">
                  <c:v>4.61</c:v>
                </c:pt>
                <c:pt idx="17">
                  <c:v>29.98</c:v>
                </c:pt>
                <c:pt idx="18">
                  <c:v>8.58</c:v>
                </c:pt>
                <c:pt idx="19">
                  <c:v>30.84</c:v>
                </c:pt>
                <c:pt idx="20">
                  <c:v>29.14</c:v>
                </c:pt>
                <c:pt idx="21">
                  <c:v>28.96</c:v>
                </c:pt>
                <c:pt idx="22">
                  <c:v>22.64</c:v>
                </c:pt>
                <c:pt idx="23">
                  <c:v>3.54</c:v>
                </c:pt>
                <c:pt idx="24">
                  <c:v>29.79</c:v>
                </c:pt>
                <c:pt idx="25">
                  <c:v>25.78</c:v>
                </c:pt>
                <c:pt idx="26">
                  <c:v>8.16</c:v>
                </c:pt>
                <c:pt idx="27">
                  <c:v>13.87</c:v>
                </c:pt>
                <c:pt idx="28">
                  <c:v>20.35</c:v>
                </c:pt>
                <c:pt idx="29">
                  <c:v>17.27</c:v>
                </c:pt>
                <c:pt idx="30">
                  <c:v>6.39</c:v>
                </c:pt>
                <c:pt idx="31">
                  <c:v>26.76</c:v>
                </c:pt>
                <c:pt idx="32">
                  <c:v>9.77</c:v>
                </c:pt>
                <c:pt idx="33">
                  <c:v>28.08</c:v>
                </c:pt>
                <c:pt idx="34">
                  <c:v>10.3</c:v>
                </c:pt>
                <c:pt idx="35">
                  <c:v>4.1</c:v>
                </c:pt>
                <c:pt idx="36">
                  <c:v>29.51</c:v>
                </c:pt>
                <c:pt idx="37">
                  <c:v>18.62</c:v>
                </c:pt>
                <c:pt idx="38">
                  <c:v>21.01</c:v>
                </c:pt>
                <c:pt idx="39">
                  <c:v>28.59</c:v>
                </c:pt>
                <c:pt idx="40">
                  <c:v>28.42</c:v>
                </c:pt>
                <c:pt idx="41">
                  <c:v>26.41</c:v>
                </c:pt>
                <c:pt idx="42">
                  <c:v>24.12</c:v>
                </c:pt>
                <c:pt idx="43">
                  <c:v>26.62</c:v>
                </c:pt>
                <c:pt idx="44">
                  <c:v>22.37</c:v>
                </c:pt>
                <c:pt idx="45">
                  <c:v>26.32</c:v>
                </c:pt>
                <c:pt idx="46">
                  <c:v>6.4</c:v>
                </c:pt>
                <c:pt idx="47">
                  <c:v>28.47</c:v>
                </c:pt>
                <c:pt idx="48">
                  <c:v>20.23</c:v>
                </c:pt>
                <c:pt idx="49">
                  <c:v>11.86</c:v>
                </c:pt>
                <c:pt idx="50">
                  <c:v>20.25</c:v>
                </c:pt>
                <c:pt idx="51">
                  <c:v>23.33</c:v>
                </c:pt>
                <c:pt idx="52">
                  <c:v>27.65</c:v>
                </c:pt>
                <c:pt idx="53">
                  <c:v>25.76</c:v>
                </c:pt>
                <c:pt idx="54">
                  <c:v>25.79</c:v>
                </c:pt>
                <c:pt idx="55">
                  <c:v>26.7</c:v>
                </c:pt>
                <c:pt idx="56">
                  <c:v>8.51</c:v>
                </c:pt>
                <c:pt idx="57">
                  <c:v>28.73</c:v>
                </c:pt>
                <c:pt idx="58">
                  <c:v>6.67</c:v>
                </c:pt>
                <c:pt idx="59">
                  <c:v>4.8</c:v>
                </c:pt>
                <c:pt idx="60">
                  <c:v>23.56</c:v>
                </c:pt>
                <c:pt idx="61">
                  <c:v>28.42</c:v>
                </c:pt>
                <c:pt idx="62">
                  <c:v>28.98</c:v>
                </c:pt>
                <c:pt idx="63">
                  <c:v>31.33</c:v>
                </c:pt>
                <c:pt idx="64">
                  <c:v>33.49</c:v>
                </c:pt>
                <c:pt idx="65">
                  <c:v>17.76</c:v>
                </c:pt>
                <c:pt idx="66">
                  <c:v>30.07</c:v>
                </c:pt>
                <c:pt idx="67">
                  <c:v>7.96</c:v>
                </c:pt>
                <c:pt idx="68">
                  <c:v>20.18</c:v>
                </c:pt>
                <c:pt idx="69">
                  <c:v>30.36</c:v>
                </c:pt>
                <c:pt idx="70">
                  <c:v>22.32</c:v>
                </c:pt>
                <c:pt idx="71">
                  <c:v>30.52</c:v>
                </c:pt>
                <c:pt idx="72">
                  <c:v>23.21</c:v>
                </c:pt>
                <c:pt idx="73">
                  <c:v>4.34</c:v>
                </c:pt>
                <c:pt idx="74">
                  <c:v>12.05</c:v>
                </c:pt>
                <c:pt idx="75">
                  <c:v>9.1</c:v>
                </c:pt>
                <c:pt idx="76">
                  <c:v>20.87</c:v>
                </c:pt>
                <c:pt idx="77">
                  <c:v>24.1</c:v>
                </c:pt>
                <c:pt idx="78">
                  <c:v>8.13</c:v>
                </c:pt>
                <c:pt idx="79">
                  <c:v>13.29</c:v>
                </c:pt>
                <c:pt idx="80">
                  <c:v>14</c:v>
                </c:pt>
                <c:pt idx="81">
                  <c:v>29.1</c:v>
                </c:pt>
                <c:pt idx="82">
                  <c:v>15.61</c:v>
                </c:pt>
                <c:pt idx="83">
                  <c:v>28.59</c:v>
                </c:pt>
                <c:pt idx="84">
                  <c:v>27.17</c:v>
                </c:pt>
                <c:pt idx="85">
                  <c:v>9.7</c:v>
                </c:pt>
                <c:pt idx="86">
                  <c:v>5.87</c:v>
                </c:pt>
                <c:pt idx="87">
                  <c:v>26.55</c:v>
                </c:pt>
                <c:pt idx="88">
                  <c:v>11.12</c:v>
                </c:pt>
                <c:pt idx="89">
                  <c:v>12.27</c:v>
                </c:pt>
                <c:pt idx="90">
                  <c:v>5.99</c:v>
                </c:pt>
                <c:pt idx="91">
                  <c:v>25.84</c:v>
                </c:pt>
                <c:pt idx="92">
                  <c:v>29.9</c:v>
                </c:pt>
                <c:pt idx="93">
                  <c:v>4.25</c:v>
                </c:pt>
                <c:pt idx="94">
                  <c:v>21.62</c:v>
                </c:pt>
                <c:pt idx="95">
                  <c:v>30.33</c:v>
                </c:pt>
                <c:pt idx="96">
                  <c:v>27.43</c:v>
                </c:pt>
                <c:pt idx="97">
                  <c:v>27.2</c:v>
                </c:pt>
                <c:pt idx="98">
                  <c:v>11.9</c:v>
                </c:pt>
                <c:pt idx="99">
                  <c:v>26.15</c:v>
                </c:pt>
                <c:pt idx="100">
                  <c:v>10.43</c:v>
                </c:pt>
                <c:pt idx="101">
                  <c:v>27.65</c:v>
                </c:pt>
                <c:pt idx="102">
                  <c:v>8.92</c:v>
                </c:pt>
                <c:pt idx="103">
                  <c:v>5.88</c:v>
                </c:pt>
                <c:pt idx="104">
                  <c:v>23.98</c:v>
                </c:pt>
                <c:pt idx="105">
                  <c:v>29.63</c:v>
                </c:pt>
                <c:pt idx="106">
                  <c:v>26.67</c:v>
                </c:pt>
                <c:pt idx="107">
                  <c:v>12.62</c:v>
                </c:pt>
                <c:pt idx="108">
                  <c:v>28.42</c:v>
                </c:pt>
                <c:pt idx="109">
                  <c:v>9.11</c:v>
                </c:pt>
                <c:pt idx="110">
                  <c:v>34.6</c:v>
                </c:pt>
                <c:pt idx="111">
                  <c:v>20.85</c:v>
                </c:pt>
                <c:pt idx="112">
                  <c:v>25.9</c:v>
                </c:pt>
                <c:pt idx="113">
                  <c:v>22.52</c:v>
                </c:pt>
                <c:pt idx="114">
                  <c:v>11.07</c:v>
                </c:pt>
                <c:pt idx="115">
                  <c:v>31.37</c:v>
                </c:pt>
                <c:pt idx="116">
                  <c:v>27.3</c:v>
                </c:pt>
                <c:pt idx="117">
                  <c:v>27.46</c:v>
                </c:pt>
                <c:pt idx="118">
                  <c:v>8.72</c:v>
                </c:pt>
                <c:pt idx="119">
                  <c:v>9.93</c:v>
                </c:pt>
                <c:pt idx="120">
                  <c:v>9.43</c:v>
                </c:pt>
                <c:pt idx="121">
                  <c:v>5.57</c:v>
                </c:pt>
                <c:pt idx="122">
                  <c:v>11.12</c:v>
                </c:pt>
                <c:pt idx="123">
                  <c:v>26.67</c:v>
                </c:pt>
                <c:pt idx="124">
                  <c:v>15</c:v>
                </c:pt>
                <c:pt idx="125">
                  <c:v>14.47</c:v>
                </c:pt>
                <c:pt idx="126">
                  <c:v>20.75</c:v>
                </c:pt>
                <c:pt idx="127">
                  <c:v>24.31</c:v>
                </c:pt>
                <c:pt idx="128">
                  <c:v>2.05</c:v>
                </c:pt>
                <c:pt idx="129">
                  <c:v>13.09</c:v>
                </c:pt>
                <c:pt idx="130">
                  <c:v>14.03</c:v>
                </c:pt>
                <c:pt idx="131">
                  <c:v>27.4</c:v>
                </c:pt>
                <c:pt idx="132">
                  <c:v>22.83</c:v>
                </c:pt>
                <c:pt idx="133">
                  <c:v>12.55</c:v>
                </c:pt>
                <c:pt idx="134">
                  <c:v>30.02</c:v>
                </c:pt>
                <c:pt idx="135">
                  <c:v>25.31</c:v>
                </c:pt>
                <c:pt idx="136">
                  <c:v>9.06</c:v>
                </c:pt>
                <c:pt idx="137">
                  <c:v>22.89</c:v>
                </c:pt>
                <c:pt idx="138">
                  <c:v>19.19</c:v>
                </c:pt>
                <c:pt idx="139">
                  <c:v>22.57</c:v>
                </c:pt>
                <c:pt idx="140">
                  <c:v>20.79</c:v>
                </c:pt>
                <c:pt idx="141">
                  <c:v>26.8</c:v>
                </c:pt>
                <c:pt idx="142">
                  <c:v>8.08</c:v>
                </c:pt>
                <c:pt idx="143">
                  <c:v>5.77</c:v>
                </c:pt>
                <c:pt idx="144">
                  <c:v>21.06</c:v>
                </c:pt>
                <c:pt idx="145">
                  <c:v>4.35</c:v>
                </c:pt>
                <c:pt idx="146">
                  <c:v>9</c:v>
                </c:pt>
                <c:pt idx="147">
                  <c:v>8.64</c:v>
                </c:pt>
                <c:pt idx="148">
                  <c:v>5.67</c:v>
                </c:pt>
                <c:pt idx="149">
                  <c:v>8.83</c:v>
                </c:pt>
                <c:pt idx="150">
                  <c:v>28.15</c:v>
                </c:pt>
                <c:pt idx="151">
                  <c:v>31.15</c:v>
                </c:pt>
                <c:pt idx="152">
                  <c:v>9.9</c:v>
                </c:pt>
                <c:pt idx="153">
                  <c:v>25.7</c:v>
                </c:pt>
                <c:pt idx="154">
                  <c:v>8.01</c:v>
                </c:pt>
                <c:pt idx="155">
                  <c:v>24.9</c:v>
                </c:pt>
                <c:pt idx="156">
                  <c:v>7.79</c:v>
                </c:pt>
                <c:pt idx="157">
                  <c:v>17.64</c:v>
                </c:pt>
                <c:pt idx="158">
                  <c:v>9.1</c:v>
                </c:pt>
                <c:pt idx="159">
                  <c:v>30.39</c:v>
                </c:pt>
                <c:pt idx="160">
                  <c:v>4.81</c:v>
                </c:pt>
                <c:pt idx="161">
                  <c:v>19.95</c:v>
                </c:pt>
                <c:pt idx="162">
                  <c:v>20.68</c:v>
                </c:pt>
                <c:pt idx="163">
                  <c:v>8.43</c:v>
                </c:pt>
                <c:pt idx="164">
                  <c:v>29.17</c:v>
                </c:pt>
                <c:pt idx="165">
                  <c:v>18.94</c:v>
                </c:pt>
                <c:pt idx="166">
                  <c:v>20.51</c:v>
                </c:pt>
                <c:pt idx="167">
                  <c:v>28.02</c:v>
                </c:pt>
                <c:pt idx="168">
                  <c:v>24.85</c:v>
                </c:pt>
                <c:pt idx="169">
                  <c:v>27.91</c:v>
                </c:pt>
                <c:pt idx="170">
                  <c:v>22.75</c:v>
                </c:pt>
                <c:pt idx="171">
                  <c:v>26.18</c:v>
                </c:pt>
                <c:pt idx="172">
                  <c:v>23.42</c:v>
                </c:pt>
                <c:pt idx="173">
                  <c:v>27.03</c:v>
                </c:pt>
                <c:pt idx="174">
                  <c:v>19.49</c:v>
                </c:pt>
                <c:pt idx="175">
                  <c:v>25.5</c:v>
                </c:pt>
                <c:pt idx="176">
                  <c:v>8.24</c:v>
                </c:pt>
                <c:pt idx="177">
                  <c:v>3.69</c:v>
                </c:pt>
                <c:pt idx="178">
                  <c:v>26.15</c:v>
                </c:pt>
                <c:pt idx="179">
                  <c:v>28.01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C9D0DA"/>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4A5568"/>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8A80"/>
                </a:solidFill>
                <a:latin typeface="+mn-lt"/>
              </a:defRPr>
            </a:pPr>
            <a:r>
              <a:rPr sz="1100" b="0" i="0" u="none" strike="noStrike">
                <a:solidFill>
                  <a:srgbClr val="1F8A80"/>
                </a:solidFill>
                <a:latin typeface="+mn-lt"/>
              </a:rPr>
              <a:t>First-half shuffle: rank 1 → 15</a:t>
            </a:r>
          </a:p>
        </c:rich>
      </c:tx>
      <c:layout/>
      <c:overlay val="0"/>
    </c:title>
    <c:autoTitleDeleted val="0"/>
    <c:plotArea>
      <c:layout/>
      <c:lineChart>
        <c:varyColors val="0"/>
        <c:ser>
          <c:idx val="0"/>
          <c:order val="0"/>
          <c:tx>
            <c:strRef>
              <c:f>Sheet1!$B$1</c:f>
              <c:strCache>
                <c:ptCount val="1"/>
                <c:pt idx="0">
                  <c:v>Original</c:v>
                </c:pt>
              </c:strCache>
            </c:strRef>
          </c:tx>
          <c:spPr>
            <a:solidFill>
              <a:srgbClr val="B9C2CF"/>
            </a:solidFill>
            <a:ln w="15875" cap="flat">
              <a:solidFill>
                <a:srgbClr val="B9C2C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C2CF"/>
              </a:solidFill>
              <a:ln w="9525" cap="flat">
                <a:solidFill>
                  <a:srgbClr val="B9C2CF"/>
                </a:solidFill>
                <a:prstDash val="solid"/>
                <a:round/>
              </a:ln>
              <a:effectLst/>
            </c:spPr>
          </c:marker>
          <c:cat>
            <c:multiLvlStrRef>
              <c:f>Sheet1!$A$2:$A$181</c:f>
              <c:multiLvlStrCache>
                <c:ptCount val="18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lvl>
              </c:multiLvlStrCache>
            </c:multiLvlStrRef>
          </c:cat>
          <c:val>
            <c:numRef>
              <c:f>Sheet1!$B$2:$B$181</c:f>
              <c:numCache>
                <c:formatCode>General</c:formatCode>
                <c:ptCount val="180"/>
                <c:pt idx="0">
                  <c:v>22.37</c:v>
                </c:pt>
                <c:pt idx="1">
                  <c:v>24.9</c:v>
                </c:pt>
                <c:pt idx="2">
                  <c:v>24.12</c:v>
                </c:pt>
                <c:pt idx="3">
                  <c:v>24.85</c:v>
                </c:pt>
                <c:pt idx="4">
                  <c:v>26.67</c:v>
                </c:pt>
                <c:pt idx="5">
                  <c:v>26.15</c:v>
                </c:pt>
                <c:pt idx="6">
                  <c:v>26.62</c:v>
                </c:pt>
                <c:pt idx="7">
                  <c:v>29.53</c:v>
                </c:pt>
                <c:pt idx="8">
                  <c:v>28.47</c:v>
                </c:pt>
                <c:pt idx="9">
                  <c:v>26.41</c:v>
                </c:pt>
                <c:pt idx="10">
                  <c:v>28.02</c:v>
                </c:pt>
                <c:pt idx="11">
                  <c:v>28.08</c:v>
                </c:pt>
                <c:pt idx="12">
                  <c:v>29.63</c:v>
                </c:pt>
                <c:pt idx="13">
                  <c:v>31.33</c:v>
                </c:pt>
                <c:pt idx="14">
                  <c:v>30.02</c:v>
                </c:pt>
                <c:pt idx="15">
                  <c:v>30.36</c:v>
                </c:pt>
                <c:pt idx="16">
                  <c:v>29.14</c:v>
                </c:pt>
                <c:pt idx="17">
                  <c:v>29.1</c:v>
                </c:pt>
                <c:pt idx="18">
                  <c:v>28.01</c:v>
                </c:pt>
                <c:pt idx="19">
                  <c:v>27.46</c:v>
                </c:pt>
                <c:pt idx="20">
                  <c:v>27.2</c:v>
                </c:pt>
                <c:pt idx="21">
                  <c:v>27.15</c:v>
                </c:pt>
                <c:pt idx="22">
                  <c:v>27.43</c:v>
                </c:pt>
                <c:pt idx="23">
                  <c:v>26.8</c:v>
                </c:pt>
                <c:pt idx="24">
                  <c:v>28.42</c:v>
                </c:pt>
                <c:pt idx="25">
                  <c:v>28.42</c:v>
                </c:pt>
                <c:pt idx="26">
                  <c:v>28.1</c:v>
                </c:pt>
                <c:pt idx="27">
                  <c:v>28.17</c:v>
                </c:pt>
                <c:pt idx="28">
                  <c:v>27.4</c:v>
                </c:pt>
                <c:pt idx="29">
                  <c:v>27.65</c:v>
                </c:pt>
                <c:pt idx="30">
                  <c:v>30.07</c:v>
                </c:pt>
                <c:pt idx="31">
                  <c:v>30.84</c:v>
                </c:pt>
                <c:pt idx="32">
                  <c:v>26.55</c:v>
                </c:pt>
                <c:pt idx="33">
                  <c:v>25.7</c:v>
                </c:pt>
                <c:pt idx="34">
                  <c:v>25.76</c:v>
                </c:pt>
                <c:pt idx="35">
                  <c:v>26.18</c:v>
                </c:pt>
                <c:pt idx="36">
                  <c:v>26.67</c:v>
                </c:pt>
                <c:pt idx="37">
                  <c:v>25.5</c:v>
                </c:pt>
                <c:pt idx="38">
                  <c:v>26.32</c:v>
                </c:pt>
                <c:pt idx="39">
                  <c:v>25.84</c:v>
                </c:pt>
                <c:pt idx="40">
                  <c:v>25.79</c:v>
                </c:pt>
                <c:pt idx="41">
                  <c:v>26.7</c:v>
                </c:pt>
                <c:pt idx="42">
                  <c:v>28.15</c:v>
                </c:pt>
                <c:pt idx="43">
                  <c:v>29.98</c:v>
                </c:pt>
                <c:pt idx="44">
                  <c:v>30.39</c:v>
                </c:pt>
                <c:pt idx="45">
                  <c:v>29.79</c:v>
                </c:pt>
                <c:pt idx="46">
                  <c:v>28.96</c:v>
                </c:pt>
                <c:pt idx="47">
                  <c:v>29.17</c:v>
                </c:pt>
                <c:pt idx="48">
                  <c:v>28.73</c:v>
                </c:pt>
                <c:pt idx="49">
                  <c:v>26.77</c:v>
                </c:pt>
                <c:pt idx="50">
                  <c:v>27.65</c:v>
                </c:pt>
                <c:pt idx="51">
                  <c:v>29.54</c:v>
                </c:pt>
                <c:pt idx="52">
                  <c:v>28.59</c:v>
                </c:pt>
                <c:pt idx="53">
                  <c:v>27.3</c:v>
                </c:pt>
                <c:pt idx="54">
                  <c:v>27.03</c:v>
                </c:pt>
                <c:pt idx="55">
                  <c:v>25.78</c:v>
                </c:pt>
                <c:pt idx="56">
                  <c:v>26.15</c:v>
                </c:pt>
                <c:pt idx="57">
                  <c:v>27.17</c:v>
                </c:pt>
                <c:pt idx="58">
                  <c:v>26.76</c:v>
                </c:pt>
                <c:pt idx="59">
                  <c:v>28.59</c:v>
                </c:pt>
                <c:pt idx="60">
                  <c:v>30.33</c:v>
                </c:pt>
                <c:pt idx="61">
                  <c:v>29.9</c:v>
                </c:pt>
                <c:pt idx="62">
                  <c:v>29.51</c:v>
                </c:pt>
                <c:pt idx="63">
                  <c:v>30.52</c:v>
                </c:pt>
                <c:pt idx="64">
                  <c:v>34.6</c:v>
                </c:pt>
                <c:pt idx="65">
                  <c:v>33.49</c:v>
                </c:pt>
                <c:pt idx="66">
                  <c:v>31.15</c:v>
                </c:pt>
                <c:pt idx="67">
                  <c:v>31.37</c:v>
                </c:pt>
                <c:pt idx="68">
                  <c:v>28.98</c:v>
                </c:pt>
                <c:pt idx="69">
                  <c:v>27.91</c:v>
                </c:pt>
                <c:pt idx="70">
                  <c:v>28.42</c:v>
                </c:pt>
                <c:pt idx="71">
                  <c:v>24.31</c:v>
                </c:pt>
                <c:pt idx="72">
                  <c:v>20.85</c:v>
                </c:pt>
                <c:pt idx="73">
                  <c:v>21.06</c:v>
                </c:pt>
                <c:pt idx="74">
                  <c:v>20.68</c:v>
                </c:pt>
                <c:pt idx="75">
                  <c:v>20.79</c:v>
                </c:pt>
                <c:pt idx="76">
                  <c:v>19.19</c:v>
                </c:pt>
                <c:pt idx="77">
                  <c:v>18.62</c:v>
                </c:pt>
                <c:pt idx="78">
                  <c:v>18.94</c:v>
                </c:pt>
                <c:pt idx="79">
                  <c:v>20.23</c:v>
                </c:pt>
                <c:pt idx="80">
                  <c:v>20.25</c:v>
                </c:pt>
                <c:pt idx="81">
                  <c:v>21.62</c:v>
                </c:pt>
                <c:pt idx="82">
                  <c:v>23.98</c:v>
                </c:pt>
                <c:pt idx="83">
                  <c:v>25.31</c:v>
                </c:pt>
                <c:pt idx="84">
                  <c:v>25.9</c:v>
                </c:pt>
                <c:pt idx="85">
                  <c:v>24.1</c:v>
                </c:pt>
                <c:pt idx="86">
                  <c:v>23.21</c:v>
                </c:pt>
                <c:pt idx="87">
                  <c:v>22.83</c:v>
                </c:pt>
                <c:pt idx="88">
                  <c:v>22.75</c:v>
                </c:pt>
                <c:pt idx="89">
                  <c:v>22.64</c:v>
                </c:pt>
                <c:pt idx="90">
                  <c:v>20.35</c:v>
                </c:pt>
                <c:pt idx="91">
                  <c:v>21.01</c:v>
                </c:pt>
                <c:pt idx="92">
                  <c:v>21.39</c:v>
                </c:pt>
                <c:pt idx="93">
                  <c:v>22.57</c:v>
                </c:pt>
                <c:pt idx="94">
                  <c:v>23.33</c:v>
                </c:pt>
                <c:pt idx="95">
                  <c:v>22.89</c:v>
                </c:pt>
                <c:pt idx="96">
                  <c:v>23.56</c:v>
                </c:pt>
                <c:pt idx="97">
                  <c:v>23.42</c:v>
                </c:pt>
                <c:pt idx="98">
                  <c:v>22.32</c:v>
                </c:pt>
                <c:pt idx="99">
                  <c:v>22.52</c:v>
                </c:pt>
                <c:pt idx="100">
                  <c:v>21.08</c:v>
                </c:pt>
                <c:pt idx="101">
                  <c:v>19.95</c:v>
                </c:pt>
                <c:pt idx="102">
                  <c:v>20.18</c:v>
                </c:pt>
                <c:pt idx="103">
                  <c:v>19.49</c:v>
                </c:pt>
                <c:pt idx="104">
                  <c:v>17.27</c:v>
                </c:pt>
                <c:pt idx="105">
                  <c:v>17.64</c:v>
                </c:pt>
                <c:pt idx="106">
                  <c:v>19.03</c:v>
                </c:pt>
                <c:pt idx="107">
                  <c:v>20.51</c:v>
                </c:pt>
                <c:pt idx="108">
                  <c:v>20.87</c:v>
                </c:pt>
                <c:pt idx="109">
                  <c:v>20.75</c:v>
                </c:pt>
                <c:pt idx="110">
                  <c:v>17.76</c:v>
                </c:pt>
                <c:pt idx="111">
                  <c:v>13.18</c:v>
                </c:pt>
                <c:pt idx="112">
                  <c:v>13.09</c:v>
                </c:pt>
                <c:pt idx="113">
                  <c:v>15</c:v>
                </c:pt>
                <c:pt idx="114">
                  <c:v>13.29</c:v>
                </c:pt>
                <c:pt idx="115">
                  <c:v>12.55</c:v>
                </c:pt>
                <c:pt idx="116">
                  <c:v>15.61</c:v>
                </c:pt>
                <c:pt idx="117">
                  <c:v>13.87</c:v>
                </c:pt>
                <c:pt idx="118">
                  <c:v>14.03</c:v>
                </c:pt>
                <c:pt idx="119">
                  <c:v>14</c:v>
                </c:pt>
                <c:pt idx="120">
                  <c:v>12.05</c:v>
                </c:pt>
                <c:pt idx="121">
                  <c:v>9.9</c:v>
                </c:pt>
                <c:pt idx="122">
                  <c:v>8.01</c:v>
                </c:pt>
                <c:pt idx="123">
                  <c:v>9</c:v>
                </c:pt>
                <c:pt idx="124">
                  <c:v>11.9</c:v>
                </c:pt>
                <c:pt idx="125">
                  <c:v>14.47</c:v>
                </c:pt>
                <c:pt idx="126">
                  <c:v>11.07</c:v>
                </c:pt>
                <c:pt idx="127">
                  <c:v>10.43</c:v>
                </c:pt>
                <c:pt idx="128">
                  <c:v>9.43</c:v>
                </c:pt>
                <c:pt idx="129">
                  <c:v>5.77</c:v>
                </c:pt>
                <c:pt idx="130">
                  <c:v>8.16</c:v>
                </c:pt>
                <c:pt idx="131">
                  <c:v>6.67</c:v>
                </c:pt>
                <c:pt idx="132">
                  <c:v>8.24</c:v>
                </c:pt>
                <c:pt idx="133">
                  <c:v>8.08</c:v>
                </c:pt>
                <c:pt idx="134">
                  <c:v>5.87</c:v>
                </c:pt>
                <c:pt idx="135">
                  <c:v>8.83</c:v>
                </c:pt>
                <c:pt idx="136">
                  <c:v>8.92</c:v>
                </c:pt>
                <c:pt idx="137">
                  <c:v>7.79</c:v>
                </c:pt>
                <c:pt idx="138">
                  <c:v>5.99</c:v>
                </c:pt>
                <c:pt idx="139">
                  <c:v>7.96</c:v>
                </c:pt>
                <c:pt idx="140">
                  <c:v>3.54</c:v>
                </c:pt>
                <c:pt idx="141">
                  <c:v>8.64</c:v>
                </c:pt>
                <c:pt idx="142">
                  <c:v>8.43</c:v>
                </c:pt>
                <c:pt idx="143">
                  <c:v>9.77</c:v>
                </c:pt>
                <c:pt idx="144">
                  <c:v>9.7</c:v>
                </c:pt>
                <c:pt idx="145">
                  <c:v>9.11</c:v>
                </c:pt>
                <c:pt idx="146">
                  <c:v>9.06</c:v>
                </c:pt>
                <c:pt idx="147">
                  <c:v>9.1</c:v>
                </c:pt>
                <c:pt idx="148">
                  <c:v>6.4</c:v>
                </c:pt>
                <c:pt idx="149">
                  <c:v>8.72</c:v>
                </c:pt>
                <c:pt idx="150">
                  <c:v>9.1</c:v>
                </c:pt>
                <c:pt idx="151">
                  <c:v>5.88</c:v>
                </c:pt>
                <c:pt idx="152">
                  <c:v>10.3</c:v>
                </c:pt>
                <c:pt idx="153">
                  <c:v>13</c:v>
                </c:pt>
                <c:pt idx="154">
                  <c:v>11.12</c:v>
                </c:pt>
                <c:pt idx="155">
                  <c:v>8.58</c:v>
                </c:pt>
                <c:pt idx="156">
                  <c:v>6.19</c:v>
                </c:pt>
                <c:pt idx="157">
                  <c:v>5.17</c:v>
                </c:pt>
                <c:pt idx="158">
                  <c:v>11.86</c:v>
                </c:pt>
                <c:pt idx="159">
                  <c:v>12.62</c:v>
                </c:pt>
                <c:pt idx="160">
                  <c:v>9.93</c:v>
                </c:pt>
                <c:pt idx="161">
                  <c:v>8.13</c:v>
                </c:pt>
                <c:pt idx="162">
                  <c:v>4.61</c:v>
                </c:pt>
                <c:pt idx="163">
                  <c:v>5.57</c:v>
                </c:pt>
                <c:pt idx="164">
                  <c:v>3.95</c:v>
                </c:pt>
                <c:pt idx="165">
                  <c:v>4.25</c:v>
                </c:pt>
                <c:pt idx="166">
                  <c:v>2.05</c:v>
                </c:pt>
                <c:pt idx="167">
                  <c:v>4.1</c:v>
                </c:pt>
                <c:pt idx="168">
                  <c:v>3.69</c:v>
                </c:pt>
                <c:pt idx="169">
                  <c:v>5.1</c:v>
                </c:pt>
                <c:pt idx="170">
                  <c:v>4.81</c:v>
                </c:pt>
                <c:pt idx="171">
                  <c:v>4.35</c:v>
                </c:pt>
                <c:pt idx="172">
                  <c:v>4.34</c:v>
                </c:pt>
                <c:pt idx="173">
                  <c:v>4.8</c:v>
                </c:pt>
                <c:pt idx="174">
                  <c:v>5.67</c:v>
                </c:pt>
                <c:pt idx="175">
                  <c:v>6.39</c:v>
                </c:pt>
                <c:pt idx="176">
                  <c:v>11.12</c:v>
                </c:pt>
                <c:pt idx="177">
                  <c:v>8.51</c:v>
                </c:pt>
                <c:pt idx="178">
                  <c:v>9.84</c:v>
                </c:pt>
                <c:pt idx="179">
                  <c:v>12.27</c:v>
                </c:pt>
              </c:numCache>
            </c:numRef>
          </c:val>
          <c:smooth val="0"/>
        </c:ser>
        <c:ser>
          <c:idx val="1"/>
          <c:order val="1"/>
          <c:tx>
            <c:strRef>
              <c:f>Sheet1!$C$1</c:f>
              <c:strCache>
                <c:ptCount val="1"/>
                <c:pt idx="0">
                  <c:v>First-half shuffle</c:v>
                </c:pt>
              </c:strCache>
            </c:strRef>
          </c:tx>
          <c:spPr>
            <a:solidFill>
              <a:srgbClr val="1F8A80"/>
            </a:solidFill>
            <a:ln w="15875" cap="flat">
              <a:solidFill>
                <a:srgbClr val="1F8A8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8A80"/>
              </a:solidFill>
              <a:ln w="9525" cap="flat">
                <a:solidFill>
                  <a:srgbClr val="1F8A80"/>
                </a:solidFill>
                <a:prstDash val="solid"/>
                <a:round/>
              </a:ln>
              <a:effectLst/>
            </c:spPr>
          </c:marker>
          <c:cat>
            <c:multiLvlStrRef>
              <c:f>Sheet1!$A$2:$A$181</c:f>
              <c:multiLvlStrCache>
                <c:ptCount val="18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lvl>
              </c:multiLvlStrCache>
            </c:multiLvlStrRef>
          </c:cat>
          <c:val>
            <c:numRef>
              <c:f>Sheet1!$C$2:$C$181</c:f>
              <c:numCache>
                <c:formatCode>General</c:formatCode>
                <c:ptCount val="180"/>
                <c:pt idx="0">
                  <c:v>25.79</c:v>
                </c:pt>
                <c:pt idx="1">
                  <c:v>28.17</c:v>
                </c:pt>
                <c:pt idx="2">
                  <c:v>25.76</c:v>
                </c:pt>
                <c:pt idx="3">
                  <c:v>30.02</c:v>
                </c:pt>
                <c:pt idx="4">
                  <c:v>31.15</c:v>
                </c:pt>
                <c:pt idx="5">
                  <c:v>20.85</c:v>
                </c:pt>
                <c:pt idx="6">
                  <c:v>20.25</c:v>
                </c:pt>
                <c:pt idx="7">
                  <c:v>24.1</c:v>
                </c:pt>
                <c:pt idx="8">
                  <c:v>27.65</c:v>
                </c:pt>
                <c:pt idx="9">
                  <c:v>26.8</c:v>
                </c:pt>
                <c:pt idx="10">
                  <c:v>24.85</c:v>
                </c:pt>
                <c:pt idx="11">
                  <c:v>29.51</c:v>
                </c:pt>
                <c:pt idx="12">
                  <c:v>28.01</c:v>
                </c:pt>
                <c:pt idx="13">
                  <c:v>24.9</c:v>
                </c:pt>
                <c:pt idx="14">
                  <c:v>22.37</c:v>
                </c:pt>
                <c:pt idx="15">
                  <c:v>28.15</c:v>
                </c:pt>
                <c:pt idx="16">
                  <c:v>33.49</c:v>
                </c:pt>
                <c:pt idx="17">
                  <c:v>29.54</c:v>
                </c:pt>
                <c:pt idx="18">
                  <c:v>25.7</c:v>
                </c:pt>
                <c:pt idx="19">
                  <c:v>18.94</c:v>
                </c:pt>
                <c:pt idx="20">
                  <c:v>20.23</c:v>
                </c:pt>
                <c:pt idx="21">
                  <c:v>26.7</c:v>
                </c:pt>
                <c:pt idx="22">
                  <c:v>23.98</c:v>
                </c:pt>
                <c:pt idx="23">
                  <c:v>24.31</c:v>
                </c:pt>
                <c:pt idx="24">
                  <c:v>26.15</c:v>
                </c:pt>
                <c:pt idx="25">
                  <c:v>31.33</c:v>
                </c:pt>
                <c:pt idx="26">
                  <c:v>28.96</c:v>
                </c:pt>
                <c:pt idx="27">
                  <c:v>22.64</c:v>
                </c:pt>
                <c:pt idx="28">
                  <c:v>30.84</c:v>
                </c:pt>
                <c:pt idx="29">
                  <c:v>27.3</c:v>
                </c:pt>
                <c:pt idx="30">
                  <c:v>24.12</c:v>
                </c:pt>
                <c:pt idx="31">
                  <c:v>29.98</c:v>
                </c:pt>
                <c:pt idx="32">
                  <c:v>27.65</c:v>
                </c:pt>
                <c:pt idx="33">
                  <c:v>27.4</c:v>
                </c:pt>
                <c:pt idx="34">
                  <c:v>23.21</c:v>
                </c:pt>
                <c:pt idx="35">
                  <c:v>28.47</c:v>
                </c:pt>
                <c:pt idx="36">
                  <c:v>30.52</c:v>
                </c:pt>
                <c:pt idx="37">
                  <c:v>27.46</c:v>
                </c:pt>
                <c:pt idx="38">
                  <c:v>21.06</c:v>
                </c:pt>
                <c:pt idx="39">
                  <c:v>29.1</c:v>
                </c:pt>
                <c:pt idx="40">
                  <c:v>26.76</c:v>
                </c:pt>
                <c:pt idx="41">
                  <c:v>21.62</c:v>
                </c:pt>
                <c:pt idx="42">
                  <c:v>27.17</c:v>
                </c:pt>
                <c:pt idx="43">
                  <c:v>28.42</c:v>
                </c:pt>
                <c:pt idx="44">
                  <c:v>26.67</c:v>
                </c:pt>
                <c:pt idx="45">
                  <c:v>25.5</c:v>
                </c:pt>
                <c:pt idx="46">
                  <c:v>28.42</c:v>
                </c:pt>
                <c:pt idx="47">
                  <c:v>18.62</c:v>
                </c:pt>
                <c:pt idx="48">
                  <c:v>27.2</c:v>
                </c:pt>
                <c:pt idx="49">
                  <c:v>28.59</c:v>
                </c:pt>
                <c:pt idx="50">
                  <c:v>28.73</c:v>
                </c:pt>
                <c:pt idx="51">
                  <c:v>31.37</c:v>
                </c:pt>
                <c:pt idx="52">
                  <c:v>25.84</c:v>
                </c:pt>
                <c:pt idx="53">
                  <c:v>27.91</c:v>
                </c:pt>
                <c:pt idx="54">
                  <c:v>26.67</c:v>
                </c:pt>
                <c:pt idx="55">
                  <c:v>26.77</c:v>
                </c:pt>
                <c:pt idx="56">
                  <c:v>27.43</c:v>
                </c:pt>
                <c:pt idx="57">
                  <c:v>25.78</c:v>
                </c:pt>
                <c:pt idx="58">
                  <c:v>26.41</c:v>
                </c:pt>
                <c:pt idx="59">
                  <c:v>30.07</c:v>
                </c:pt>
                <c:pt idx="60">
                  <c:v>30.39</c:v>
                </c:pt>
                <c:pt idx="61">
                  <c:v>29.53</c:v>
                </c:pt>
                <c:pt idx="62">
                  <c:v>28.08</c:v>
                </c:pt>
                <c:pt idx="63">
                  <c:v>19.19</c:v>
                </c:pt>
                <c:pt idx="64">
                  <c:v>22.83</c:v>
                </c:pt>
                <c:pt idx="65">
                  <c:v>29.63</c:v>
                </c:pt>
                <c:pt idx="66">
                  <c:v>30.33</c:v>
                </c:pt>
                <c:pt idx="67">
                  <c:v>29.17</c:v>
                </c:pt>
                <c:pt idx="68">
                  <c:v>28.1</c:v>
                </c:pt>
                <c:pt idx="69">
                  <c:v>28.98</c:v>
                </c:pt>
                <c:pt idx="70">
                  <c:v>29.14</c:v>
                </c:pt>
                <c:pt idx="71">
                  <c:v>29.9</c:v>
                </c:pt>
                <c:pt idx="72">
                  <c:v>30.36</c:v>
                </c:pt>
                <c:pt idx="73">
                  <c:v>26.15</c:v>
                </c:pt>
                <c:pt idx="74">
                  <c:v>28.59</c:v>
                </c:pt>
                <c:pt idx="75">
                  <c:v>26.18</c:v>
                </c:pt>
                <c:pt idx="76">
                  <c:v>26.32</c:v>
                </c:pt>
                <c:pt idx="77">
                  <c:v>25.31</c:v>
                </c:pt>
                <c:pt idx="78">
                  <c:v>27.15</c:v>
                </c:pt>
                <c:pt idx="79">
                  <c:v>25.9</c:v>
                </c:pt>
                <c:pt idx="80">
                  <c:v>27.03</c:v>
                </c:pt>
                <c:pt idx="81">
                  <c:v>28.42</c:v>
                </c:pt>
                <c:pt idx="82">
                  <c:v>34.6</c:v>
                </c:pt>
                <c:pt idx="83">
                  <c:v>20.79</c:v>
                </c:pt>
                <c:pt idx="84">
                  <c:v>22.75</c:v>
                </c:pt>
                <c:pt idx="85">
                  <c:v>26.62</c:v>
                </c:pt>
                <c:pt idx="86">
                  <c:v>29.79</c:v>
                </c:pt>
                <c:pt idx="87">
                  <c:v>28.02</c:v>
                </c:pt>
                <c:pt idx="88">
                  <c:v>20.68</c:v>
                </c:pt>
                <c:pt idx="89">
                  <c:v>26.55</c:v>
                </c:pt>
                <c:pt idx="90">
                  <c:v>20.35</c:v>
                </c:pt>
                <c:pt idx="91">
                  <c:v>21.01</c:v>
                </c:pt>
                <c:pt idx="92">
                  <c:v>21.39</c:v>
                </c:pt>
                <c:pt idx="93">
                  <c:v>22.57</c:v>
                </c:pt>
                <c:pt idx="94">
                  <c:v>23.33</c:v>
                </c:pt>
                <c:pt idx="95">
                  <c:v>22.89</c:v>
                </c:pt>
                <c:pt idx="96">
                  <c:v>23.56</c:v>
                </c:pt>
                <c:pt idx="97">
                  <c:v>23.42</c:v>
                </c:pt>
                <c:pt idx="98">
                  <c:v>22.32</c:v>
                </c:pt>
                <c:pt idx="99">
                  <c:v>22.52</c:v>
                </c:pt>
                <c:pt idx="100">
                  <c:v>21.08</c:v>
                </c:pt>
                <c:pt idx="101">
                  <c:v>19.95</c:v>
                </c:pt>
                <c:pt idx="102">
                  <c:v>20.18</c:v>
                </c:pt>
                <c:pt idx="103">
                  <c:v>19.49</c:v>
                </c:pt>
                <c:pt idx="104">
                  <c:v>17.27</c:v>
                </c:pt>
                <c:pt idx="105">
                  <c:v>17.64</c:v>
                </c:pt>
                <c:pt idx="106">
                  <c:v>19.03</c:v>
                </c:pt>
                <c:pt idx="107">
                  <c:v>20.51</c:v>
                </c:pt>
                <c:pt idx="108">
                  <c:v>20.87</c:v>
                </c:pt>
                <c:pt idx="109">
                  <c:v>20.75</c:v>
                </c:pt>
                <c:pt idx="110">
                  <c:v>17.76</c:v>
                </c:pt>
                <c:pt idx="111">
                  <c:v>13.18</c:v>
                </c:pt>
                <c:pt idx="112">
                  <c:v>13.09</c:v>
                </c:pt>
                <c:pt idx="113">
                  <c:v>15</c:v>
                </c:pt>
                <c:pt idx="114">
                  <c:v>13.29</c:v>
                </c:pt>
                <c:pt idx="115">
                  <c:v>12.55</c:v>
                </c:pt>
                <c:pt idx="116">
                  <c:v>15.61</c:v>
                </c:pt>
                <c:pt idx="117">
                  <c:v>13.87</c:v>
                </c:pt>
                <c:pt idx="118">
                  <c:v>14.03</c:v>
                </c:pt>
                <c:pt idx="119">
                  <c:v>14</c:v>
                </c:pt>
                <c:pt idx="120">
                  <c:v>12.05</c:v>
                </c:pt>
                <c:pt idx="121">
                  <c:v>9.9</c:v>
                </c:pt>
                <c:pt idx="122">
                  <c:v>8.01</c:v>
                </c:pt>
                <c:pt idx="123">
                  <c:v>9</c:v>
                </c:pt>
                <c:pt idx="124">
                  <c:v>11.9</c:v>
                </c:pt>
                <c:pt idx="125">
                  <c:v>14.47</c:v>
                </c:pt>
                <c:pt idx="126">
                  <c:v>11.07</c:v>
                </c:pt>
                <c:pt idx="127">
                  <c:v>10.43</c:v>
                </c:pt>
                <c:pt idx="128">
                  <c:v>9.43</c:v>
                </c:pt>
                <c:pt idx="129">
                  <c:v>5.77</c:v>
                </c:pt>
                <c:pt idx="130">
                  <c:v>8.16</c:v>
                </c:pt>
                <c:pt idx="131">
                  <c:v>6.67</c:v>
                </c:pt>
                <c:pt idx="132">
                  <c:v>8.24</c:v>
                </c:pt>
                <c:pt idx="133">
                  <c:v>8.08</c:v>
                </c:pt>
                <c:pt idx="134">
                  <c:v>5.87</c:v>
                </c:pt>
                <c:pt idx="135">
                  <c:v>8.83</c:v>
                </c:pt>
                <c:pt idx="136">
                  <c:v>8.92</c:v>
                </c:pt>
                <c:pt idx="137">
                  <c:v>7.79</c:v>
                </c:pt>
                <c:pt idx="138">
                  <c:v>5.99</c:v>
                </c:pt>
                <c:pt idx="139">
                  <c:v>7.96</c:v>
                </c:pt>
                <c:pt idx="140">
                  <c:v>3.54</c:v>
                </c:pt>
                <c:pt idx="141">
                  <c:v>8.64</c:v>
                </c:pt>
                <c:pt idx="142">
                  <c:v>8.43</c:v>
                </c:pt>
                <c:pt idx="143">
                  <c:v>9.77</c:v>
                </c:pt>
                <c:pt idx="144">
                  <c:v>9.7</c:v>
                </c:pt>
                <c:pt idx="145">
                  <c:v>9.11</c:v>
                </c:pt>
                <c:pt idx="146">
                  <c:v>9.06</c:v>
                </c:pt>
                <c:pt idx="147">
                  <c:v>9.1</c:v>
                </c:pt>
                <c:pt idx="148">
                  <c:v>6.4</c:v>
                </c:pt>
                <c:pt idx="149">
                  <c:v>8.72</c:v>
                </c:pt>
                <c:pt idx="150">
                  <c:v>9.1</c:v>
                </c:pt>
                <c:pt idx="151">
                  <c:v>5.88</c:v>
                </c:pt>
                <c:pt idx="152">
                  <c:v>10.3</c:v>
                </c:pt>
                <c:pt idx="153">
                  <c:v>13</c:v>
                </c:pt>
                <c:pt idx="154">
                  <c:v>11.12</c:v>
                </c:pt>
                <c:pt idx="155">
                  <c:v>8.58</c:v>
                </c:pt>
                <c:pt idx="156">
                  <c:v>6.19</c:v>
                </c:pt>
                <c:pt idx="157">
                  <c:v>5.17</c:v>
                </c:pt>
                <c:pt idx="158">
                  <c:v>11.86</c:v>
                </c:pt>
                <c:pt idx="159">
                  <c:v>12.62</c:v>
                </c:pt>
                <c:pt idx="160">
                  <c:v>9.93</c:v>
                </c:pt>
                <c:pt idx="161">
                  <c:v>8.13</c:v>
                </c:pt>
                <c:pt idx="162">
                  <c:v>4.61</c:v>
                </c:pt>
                <c:pt idx="163">
                  <c:v>5.57</c:v>
                </c:pt>
                <c:pt idx="164">
                  <c:v>3.95</c:v>
                </c:pt>
                <c:pt idx="165">
                  <c:v>4.25</c:v>
                </c:pt>
                <c:pt idx="166">
                  <c:v>2.05</c:v>
                </c:pt>
                <c:pt idx="167">
                  <c:v>4.1</c:v>
                </c:pt>
                <c:pt idx="168">
                  <c:v>3.69</c:v>
                </c:pt>
                <c:pt idx="169">
                  <c:v>5.1</c:v>
                </c:pt>
                <c:pt idx="170">
                  <c:v>4.81</c:v>
                </c:pt>
                <c:pt idx="171">
                  <c:v>4.35</c:v>
                </c:pt>
                <c:pt idx="172">
                  <c:v>4.34</c:v>
                </c:pt>
                <c:pt idx="173">
                  <c:v>4.8</c:v>
                </c:pt>
                <c:pt idx="174">
                  <c:v>5.67</c:v>
                </c:pt>
                <c:pt idx="175">
                  <c:v>6.39</c:v>
                </c:pt>
                <c:pt idx="176">
                  <c:v>11.12</c:v>
                </c:pt>
                <c:pt idx="177">
                  <c:v>8.51</c:v>
                </c:pt>
                <c:pt idx="178">
                  <c:v>9.84</c:v>
                </c:pt>
                <c:pt idx="179">
                  <c:v>12.27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C9D0DA"/>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4A5568"/>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D98324"/>
                </a:solidFill>
                <a:latin typeface="+mn-lt"/>
              </a:defRPr>
            </a:pPr>
            <a:r>
              <a:rPr sz="1100" b="0" i="0" u="none" strike="noStrike">
                <a:solidFill>
                  <a:srgbClr val="D98324"/>
                </a:solidFill>
                <a:latin typeface="+mn-lt"/>
              </a:rPr>
              <a:t>Half exchange: rank 1 → 249</a:t>
            </a:r>
          </a:p>
        </c:rich>
      </c:tx>
      <c:layout/>
      <c:overlay val="0"/>
    </c:title>
    <c:autoTitleDeleted val="0"/>
    <c:plotArea>
      <c:layout/>
      <c:lineChart>
        <c:varyColors val="0"/>
        <c:ser>
          <c:idx val="0"/>
          <c:order val="0"/>
          <c:tx>
            <c:strRef>
              <c:f>Sheet1!$B$1</c:f>
              <c:strCache>
                <c:ptCount val="1"/>
                <c:pt idx="0">
                  <c:v>Original</c:v>
                </c:pt>
              </c:strCache>
            </c:strRef>
          </c:tx>
          <c:spPr>
            <a:solidFill>
              <a:srgbClr val="B9C2CF"/>
            </a:solidFill>
            <a:ln w="15875" cap="flat">
              <a:solidFill>
                <a:srgbClr val="B9C2C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C2CF"/>
              </a:solidFill>
              <a:ln w="9525" cap="flat">
                <a:solidFill>
                  <a:srgbClr val="B9C2CF"/>
                </a:solidFill>
                <a:prstDash val="solid"/>
                <a:round/>
              </a:ln>
              <a:effectLst/>
            </c:spPr>
          </c:marker>
          <c:cat>
            <c:multiLvlStrRef>
              <c:f>Sheet1!$A$2:$A$181</c:f>
              <c:multiLvlStrCache>
                <c:ptCount val="18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lvl>
              </c:multiLvlStrCache>
            </c:multiLvlStrRef>
          </c:cat>
          <c:val>
            <c:numRef>
              <c:f>Sheet1!$B$2:$B$181</c:f>
              <c:numCache>
                <c:formatCode>General</c:formatCode>
                <c:ptCount val="180"/>
                <c:pt idx="0">
                  <c:v>22.37</c:v>
                </c:pt>
                <c:pt idx="1">
                  <c:v>24.9</c:v>
                </c:pt>
                <c:pt idx="2">
                  <c:v>24.12</c:v>
                </c:pt>
                <c:pt idx="3">
                  <c:v>24.85</c:v>
                </c:pt>
                <c:pt idx="4">
                  <c:v>26.67</c:v>
                </c:pt>
                <c:pt idx="5">
                  <c:v>26.15</c:v>
                </c:pt>
                <c:pt idx="6">
                  <c:v>26.62</c:v>
                </c:pt>
                <c:pt idx="7">
                  <c:v>29.53</c:v>
                </c:pt>
                <c:pt idx="8">
                  <c:v>28.47</c:v>
                </c:pt>
                <c:pt idx="9">
                  <c:v>26.41</c:v>
                </c:pt>
                <c:pt idx="10">
                  <c:v>28.02</c:v>
                </c:pt>
                <c:pt idx="11">
                  <c:v>28.08</c:v>
                </c:pt>
                <c:pt idx="12">
                  <c:v>29.63</c:v>
                </c:pt>
                <c:pt idx="13">
                  <c:v>31.33</c:v>
                </c:pt>
                <c:pt idx="14">
                  <c:v>30.02</c:v>
                </c:pt>
                <c:pt idx="15">
                  <c:v>30.36</c:v>
                </c:pt>
                <c:pt idx="16">
                  <c:v>29.14</c:v>
                </c:pt>
                <c:pt idx="17">
                  <c:v>29.1</c:v>
                </c:pt>
                <c:pt idx="18">
                  <c:v>28.01</c:v>
                </c:pt>
                <c:pt idx="19">
                  <c:v>27.46</c:v>
                </c:pt>
                <c:pt idx="20">
                  <c:v>27.2</c:v>
                </c:pt>
                <c:pt idx="21">
                  <c:v>27.15</c:v>
                </c:pt>
                <c:pt idx="22">
                  <c:v>27.43</c:v>
                </c:pt>
                <c:pt idx="23">
                  <c:v>26.8</c:v>
                </c:pt>
                <c:pt idx="24">
                  <c:v>28.42</c:v>
                </c:pt>
                <c:pt idx="25">
                  <c:v>28.42</c:v>
                </c:pt>
                <c:pt idx="26">
                  <c:v>28.1</c:v>
                </c:pt>
                <c:pt idx="27">
                  <c:v>28.17</c:v>
                </c:pt>
                <c:pt idx="28">
                  <c:v>27.4</c:v>
                </c:pt>
                <c:pt idx="29">
                  <c:v>27.65</c:v>
                </c:pt>
                <c:pt idx="30">
                  <c:v>30.07</c:v>
                </c:pt>
                <c:pt idx="31">
                  <c:v>30.84</c:v>
                </c:pt>
                <c:pt idx="32">
                  <c:v>26.55</c:v>
                </c:pt>
                <c:pt idx="33">
                  <c:v>25.7</c:v>
                </c:pt>
                <c:pt idx="34">
                  <c:v>25.76</c:v>
                </c:pt>
                <c:pt idx="35">
                  <c:v>26.18</c:v>
                </c:pt>
                <c:pt idx="36">
                  <c:v>26.67</c:v>
                </c:pt>
                <c:pt idx="37">
                  <c:v>25.5</c:v>
                </c:pt>
                <c:pt idx="38">
                  <c:v>26.32</c:v>
                </c:pt>
                <c:pt idx="39">
                  <c:v>25.84</c:v>
                </c:pt>
                <c:pt idx="40">
                  <c:v>25.79</c:v>
                </c:pt>
                <c:pt idx="41">
                  <c:v>26.7</c:v>
                </c:pt>
                <c:pt idx="42">
                  <c:v>28.15</c:v>
                </c:pt>
                <c:pt idx="43">
                  <c:v>29.98</c:v>
                </c:pt>
                <c:pt idx="44">
                  <c:v>30.39</c:v>
                </c:pt>
                <c:pt idx="45">
                  <c:v>29.79</c:v>
                </c:pt>
                <c:pt idx="46">
                  <c:v>28.96</c:v>
                </c:pt>
                <c:pt idx="47">
                  <c:v>29.17</c:v>
                </c:pt>
                <c:pt idx="48">
                  <c:v>28.73</c:v>
                </c:pt>
                <c:pt idx="49">
                  <c:v>26.77</c:v>
                </c:pt>
                <c:pt idx="50">
                  <c:v>27.65</c:v>
                </c:pt>
                <c:pt idx="51">
                  <c:v>29.54</c:v>
                </c:pt>
                <c:pt idx="52">
                  <c:v>28.59</c:v>
                </c:pt>
                <c:pt idx="53">
                  <c:v>27.3</c:v>
                </c:pt>
                <c:pt idx="54">
                  <c:v>27.03</c:v>
                </c:pt>
                <c:pt idx="55">
                  <c:v>25.78</c:v>
                </c:pt>
                <c:pt idx="56">
                  <c:v>26.15</c:v>
                </c:pt>
                <c:pt idx="57">
                  <c:v>27.17</c:v>
                </c:pt>
                <c:pt idx="58">
                  <c:v>26.76</c:v>
                </c:pt>
                <c:pt idx="59">
                  <c:v>28.59</c:v>
                </c:pt>
                <c:pt idx="60">
                  <c:v>30.33</c:v>
                </c:pt>
                <c:pt idx="61">
                  <c:v>29.9</c:v>
                </c:pt>
                <c:pt idx="62">
                  <c:v>29.51</c:v>
                </c:pt>
                <c:pt idx="63">
                  <c:v>30.52</c:v>
                </c:pt>
                <c:pt idx="64">
                  <c:v>34.6</c:v>
                </c:pt>
                <c:pt idx="65">
                  <c:v>33.49</c:v>
                </c:pt>
                <c:pt idx="66">
                  <c:v>31.15</c:v>
                </c:pt>
                <c:pt idx="67">
                  <c:v>31.37</c:v>
                </c:pt>
                <c:pt idx="68">
                  <c:v>28.98</c:v>
                </c:pt>
                <c:pt idx="69">
                  <c:v>27.91</c:v>
                </c:pt>
                <c:pt idx="70">
                  <c:v>28.42</c:v>
                </c:pt>
                <c:pt idx="71">
                  <c:v>24.31</c:v>
                </c:pt>
                <c:pt idx="72">
                  <c:v>20.85</c:v>
                </c:pt>
                <c:pt idx="73">
                  <c:v>21.06</c:v>
                </c:pt>
                <c:pt idx="74">
                  <c:v>20.68</c:v>
                </c:pt>
                <c:pt idx="75">
                  <c:v>20.79</c:v>
                </c:pt>
                <c:pt idx="76">
                  <c:v>19.19</c:v>
                </c:pt>
                <c:pt idx="77">
                  <c:v>18.62</c:v>
                </c:pt>
                <c:pt idx="78">
                  <c:v>18.94</c:v>
                </c:pt>
                <c:pt idx="79">
                  <c:v>20.23</c:v>
                </c:pt>
                <c:pt idx="80">
                  <c:v>20.25</c:v>
                </c:pt>
                <c:pt idx="81">
                  <c:v>21.62</c:v>
                </c:pt>
                <c:pt idx="82">
                  <c:v>23.98</c:v>
                </c:pt>
                <c:pt idx="83">
                  <c:v>25.31</c:v>
                </c:pt>
                <c:pt idx="84">
                  <c:v>25.9</c:v>
                </c:pt>
                <c:pt idx="85">
                  <c:v>24.1</c:v>
                </c:pt>
                <c:pt idx="86">
                  <c:v>23.21</c:v>
                </c:pt>
                <c:pt idx="87">
                  <c:v>22.83</c:v>
                </c:pt>
                <c:pt idx="88">
                  <c:v>22.75</c:v>
                </c:pt>
                <c:pt idx="89">
                  <c:v>22.64</c:v>
                </c:pt>
                <c:pt idx="90">
                  <c:v>20.35</c:v>
                </c:pt>
                <c:pt idx="91">
                  <c:v>21.01</c:v>
                </c:pt>
                <c:pt idx="92">
                  <c:v>21.39</c:v>
                </c:pt>
                <c:pt idx="93">
                  <c:v>22.57</c:v>
                </c:pt>
                <c:pt idx="94">
                  <c:v>23.33</c:v>
                </c:pt>
                <c:pt idx="95">
                  <c:v>22.89</c:v>
                </c:pt>
                <c:pt idx="96">
                  <c:v>23.56</c:v>
                </c:pt>
                <c:pt idx="97">
                  <c:v>23.42</c:v>
                </c:pt>
                <c:pt idx="98">
                  <c:v>22.32</c:v>
                </c:pt>
                <c:pt idx="99">
                  <c:v>22.52</c:v>
                </c:pt>
                <c:pt idx="100">
                  <c:v>21.08</c:v>
                </c:pt>
                <c:pt idx="101">
                  <c:v>19.95</c:v>
                </c:pt>
                <c:pt idx="102">
                  <c:v>20.18</c:v>
                </c:pt>
                <c:pt idx="103">
                  <c:v>19.49</c:v>
                </c:pt>
                <c:pt idx="104">
                  <c:v>17.27</c:v>
                </c:pt>
                <c:pt idx="105">
                  <c:v>17.64</c:v>
                </c:pt>
                <c:pt idx="106">
                  <c:v>19.03</c:v>
                </c:pt>
                <c:pt idx="107">
                  <c:v>20.51</c:v>
                </c:pt>
                <c:pt idx="108">
                  <c:v>20.87</c:v>
                </c:pt>
                <c:pt idx="109">
                  <c:v>20.75</c:v>
                </c:pt>
                <c:pt idx="110">
                  <c:v>17.76</c:v>
                </c:pt>
                <c:pt idx="111">
                  <c:v>13.18</c:v>
                </c:pt>
                <c:pt idx="112">
                  <c:v>13.09</c:v>
                </c:pt>
                <c:pt idx="113">
                  <c:v>15</c:v>
                </c:pt>
                <c:pt idx="114">
                  <c:v>13.29</c:v>
                </c:pt>
                <c:pt idx="115">
                  <c:v>12.55</c:v>
                </c:pt>
                <c:pt idx="116">
                  <c:v>15.61</c:v>
                </c:pt>
                <c:pt idx="117">
                  <c:v>13.87</c:v>
                </c:pt>
                <c:pt idx="118">
                  <c:v>14.03</c:v>
                </c:pt>
                <c:pt idx="119">
                  <c:v>14</c:v>
                </c:pt>
                <c:pt idx="120">
                  <c:v>12.05</c:v>
                </c:pt>
                <c:pt idx="121">
                  <c:v>9.9</c:v>
                </c:pt>
                <c:pt idx="122">
                  <c:v>8.01</c:v>
                </c:pt>
                <c:pt idx="123">
                  <c:v>9</c:v>
                </c:pt>
                <c:pt idx="124">
                  <c:v>11.9</c:v>
                </c:pt>
                <c:pt idx="125">
                  <c:v>14.47</c:v>
                </c:pt>
                <c:pt idx="126">
                  <c:v>11.07</c:v>
                </c:pt>
                <c:pt idx="127">
                  <c:v>10.43</c:v>
                </c:pt>
                <c:pt idx="128">
                  <c:v>9.43</c:v>
                </c:pt>
                <c:pt idx="129">
                  <c:v>5.77</c:v>
                </c:pt>
                <c:pt idx="130">
                  <c:v>8.16</c:v>
                </c:pt>
                <c:pt idx="131">
                  <c:v>6.67</c:v>
                </c:pt>
                <c:pt idx="132">
                  <c:v>8.24</c:v>
                </c:pt>
                <c:pt idx="133">
                  <c:v>8.08</c:v>
                </c:pt>
                <c:pt idx="134">
                  <c:v>5.87</c:v>
                </c:pt>
                <c:pt idx="135">
                  <c:v>8.83</c:v>
                </c:pt>
                <c:pt idx="136">
                  <c:v>8.92</c:v>
                </c:pt>
                <c:pt idx="137">
                  <c:v>7.79</c:v>
                </c:pt>
                <c:pt idx="138">
                  <c:v>5.99</c:v>
                </c:pt>
                <c:pt idx="139">
                  <c:v>7.96</c:v>
                </c:pt>
                <c:pt idx="140">
                  <c:v>3.54</c:v>
                </c:pt>
                <c:pt idx="141">
                  <c:v>8.64</c:v>
                </c:pt>
                <c:pt idx="142">
                  <c:v>8.43</c:v>
                </c:pt>
                <c:pt idx="143">
                  <c:v>9.77</c:v>
                </c:pt>
                <c:pt idx="144">
                  <c:v>9.7</c:v>
                </c:pt>
                <c:pt idx="145">
                  <c:v>9.11</c:v>
                </c:pt>
                <c:pt idx="146">
                  <c:v>9.06</c:v>
                </c:pt>
                <c:pt idx="147">
                  <c:v>9.1</c:v>
                </c:pt>
                <c:pt idx="148">
                  <c:v>6.4</c:v>
                </c:pt>
                <c:pt idx="149">
                  <c:v>8.72</c:v>
                </c:pt>
                <c:pt idx="150">
                  <c:v>9.1</c:v>
                </c:pt>
                <c:pt idx="151">
                  <c:v>5.88</c:v>
                </c:pt>
                <c:pt idx="152">
                  <c:v>10.3</c:v>
                </c:pt>
                <c:pt idx="153">
                  <c:v>13</c:v>
                </c:pt>
                <c:pt idx="154">
                  <c:v>11.12</c:v>
                </c:pt>
                <c:pt idx="155">
                  <c:v>8.58</c:v>
                </c:pt>
                <c:pt idx="156">
                  <c:v>6.19</c:v>
                </c:pt>
                <c:pt idx="157">
                  <c:v>5.17</c:v>
                </c:pt>
                <c:pt idx="158">
                  <c:v>11.86</c:v>
                </c:pt>
                <c:pt idx="159">
                  <c:v>12.62</c:v>
                </c:pt>
                <c:pt idx="160">
                  <c:v>9.93</c:v>
                </c:pt>
                <c:pt idx="161">
                  <c:v>8.13</c:v>
                </c:pt>
                <c:pt idx="162">
                  <c:v>4.61</c:v>
                </c:pt>
                <c:pt idx="163">
                  <c:v>5.57</c:v>
                </c:pt>
                <c:pt idx="164">
                  <c:v>3.95</c:v>
                </c:pt>
                <c:pt idx="165">
                  <c:v>4.25</c:v>
                </c:pt>
                <c:pt idx="166">
                  <c:v>2.05</c:v>
                </c:pt>
                <c:pt idx="167">
                  <c:v>4.1</c:v>
                </c:pt>
                <c:pt idx="168">
                  <c:v>3.69</c:v>
                </c:pt>
                <c:pt idx="169">
                  <c:v>5.1</c:v>
                </c:pt>
                <c:pt idx="170">
                  <c:v>4.81</c:v>
                </c:pt>
                <c:pt idx="171">
                  <c:v>4.35</c:v>
                </c:pt>
                <c:pt idx="172">
                  <c:v>4.34</c:v>
                </c:pt>
                <c:pt idx="173">
                  <c:v>4.8</c:v>
                </c:pt>
                <c:pt idx="174">
                  <c:v>5.67</c:v>
                </c:pt>
                <c:pt idx="175">
                  <c:v>6.39</c:v>
                </c:pt>
                <c:pt idx="176">
                  <c:v>11.12</c:v>
                </c:pt>
                <c:pt idx="177">
                  <c:v>8.51</c:v>
                </c:pt>
                <c:pt idx="178">
                  <c:v>9.84</c:v>
                </c:pt>
                <c:pt idx="179">
                  <c:v>12.27</c:v>
                </c:pt>
              </c:numCache>
            </c:numRef>
          </c:val>
          <c:smooth val="0"/>
        </c:ser>
        <c:ser>
          <c:idx val="1"/>
          <c:order val="1"/>
          <c:tx>
            <c:strRef>
              <c:f>Sheet1!$C$1</c:f>
              <c:strCache>
                <c:ptCount val="1"/>
                <c:pt idx="0">
                  <c:v>Half exchange</c:v>
                </c:pt>
              </c:strCache>
            </c:strRef>
          </c:tx>
          <c:spPr>
            <a:solidFill>
              <a:srgbClr val="D98324"/>
            </a:solidFill>
            <a:ln w="15875" cap="flat">
              <a:solidFill>
                <a:srgbClr val="D983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98324"/>
              </a:solidFill>
              <a:ln w="9525" cap="flat">
                <a:solidFill>
                  <a:srgbClr val="D98324"/>
                </a:solidFill>
                <a:prstDash val="solid"/>
                <a:round/>
              </a:ln>
              <a:effectLst/>
            </c:spPr>
          </c:marker>
          <c:cat>
            <c:multiLvlStrRef>
              <c:f>Sheet1!$A$2:$A$181</c:f>
              <c:multiLvlStrCache>
                <c:ptCount val="18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lvl>
              </c:multiLvlStrCache>
            </c:multiLvlStrRef>
          </c:cat>
          <c:val>
            <c:numRef>
              <c:f>Sheet1!$C$2:$C$181</c:f>
              <c:numCache>
                <c:formatCode>General</c:formatCode>
                <c:ptCount val="180"/>
                <c:pt idx="0">
                  <c:v>20.35</c:v>
                </c:pt>
                <c:pt idx="1">
                  <c:v>21.01</c:v>
                </c:pt>
                <c:pt idx="2">
                  <c:v>21.39</c:v>
                </c:pt>
                <c:pt idx="3">
                  <c:v>22.57</c:v>
                </c:pt>
                <c:pt idx="4">
                  <c:v>23.33</c:v>
                </c:pt>
                <c:pt idx="5">
                  <c:v>22.89</c:v>
                </c:pt>
                <c:pt idx="6">
                  <c:v>23.56</c:v>
                </c:pt>
                <c:pt idx="7">
                  <c:v>23.42</c:v>
                </c:pt>
                <c:pt idx="8">
                  <c:v>22.32</c:v>
                </c:pt>
                <c:pt idx="9">
                  <c:v>22.52</c:v>
                </c:pt>
                <c:pt idx="10">
                  <c:v>21.08</c:v>
                </c:pt>
                <c:pt idx="11">
                  <c:v>19.95</c:v>
                </c:pt>
                <c:pt idx="12">
                  <c:v>20.18</c:v>
                </c:pt>
                <c:pt idx="13">
                  <c:v>19.49</c:v>
                </c:pt>
                <c:pt idx="14">
                  <c:v>17.27</c:v>
                </c:pt>
                <c:pt idx="15">
                  <c:v>17.64</c:v>
                </c:pt>
                <c:pt idx="16">
                  <c:v>19.03</c:v>
                </c:pt>
                <c:pt idx="17">
                  <c:v>20.51</c:v>
                </c:pt>
                <c:pt idx="18">
                  <c:v>20.87</c:v>
                </c:pt>
                <c:pt idx="19">
                  <c:v>20.75</c:v>
                </c:pt>
                <c:pt idx="20">
                  <c:v>17.76</c:v>
                </c:pt>
                <c:pt idx="21">
                  <c:v>13.18</c:v>
                </c:pt>
                <c:pt idx="22">
                  <c:v>13.09</c:v>
                </c:pt>
                <c:pt idx="23">
                  <c:v>15</c:v>
                </c:pt>
                <c:pt idx="24">
                  <c:v>13.29</c:v>
                </c:pt>
                <c:pt idx="25">
                  <c:v>12.55</c:v>
                </c:pt>
                <c:pt idx="26">
                  <c:v>15.61</c:v>
                </c:pt>
                <c:pt idx="27">
                  <c:v>13.87</c:v>
                </c:pt>
                <c:pt idx="28">
                  <c:v>14.03</c:v>
                </c:pt>
                <c:pt idx="29">
                  <c:v>14</c:v>
                </c:pt>
                <c:pt idx="30">
                  <c:v>12.05</c:v>
                </c:pt>
                <c:pt idx="31">
                  <c:v>9.9</c:v>
                </c:pt>
                <c:pt idx="32">
                  <c:v>8.01</c:v>
                </c:pt>
                <c:pt idx="33">
                  <c:v>9</c:v>
                </c:pt>
                <c:pt idx="34">
                  <c:v>11.9</c:v>
                </c:pt>
                <c:pt idx="35">
                  <c:v>14.47</c:v>
                </c:pt>
                <c:pt idx="36">
                  <c:v>11.07</c:v>
                </c:pt>
                <c:pt idx="37">
                  <c:v>10.43</c:v>
                </c:pt>
                <c:pt idx="38">
                  <c:v>9.43</c:v>
                </c:pt>
                <c:pt idx="39">
                  <c:v>5.77</c:v>
                </c:pt>
                <c:pt idx="40">
                  <c:v>8.16</c:v>
                </c:pt>
                <c:pt idx="41">
                  <c:v>6.67</c:v>
                </c:pt>
                <c:pt idx="42">
                  <c:v>8.24</c:v>
                </c:pt>
                <c:pt idx="43">
                  <c:v>8.08</c:v>
                </c:pt>
                <c:pt idx="44">
                  <c:v>5.87</c:v>
                </c:pt>
                <c:pt idx="45">
                  <c:v>8.83</c:v>
                </c:pt>
                <c:pt idx="46">
                  <c:v>8.92</c:v>
                </c:pt>
                <c:pt idx="47">
                  <c:v>7.79</c:v>
                </c:pt>
                <c:pt idx="48">
                  <c:v>5.99</c:v>
                </c:pt>
                <c:pt idx="49">
                  <c:v>7.96</c:v>
                </c:pt>
                <c:pt idx="50">
                  <c:v>3.54</c:v>
                </c:pt>
                <c:pt idx="51">
                  <c:v>8.64</c:v>
                </c:pt>
                <c:pt idx="52">
                  <c:v>8.43</c:v>
                </c:pt>
                <c:pt idx="53">
                  <c:v>9.77</c:v>
                </c:pt>
                <c:pt idx="54">
                  <c:v>9.7</c:v>
                </c:pt>
                <c:pt idx="55">
                  <c:v>9.11</c:v>
                </c:pt>
                <c:pt idx="56">
                  <c:v>9.06</c:v>
                </c:pt>
                <c:pt idx="57">
                  <c:v>9.1</c:v>
                </c:pt>
                <c:pt idx="58">
                  <c:v>6.4</c:v>
                </c:pt>
                <c:pt idx="59">
                  <c:v>8.72</c:v>
                </c:pt>
                <c:pt idx="60">
                  <c:v>9.1</c:v>
                </c:pt>
                <c:pt idx="61">
                  <c:v>5.88</c:v>
                </c:pt>
                <c:pt idx="62">
                  <c:v>10.3</c:v>
                </c:pt>
                <c:pt idx="63">
                  <c:v>13</c:v>
                </c:pt>
                <c:pt idx="64">
                  <c:v>11.12</c:v>
                </c:pt>
                <c:pt idx="65">
                  <c:v>8.58</c:v>
                </c:pt>
                <c:pt idx="66">
                  <c:v>6.19</c:v>
                </c:pt>
                <c:pt idx="67">
                  <c:v>5.17</c:v>
                </c:pt>
                <c:pt idx="68">
                  <c:v>11.86</c:v>
                </c:pt>
                <c:pt idx="69">
                  <c:v>12.62</c:v>
                </c:pt>
                <c:pt idx="70">
                  <c:v>9.93</c:v>
                </c:pt>
                <c:pt idx="71">
                  <c:v>8.13</c:v>
                </c:pt>
                <c:pt idx="72">
                  <c:v>4.61</c:v>
                </c:pt>
                <c:pt idx="73">
                  <c:v>5.57</c:v>
                </c:pt>
                <c:pt idx="74">
                  <c:v>3.95</c:v>
                </c:pt>
                <c:pt idx="75">
                  <c:v>4.25</c:v>
                </c:pt>
                <c:pt idx="76">
                  <c:v>2.05</c:v>
                </c:pt>
                <c:pt idx="77">
                  <c:v>4.1</c:v>
                </c:pt>
                <c:pt idx="78">
                  <c:v>3.69</c:v>
                </c:pt>
                <c:pt idx="79">
                  <c:v>5.1</c:v>
                </c:pt>
                <c:pt idx="80">
                  <c:v>4.81</c:v>
                </c:pt>
                <c:pt idx="81">
                  <c:v>4.35</c:v>
                </c:pt>
                <c:pt idx="82">
                  <c:v>4.34</c:v>
                </c:pt>
                <c:pt idx="83">
                  <c:v>4.8</c:v>
                </c:pt>
                <c:pt idx="84">
                  <c:v>5.67</c:v>
                </c:pt>
                <c:pt idx="85">
                  <c:v>6.39</c:v>
                </c:pt>
                <c:pt idx="86">
                  <c:v>11.12</c:v>
                </c:pt>
                <c:pt idx="87">
                  <c:v>8.51</c:v>
                </c:pt>
                <c:pt idx="88">
                  <c:v>9.84</c:v>
                </c:pt>
                <c:pt idx="89">
                  <c:v>12.27</c:v>
                </c:pt>
                <c:pt idx="90">
                  <c:v>22.37</c:v>
                </c:pt>
                <c:pt idx="91">
                  <c:v>24.9</c:v>
                </c:pt>
                <c:pt idx="92">
                  <c:v>24.12</c:v>
                </c:pt>
                <c:pt idx="93">
                  <c:v>24.85</c:v>
                </c:pt>
                <c:pt idx="94">
                  <c:v>26.67</c:v>
                </c:pt>
                <c:pt idx="95">
                  <c:v>26.15</c:v>
                </c:pt>
                <c:pt idx="96">
                  <c:v>26.62</c:v>
                </c:pt>
                <c:pt idx="97">
                  <c:v>29.53</c:v>
                </c:pt>
                <c:pt idx="98">
                  <c:v>28.47</c:v>
                </c:pt>
                <c:pt idx="99">
                  <c:v>26.41</c:v>
                </c:pt>
                <c:pt idx="100">
                  <c:v>28.02</c:v>
                </c:pt>
                <c:pt idx="101">
                  <c:v>28.08</c:v>
                </c:pt>
                <c:pt idx="102">
                  <c:v>29.63</c:v>
                </c:pt>
                <c:pt idx="103">
                  <c:v>31.33</c:v>
                </c:pt>
                <c:pt idx="104">
                  <c:v>30.02</c:v>
                </c:pt>
                <c:pt idx="105">
                  <c:v>30.36</c:v>
                </c:pt>
                <c:pt idx="106">
                  <c:v>29.14</c:v>
                </c:pt>
                <c:pt idx="107">
                  <c:v>29.1</c:v>
                </c:pt>
                <c:pt idx="108">
                  <c:v>28.01</c:v>
                </c:pt>
                <c:pt idx="109">
                  <c:v>27.46</c:v>
                </c:pt>
                <c:pt idx="110">
                  <c:v>27.2</c:v>
                </c:pt>
                <c:pt idx="111">
                  <c:v>27.15</c:v>
                </c:pt>
                <c:pt idx="112">
                  <c:v>27.43</c:v>
                </c:pt>
                <c:pt idx="113">
                  <c:v>26.8</c:v>
                </c:pt>
                <c:pt idx="114">
                  <c:v>28.42</c:v>
                </c:pt>
                <c:pt idx="115">
                  <c:v>28.42</c:v>
                </c:pt>
                <c:pt idx="116">
                  <c:v>28.1</c:v>
                </c:pt>
                <c:pt idx="117">
                  <c:v>28.17</c:v>
                </c:pt>
                <c:pt idx="118">
                  <c:v>27.4</c:v>
                </c:pt>
                <c:pt idx="119">
                  <c:v>27.65</c:v>
                </c:pt>
                <c:pt idx="120">
                  <c:v>30.07</c:v>
                </c:pt>
                <c:pt idx="121">
                  <c:v>30.84</c:v>
                </c:pt>
                <c:pt idx="122">
                  <c:v>26.55</c:v>
                </c:pt>
                <c:pt idx="123">
                  <c:v>25.7</c:v>
                </c:pt>
                <c:pt idx="124">
                  <c:v>25.76</c:v>
                </c:pt>
                <c:pt idx="125">
                  <c:v>26.18</c:v>
                </c:pt>
                <c:pt idx="126">
                  <c:v>26.67</c:v>
                </c:pt>
                <c:pt idx="127">
                  <c:v>25.5</c:v>
                </c:pt>
                <c:pt idx="128">
                  <c:v>26.32</c:v>
                </c:pt>
                <c:pt idx="129">
                  <c:v>25.84</c:v>
                </c:pt>
                <c:pt idx="130">
                  <c:v>25.79</c:v>
                </c:pt>
                <c:pt idx="131">
                  <c:v>26.7</c:v>
                </c:pt>
                <c:pt idx="132">
                  <c:v>28.15</c:v>
                </c:pt>
                <c:pt idx="133">
                  <c:v>29.98</c:v>
                </c:pt>
                <c:pt idx="134">
                  <c:v>30.39</c:v>
                </c:pt>
                <c:pt idx="135">
                  <c:v>29.79</c:v>
                </c:pt>
                <c:pt idx="136">
                  <c:v>28.96</c:v>
                </c:pt>
                <c:pt idx="137">
                  <c:v>29.17</c:v>
                </c:pt>
                <c:pt idx="138">
                  <c:v>28.73</c:v>
                </c:pt>
                <c:pt idx="139">
                  <c:v>26.77</c:v>
                </c:pt>
                <c:pt idx="140">
                  <c:v>27.65</c:v>
                </c:pt>
                <c:pt idx="141">
                  <c:v>29.54</c:v>
                </c:pt>
                <c:pt idx="142">
                  <c:v>28.59</c:v>
                </c:pt>
                <c:pt idx="143">
                  <c:v>27.3</c:v>
                </c:pt>
                <c:pt idx="144">
                  <c:v>27.03</c:v>
                </c:pt>
                <c:pt idx="145">
                  <c:v>25.78</c:v>
                </c:pt>
                <c:pt idx="146">
                  <c:v>26.15</c:v>
                </c:pt>
                <c:pt idx="147">
                  <c:v>27.17</c:v>
                </c:pt>
                <c:pt idx="148">
                  <c:v>26.76</c:v>
                </c:pt>
                <c:pt idx="149">
                  <c:v>28.59</c:v>
                </c:pt>
                <c:pt idx="150">
                  <c:v>30.33</c:v>
                </c:pt>
                <c:pt idx="151">
                  <c:v>29.9</c:v>
                </c:pt>
                <c:pt idx="152">
                  <c:v>29.51</c:v>
                </c:pt>
                <c:pt idx="153">
                  <c:v>30.52</c:v>
                </c:pt>
                <c:pt idx="154">
                  <c:v>34.6</c:v>
                </c:pt>
                <c:pt idx="155">
                  <c:v>33.49</c:v>
                </c:pt>
                <c:pt idx="156">
                  <c:v>31.15</c:v>
                </c:pt>
                <c:pt idx="157">
                  <c:v>31.37</c:v>
                </c:pt>
                <c:pt idx="158">
                  <c:v>28.98</c:v>
                </c:pt>
                <c:pt idx="159">
                  <c:v>27.91</c:v>
                </c:pt>
                <c:pt idx="160">
                  <c:v>28.42</c:v>
                </c:pt>
                <c:pt idx="161">
                  <c:v>24.31</c:v>
                </c:pt>
                <c:pt idx="162">
                  <c:v>20.85</c:v>
                </c:pt>
                <c:pt idx="163">
                  <c:v>21.06</c:v>
                </c:pt>
                <c:pt idx="164">
                  <c:v>20.68</c:v>
                </c:pt>
                <c:pt idx="165">
                  <c:v>20.79</c:v>
                </c:pt>
                <c:pt idx="166">
                  <c:v>19.19</c:v>
                </c:pt>
                <c:pt idx="167">
                  <c:v>18.62</c:v>
                </c:pt>
                <c:pt idx="168">
                  <c:v>18.94</c:v>
                </c:pt>
                <c:pt idx="169">
                  <c:v>20.23</c:v>
                </c:pt>
                <c:pt idx="170">
                  <c:v>20.25</c:v>
                </c:pt>
                <c:pt idx="171">
                  <c:v>21.62</c:v>
                </c:pt>
                <c:pt idx="172">
                  <c:v>23.98</c:v>
                </c:pt>
                <c:pt idx="173">
                  <c:v>25.31</c:v>
                </c:pt>
                <c:pt idx="174">
                  <c:v>25.9</c:v>
                </c:pt>
                <c:pt idx="175">
                  <c:v>24.1</c:v>
                </c:pt>
                <c:pt idx="176">
                  <c:v>23.21</c:v>
                </c:pt>
                <c:pt idx="177">
                  <c:v>22.83</c:v>
                </c:pt>
                <c:pt idx="178">
                  <c:v>22.75</c:v>
                </c:pt>
                <c:pt idx="179">
                  <c:v>22.64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C9D0DA"/>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4A5568"/>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7B61A8"/>
                </a:solidFill>
                <a:latin typeface="+mn-lt"/>
              </a:defRPr>
            </a:pPr>
            <a:r>
              <a:rPr sz="1100" b="0" i="0" u="none" strike="noStrike">
                <a:solidFill>
                  <a:srgbClr val="7B61A8"/>
                </a:solidFill>
                <a:latin typeface="+mn-lt"/>
              </a:rPr>
              <a:t>Masking: rank 1 → 35</a:t>
            </a:r>
          </a:p>
        </c:rich>
      </c:tx>
      <c:layout/>
      <c:overlay val="0"/>
    </c:title>
    <c:autoTitleDeleted val="0"/>
    <c:plotArea>
      <c:layout/>
      <c:lineChart>
        <c:varyColors val="0"/>
        <c:ser>
          <c:idx val="0"/>
          <c:order val="0"/>
          <c:tx>
            <c:strRef>
              <c:f>Sheet1!$B$1</c:f>
              <c:strCache>
                <c:ptCount val="1"/>
                <c:pt idx="0">
                  <c:v>Original</c:v>
                </c:pt>
              </c:strCache>
            </c:strRef>
          </c:tx>
          <c:spPr>
            <a:solidFill>
              <a:srgbClr val="B9C2CF"/>
            </a:solidFill>
            <a:ln w="15875" cap="flat">
              <a:solidFill>
                <a:srgbClr val="B9C2C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C2CF"/>
              </a:solidFill>
              <a:ln w="9525" cap="flat">
                <a:solidFill>
                  <a:srgbClr val="B9C2CF"/>
                </a:solidFill>
                <a:prstDash val="solid"/>
                <a:round/>
              </a:ln>
              <a:effectLst/>
            </c:spPr>
          </c:marker>
          <c:cat>
            <c:multiLvlStrRef>
              <c:f>Sheet1!$A$2:$A$181</c:f>
              <c:multiLvlStrCache>
                <c:ptCount val="18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lvl>
              </c:multiLvlStrCache>
            </c:multiLvlStrRef>
          </c:cat>
          <c:val>
            <c:numRef>
              <c:f>Sheet1!$B$2:$B$181</c:f>
              <c:numCache>
                <c:formatCode>General</c:formatCode>
                <c:ptCount val="180"/>
                <c:pt idx="0">
                  <c:v>22.37</c:v>
                </c:pt>
                <c:pt idx="1">
                  <c:v>24.9</c:v>
                </c:pt>
                <c:pt idx="2">
                  <c:v>24.12</c:v>
                </c:pt>
                <c:pt idx="3">
                  <c:v>24.85</c:v>
                </c:pt>
                <c:pt idx="4">
                  <c:v>26.67</c:v>
                </c:pt>
                <c:pt idx="5">
                  <c:v>26.15</c:v>
                </c:pt>
                <c:pt idx="6">
                  <c:v>26.62</c:v>
                </c:pt>
                <c:pt idx="7">
                  <c:v>29.53</c:v>
                </c:pt>
                <c:pt idx="8">
                  <c:v>28.47</c:v>
                </c:pt>
                <c:pt idx="9">
                  <c:v>26.41</c:v>
                </c:pt>
                <c:pt idx="10">
                  <c:v>28.02</c:v>
                </c:pt>
                <c:pt idx="11">
                  <c:v>28.08</c:v>
                </c:pt>
                <c:pt idx="12">
                  <c:v>29.63</c:v>
                </c:pt>
                <c:pt idx="13">
                  <c:v>31.33</c:v>
                </c:pt>
                <c:pt idx="14">
                  <c:v>30.02</c:v>
                </c:pt>
                <c:pt idx="15">
                  <c:v>30.36</c:v>
                </c:pt>
                <c:pt idx="16">
                  <c:v>29.14</c:v>
                </c:pt>
                <c:pt idx="17">
                  <c:v>29.1</c:v>
                </c:pt>
                <c:pt idx="18">
                  <c:v>28.01</c:v>
                </c:pt>
                <c:pt idx="19">
                  <c:v>27.46</c:v>
                </c:pt>
                <c:pt idx="20">
                  <c:v>27.2</c:v>
                </c:pt>
                <c:pt idx="21">
                  <c:v>27.15</c:v>
                </c:pt>
                <c:pt idx="22">
                  <c:v>27.43</c:v>
                </c:pt>
                <c:pt idx="23">
                  <c:v>26.8</c:v>
                </c:pt>
                <c:pt idx="24">
                  <c:v>28.42</c:v>
                </c:pt>
                <c:pt idx="25">
                  <c:v>28.42</c:v>
                </c:pt>
                <c:pt idx="26">
                  <c:v>28.1</c:v>
                </c:pt>
                <c:pt idx="27">
                  <c:v>28.17</c:v>
                </c:pt>
                <c:pt idx="28">
                  <c:v>27.4</c:v>
                </c:pt>
                <c:pt idx="29">
                  <c:v>27.65</c:v>
                </c:pt>
                <c:pt idx="30">
                  <c:v>30.07</c:v>
                </c:pt>
                <c:pt idx="31">
                  <c:v>30.84</c:v>
                </c:pt>
                <c:pt idx="32">
                  <c:v>26.55</c:v>
                </c:pt>
                <c:pt idx="33">
                  <c:v>25.7</c:v>
                </c:pt>
                <c:pt idx="34">
                  <c:v>25.76</c:v>
                </c:pt>
                <c:pt idx="35">
                  <c:v>26.18</c:v>
                </c:pt>
                <c:pt idx="36">
                  <c:v>26.67</c:v>
                </c:pt>
                <c:pt idx="37">
                  <c:v>25.5</c:v>
                </c:pt>
                <c:pt idx="38">
                  <c:v>26.32</c:v>
                </c:pt>
                <c:pt idx="39">
                  <c:v>25.84</c:v>
                </c:pt>
                <c:pt idx="40">
                  <c:v>25.79</c:v>
                </c:pt>
                <c:pt idx="41">
                  <c:v>26.7</c:v>
                </c:pt>
                <c:pt idx="42">
                  <c:v>28.15</c:v>
                </c:pt>
                <c:pt idx="43">
                  <c:v>29.98</c:v>
                </c:pt>
                <c:pt idx="44">
                  <c:v>30.39</c:v>
                </c:pt>
                <c:pt idx="45">
                  <c:v>29.79</c:v>
                </c:pt>
                <c:pt idx="46">
                  <c:v>28.96</c:v>
                </c:pt>
                <c:pt idx="47">
                  <c:v>29.17</c:v>
                </c:pt>
                <c:pt idx="48">
                  <c:v>28.73</c:v>
                </c:pt>
                <c:pt idx="49">
                  <c:v>26.77</c:v>
                </c:pt>
                <c:pt idx="50">
                  <c:v>27.65</c:v>
                </c:pt>
                <c:pt idx="51">
                  <c:v>29.54</c:v>
                </c:pt>
                <c:pt idx="52">
                  <c:v>28.59</c:v>
                </c:pt>
                <c:pt idx="53">
                  <c:v>27.3</c:v>
                </c:pt>
                <c:pt idx="54">
                  <c:v>27.03</c:v>
                </c:pt>
                <c:pt idx="55">
                  <c:v>25.78</c:v>
                </c:pt>
                <c:pt idx="56">
                  <c:v>26.15</c:v>
                </c:pt>
                <c:pt idx="57">
                  <c:v>27.17</c:v>
                </c:pt>
                <c:pt idx="58">
                  <c:v>26.76</c:v>
                </c:pt>
                <c:pt idx="59">
                  <c:v>28.59</c:v>
                </c:pt>
                <c:pt idx="60">
                  <c:v>30.33</c:v>
                </c:pt>
                <c:pt idx="61">
                  <c:v>29.9</c:v>
                </c:pt>
                <c:pt idx="62">
                  <c:v>29.51</c:v>
                </c:pt>
                <c:pt idx="63">
                  <c:v>30.52</c:v>
                </c:pt>
                <c:pt idx="64">
                  <c:v>34.6</c:v>
                </c:pt>
                <c:pt idx="65">
                  <c:v>33.49</c:v>
                </c:pt>
                <c:pt idx="66">
                  <c:v>31.15</c:v>
                </c:pt>
                <c:pt idx="67">
                  <c:v>31.37</c:v>
                </c:pt>
                <c:pt idx="68">
                  <c:v>28.98</c:v>
                </c:pt>
                <c:pt idx="69">
                  <c:v>27.91</c:v>
                </c:pt>
                <c:pt idx="70">
                  <c:v>28.42</c:v>
                </c:pt>
                <c:pt idx="71">
                  <c:v>24.31</c:v>
                </c:pt>
                <c:pt idx="72">
                  <c:v>20.85</c:v>
                </c:pt>
                <c:pt idx="73">
                  <c:v>21.06</c:v>
                </c:pt>
                <c:pt idx="74">
                  <c:v>20.68</c:v>
                </c:pt>
                <c:pt idx="75">
                  <c:v>20.79</c:v>
                </c:pt>
                <c:pt idx="76">
                  <c:v>19.19</c:v>
                </c:pt>
                <c:pt idx="77">
                  <c:v>18.62</c:v>
                </c:pt>
                <c:pt idx="78">
                  <c:v>18.94</c:v>
                </c:pt>
                <c:pt idx="79">
                  <c:v>20.23</c:v>
                </c:pt>
                <c:pt idx="80">
                  <c:v>20.25</c:v>
                </c:pt>
                <c:pt idx="81">
                  <c:v>21.62</c:v>
                </c:pt>
                <c:pt idx="82">
                  <c:v>23.98</c:v>
                </c:pt>
                <c:pt idx="83">
                  <c:v>25.31</c:v>
                </c:pt>
                <c:pt idx="84">
                  <c:v>25.9</c:v>
                </c:pt>
                <c:pt idx="85">
                  <c:v>24.1</c:v>
                </c:pt>
                <c:pt idx="86">
                  <c:v>23.21</c:v>
                </c:pt>
                <c:pt idx="87">
                  <c:v>22.83</c:v>
                </c:pt>
                <c:pt idx="88">
                  <c:v>22.75</c:v>
                </c:pt>
                <c:pt idx="89">
                  <c:v>22.64</c:v>
                </c:pt>
                <c:pt idx="90">
                  <c:v>20.35</c:v>
                </c:pt>
                <c:pt idx="91">
                  <c:v>21.01</c:v>
                </c:pt>
                <c:pt idx="92">
                  <c:v>21.39</c:v>
                </c:pt>
                <c:pt idx="93">
                  <c:v>22.57</c:v>
                </c:pt>
                <c:pt idx="94">
                  <c:v>23.33</c:v>
                </c:pt>
                <c:pt idx="95">
                  <c:v>22.89</c:v>
                </c:pt>
                <c:pt idx="96">
                  <c:v>23.56</c:v>
                </c:pt>
                <c:pt idx="97">
                  <c:v>23.42</c:v>
                </c:pt>
                <c:pt idx="98">
                  <c:v>22.32</c:v>
                </c:pt>
                <c:pt idx="99">
                  <c:v>22.52</c:v>
                </c:pt>
                <c:pt idx="100">
                  <c:v>21.08</c:v>
                </c:pt>
                <c:pt idx="101">
                  <c:v>19.95</c:v>
                </c:pt>
                <c:pt idx="102">
                  <c:v>20.18</c:v>
                </c:pt>
                <c:pt idx="103">
                  <c:v>19.49</c:v>
                </c:pt>
                <c:pt idx="104">
                  <c:v>17.27</c:v>
                </c:pt>
                <c:pt idx="105">
                  <c:v>17.64</c:v>
                </c:pt>
                <c:pt idx="106">
                  <c:v>19.03</c:v>
                </c:pt>
                <c:pt idx="107">
                  <c:v>20.51</c:v>
                </c:pt>
                <c:pt idx="108">
                  <c:v>20.87</c:v>
                </c:pt>
                <c:pt idx="109">
                  <c:v>20.75</c:v>
                </c:pt>
                <c:pt idx="110">
                  <c:v>17.76</c:v>
                </c:pt>
                <c:pt idx="111">
                  <c:v>13.18</c:v>
                </c:pt>
                <c:pt idx="112">
                  <c:v>13.09</c:v>
                </c:pt>
                <c:pt idx="113">
                  <c:v>15</c:v>
                </c:pt>
                <c:pt idx="114">
                  <c:v>13.29</c:v>
                </c:pt>
                <c:pt idx="115">
                  <c:v>12.55</c:v>
                </c:pt>
                <c:pt idx="116">
                  <c:v>15.61</c:v>
                </c:pt>
                <c:pt idx="117">
                  <c:v>13.87</c:v>
                </c:pt>
                <c:pt idx="118">
                  <c:v>14.03</c:v>
                </c:pt>
                <c:pt idx="119">
                  <c:v>14</c:v>
                </c:pt>
                <c:pt idx="120">
                  <c:v>12.05</c:v>
                </c:pt>
                <c:pt idx="121">
                  <c:v>9.9</c:v>
                </c:pt>
                <c:pt idx="122">
                  <c:v>8.01</c:v>
                </c:pt>
                <c:pt idx="123">
                  <c:v>9</c:v>
                </c:pt>
                <c:pt idx="124">
                  <c:v>11.9</c:v>
                </c:pt>
                <c:pt idx="125">
                  <c:v>14.47</c:v>
                </c:pt>
                <c:pt idx="126">
                  <c:v>11.07</c:v>
                </c:pt>
                <c:pt idx="127">
                  <c:v>10.43</c:v>
                </c:pt>
                <c:pt idx="128">
                  <c:v>9.43</c:v>
                </c:pt>
                <c:pt idx="129">
                  <c:v>5.77</c:v>
                </c:pt>
                <c:pt idx="130">
                  <c:v>8.16</c:v>
                </c:pt>
                <c:pt idx="131">
                  <c:v>6.67</c:v>
                </c:pt>
                <c:pt idx="132">
                  <c:v>8.24</c:v>
                </c:pt>
                <c:pt idx="133">
                  <c:v>8.08</c:v>
                </c:pt>
                <c:pt idx="134">
                  <c:v>5.87</c:v>
                </c:pt>
                <c:pt idx="135">
                  <c:v>8.83</c:v>
                </c:pt>
                <c:pt idx="136">
                  <c:v>8.92</c:v>
                </c:pt>
                <c:pt idx="137">
                  <c:v>7.79</c:v>
                </c:pt>
                <c:pt idx="138">
                  <c:v>5.99</c:v>
                </c:pt>
                <c:pt idx="139">
                  <c:v>7.96</c:v>
                </c:pt>
                <c:pt idx="140">
                  <c:v>3.54</c:v>
                </c:pt>
                <c:pt idx="141">
                  <c:v>8.64</c:v>
                </c:pt>
                <c:pt idx="142">
                  <c:v>8.43</c:v>
                </c:pt>
                <c:pt idx="143">
                  <c:v>9.77</c:v>
                </c:pt>
                <c:pt idx="144">
                  <c:v>9.7</c:v>
                </c:pt>
                <c:pt idx="145">
                  <c:v>9.11</c:v>
                </c:pt>
                <c:pt idx="146">
                  <c:v>9.06</c:v>
                </c:pt>
                <c:pt idx="147">
                  <c:v>9.1</c:v>
                </c:pt>
                <c:pt idx="148">
                  <c:v>6.4</c:v>
                </c:pt>
                <c:pt idx="149">
                  <c:v>8.72</c:v>
                </c:pt>
                <c:pt idx="150">
                  <c:v>9.1</c:v>
                </c:pt>
                <c:pt idx="151">
                  <c:v>5.88</c:v>
                </c:pt>
                <c:pt idx="152">
                  <c:v>10.3</c:v>
                </c:pt>
                <c:pt idx="153">
                  <c:v>13</c:v>
                </c:pt>
                <c:pt idx="154">
                  <c:v>11.12</c:v>
                </c:pt>
                <c:pt idx="155">
                  <c:v>8.58</c:v>
                </c:pt>
                <c:pt idx="156">
                  <c:v>6.19</c:v>
                </c:pt>
                <c:pt idx="157">
                  <c:v>5.17</c:v>
                </c:pt>
                <c:pt idx="158">
                  <c:v>11.86</c:v>
                </c:pt>
                <c:pt idx="159">
                  <c:v>12.62</c:v>
                </c:pt>
                <c:pt idx="160">
                  <c:v>9.93</c:v>
                </c:pt>
                <c:pt idx="161">
                  <c:v>8.13</c:v>
                </c:pt>
                <c:pt idx="162">
                  <c:v>4.61</c:v>
                </c:pt>
                <c:pt idx="163">
                  <c:v>5.57</c:v>
                </c:pt>
                <c:pt idx="164">
                  <c:v>3.95</c:v>
                </c:pt>
                <c:pt idx="165">
                  <c:v>4.25</c:v>
                </c:pt>
                <c:pt idx="166">
                  <c:v>2.05</c:v>
                </c:pt>
                <c:pt idx="167">
                  <c:v>4.1</c:v>
                </c:pt>
                <c:pt idx="168">
                  <c:v>3.69</c:v>
                </c:pt>
                <c:pt idx="169">
                  <c:v>5.1</c:v>
                </c:pt>
                <c:pt idx="170">
                  <c:v>4.81</c:v>
                </c:pt>
                <c:pt idx="171">
                  <c:v>4.35</c:v>
                </c:pt>
                <c:pt idx="172">
                  <c:v>4.34</c:v>
                </c:pt>
                <c:pt idx="173">
                  <c:v>4.8</c:v>
                </c:pt>
                <c:pt idx="174">
                  <c:v>5.67</c:v>
                </c:pt>
                <c:pt idx="175">
                  <c:v>6.39</c:v>
                </c:pt>
                <c:pt idx="176">
                  <c:v>11.12</c:v>
                </c:pt>
                <c:pt idx="177">
                  <c:v>8.51</c:v>
                </c:pt>
                <c:pt idx="178">
                  <c:v>9.84</c:v>
                </c:pt>
                <c:pt idx="179">
                  <c:v>12.27</c:v>
                </c:pt>
              </c:numCache>
            </c:numRef>
          </c:val>
          <c:smooth val="0"/>
        </c:ser>
        <c:ser>
          <c:idx val="1"/>
          <c:order val="1"/>
          <c:tx>
            <c:strRef>
              <c:f>Sheet1!$C$1</c:f>
              <c:strCache>
                <c:ptCount val="1"/>
                <c:pt idx="0">
                  <c:v>Masking</c:v>
                </c:pt>
              </c:strCache>
            </c:strRef>
          </c:tx>
          <c:spPr>
            <a:solidFill>
              <a:srgbClr val="7B61A8"/>
            </a:solidFill>
            <a:ln w="15875" cap="flat">
              <a:solidFill>
                <a:srgbClr val="7B61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B61A8"/>
              </a:solidFill>
              <a:ln w="9525" cap="flat">
                <a:solidFill>
                  <a:srgbClr val="7B61A8"/>
                </a:solidFill>
                <a:prstDash val="solid"/>
                <a:round/>
              </a:ln>
              <a:effectLst/>
            </c:spPr>
          </c:marker>
          <c:cat>
            <c:multiLvlStrRef>
              <c:f>Sheet1!$A$2:$A$181</c:f>
              <c:multiLvlStrCache>
                <c:ptCount val="18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lvl>
              </c:multiLvlStrCache>
            </c:multiLvlStrRef>
          </c:cat>
          <c:val>
            <c:numRef>
              <c:f>Sheet1!$C$2:$C$181</c:f>
              <c:numCache>
                <c:formatCode>General</c:formatCode>
                <c:ptCount val="180"/>
                <c:pt idx="0">
                  <c:v>22.37</c:v>
                </c:pt>
                <c:pt idx="1">
                  <c:v>24.9</c:v>
                </c:pt>
                <c:pt idx="2">
                  <c:v>24.12</c:v>
                </c:pt>
                <c:pt idx="3">
                  <c:v>24.85</c:v>
                </c:pt>
                <c:pt idx="4">
                  <c:v>26.67</c:v>
                </c:pt>
                <c:pt idx="5">
                  <c:v>26.15</c:v>
                </c:pt>
                <c:pt idx="6">
                  <c:v>26.62</c:v>
                </c:pt>
                <c:pt idx="7">
                  <c:v>29.53</c:v>
                </c:pt>
                <c:pt idx="8">
                  <c:v>19.17</c:v>
                </c:pt>
                <c:pt idx="9">
                  <c:v>26.41</c:v>
                </c:pt>
                <c:pt idx="10">
                  <c:v>19.17</c:v>
                </c:pt>
                <c:pt idx="11">
                  <c:v>28.08</c:v>
                </c:pt>
                <c:pt idx="12">
                  <c:v>29.63</c:v>
                </c:pt>
                <c:pt idx="13">
                  <c:v>31.33</c:v>
                </c:pt>
                <c:pt idx="14">
                  <c:v>30.02</c:v>
                </c:pt>
                <c:pt idx="15">
                  <c:v>30.36</c:v>
                </c:pt>
                <c:pt idx="16">
                  <c:v>29.14</c:v>
                </c:pt>
                <c:pt idx="17">
                  <c:v>29.1</c:v>
                </c:pt>
                <c:pt idx="18">
                  <c:v>28.01</c:v>
                </c:pt>
                <c:pt idx="19">
                  <c:v>19.17</c:v>
                </c:pt>
                <c:pt idx="20">
                  <c:v>27.2</c:v>
                </c:pt>
                <c:pt idx="21">
                  <c:v>27.15</c:v>
                </c:pt>
                <c:pt idx="22">
                  <c:v>19.17</c:v>
                </c:pt>
                <c:pt idx="23">
                  <c:v>26.8</c:v>
                </c:pt>
                <c:pt idx="24">
                  <c:v>28.42</c:v>
                </c:pt>
                <c:pt idx="25">
                  <c:v>28.42</c:v>
                </c:pt>
                <c:pt idx="26">
                  <c:v>19.17</c:v>
                </c:pt>
                <c:pt idx="27">
                  <c:v>28.17</c:v>
                </c:pt>
                <c:pt idx="28">
                  <c:v>27.4</c:v>
                </c:pt>
                <c:pt idx="29">
                  <c:v>27.65</c:v>
                </c:pt>
                <c:pt idx="30">
                  <c:v>30.07</c:v>
                </c:pt>
                <c:pt idx="31">
                  <c:v>30.84</c:v>
                </c:pt>
                <c:pt idx="32">
                  <c:v>26.55</c:v>
                </c:pt>
                <c:pt idx="33">
                  <c:v>25.7</c:v>
                </c:pt>
                <c:pt idx="34">
                  <c:v>25.76</c:v>
                </c:pt>
                <c:pt idx="35">
                  <c:v>26.18</c:v>
                </c:pt>
                <c:pt idx="36">
                  <c:v>26.67</c:v>
                </c:pt>
                <c:pt idx="37">
                  <c:v>25.5</c:v>
                </c:pt>
                <c:pt idx="38">
                  <c:v>26.32</c:v>
                </c:pt>
                <c:pt idx="39">
                  <c:v>25.84</c:v>
                </c:pt>
                <c:pt idx="40">
                  <c:v>25.79</c:v>
                </c:pt>
                <c:pt idx="41">
                  <c:v>26.7</c:v>
                </c:pt>
                <c:pt idx="42">
                  <c:v>28.15</c:v>
                </c:pt>
                <c:pt idx="43">
                  <c:v>29.98</c:v>
                </c:pt>
                <c:pt idx="44">
                  <c:v>30.39</c:v>
                </c:pt>
                <c:pt idx="45">
                  <c:v>19.17</c:v>
                </c:pt>
                <c:pt idx="46">
                  <c:v>28.96</c:v>
                </c:pt>
                <c:pt idx="47">
                  <c:v>19.17</c:v>
                </c:pt>
                <c:pt idx="48">
                  <c:v>28.73</c:v>
                </c:pt>
                <c:pt idx="49">
                  <c:v>26.77</c:v>
                </c:pt>
                <c:pt idx="50">
                  <c:v>27.65</c:v>
                </c:pt>
                <c:pt idx="51">
                  <c:v>29.54</c:v>
                </c:pt>
                <c:pt idx="52">
                  <c:v>28.59</c:v>
                </c:pt>
                <c:pt idx="53">
                  <c:v>19.17</c:v>
                </c:pt>
                <c:pt idx="54">
                  <c:v>19.17</c:v>
                </c:pt>
                <c:pt idx="55">
                  <c:v>25.78</c:v>
                </c:pt>
                <c:pt idx="56">
                  <c:v>26.15</c:v>
                </c:pt>
                <c:pt idx="57">
                  <c:v>19.17</c:v>
                </c:pt>
                <c:pt idx="58">
                  <c:v>26.76</c:v>
                </c:pt>
                <c:pt idx="59">
                  <c:v>28.59</c:v>
                </c:pt>
                <c:pt idx="60">
                  <c:v>30.33</c:v>
                </c:pt>
                <c:pt idx="61">
                  <c:v>29.9</c:v>
                </c:pt>
                <c:pt idx="62">
                  <c:v>29.51</c:v>
                </c:pt>
                <c:pt idx="63">
                  <c:v>30.52</c:v>
                </c:pt>
                <c:pt idx="64">
                  <c:v>34.6</c:v>
                </c:pt>
                <c:pt idx="65">
                  <c:v>33.49</c:v>
                </c:pt>
                <c:pt idx="66">
                  <c:v>31.15</c:v>
                </c:pt>
                <c:pt idx="67">
                  <c:v>31.37</c:v>
                </c:pt>
                <c:pt idx="68">
                  <c:v>19.17</c:v>
                </c:pt>
                <c:pt idx="69">
                  <c:v>27.91</c:v>
                </c:pt>
                <c:pt idx="70">
                  <c:v>19.17</c:v>
                </c:pt>
                <c:pt idx="71">
                  <c:v>24.31</c:v>
                </c:pt>
                <c:pt idx="72">
                  <c:v>19.17</c:v>
                </c:pt>
                <c:pt idx="73">
                  <c:v>21.06</c:v>
                </c:pt>
                <c:pt idx="74">
                  <c:v>20.68</c:v>
                </c:pt>
                <c:pt idx="75">
                  <c:v>20.79</c:v>
                </c:pt>
                <c:pt idx="76">
                  <c:v>19.19</c:v>
                </c:pt>
                <c:pt idx="77">
                  <c:v>18.62</c:v>
                </c:pt>
                <c:pt idx="78">
                  <c:v>18.94</c:v>
                </c:pt>
                <c:pt idx="79">
                  <c:v>19.17</c:v>
                </c:pt>
                <c:pt idx="80">
                  <c:v>19.17</c:v>
                </c:pt>
                <c:pt idx="81">
                  <c:v>21.62</c:v>
                </c:pt>
                <c:pt idx="82">
                  <c:v>23.98</c:v>
                </c:pt>
                <c:pt idx="83">
                  <c:v>25.31</c:v>
                </c:pt>
                <c:pt idx="84">
                  <c:v>25.9</c:v>
                </c:pt>
                <c:pt idx="85">
                  <c:v>24.1</c:v>
                </c:pt>
                <c:pt idx="86">
                  <c:v>19.17</c:v>
                </c:pt>
                <c:pt idx="87">
                  <c:v>22.83</c:v>
                </c:pt>
                <c:pt idx="88">
                  <c:v>22.75</c:v>
                </c:pt>
                <c:pt idx="89">
                  <c:v>22.64</c:v>
                </c:pt>
                <c:pt idx="90">
                  <c:v>20.35</c:v>
                </c:pt>
                <c:pt idx="91">
                  <c:v>19.17</c:v>
                </c:pt>
                <c:pt idx="92">
                  <c:v>21.39</c:v>
                </c:pt>
                <c:pt idx="93">
                  <c:v>22.57</c:v>
                </c:pt>
                <c:pt idx="94">
                  <c:v>23.33</c:v>
                </c:pt>
                <c:pt idx="95">
                  <c:v>22.89</c:v>
                </c:pt>
                <c:pt idx="96">
                  <c:v>23.56</c:v>
                </c:pt>
                <c:pt idx="97">
                  <c:v>23.42</c:v>
                </c:pt>
                <c:pt idx="98">
                  <c:v>22.32</c:v>
                </c:pt>
                <c:pt idx="99">
                  <c:v>22.52</c:v>
                </c:pt>
                <c:pt idx="100">
                  <c:v>21.08</c:v>
                </c:pt>
                <c:pt idx="101">
                  <c:v>19.95</c:v>
                </c:pt>
                <c:pt idx="102">
                  <c:v>19.17</c:v>
                </c:pt>
                <c:pt idx="103">
                  <c:v>19.17</c:v>
                </c:pt>
                <c:pt idx="104">
                  <c:v>17.27</c:v>
                </c:pt>
                <c:pt idx="105">
                  <c:v>17.64</c:v>
                </c:pt>
                <c:pt idx="106">
                  <c:v>19.03</c:v>
                </c:pt>
                <c:pt idx="107">
                  <c:v>20.51</c:v>
                </c:pt>
                <c:pt idx="108">
                  <c:v>20.87</c:v>
                </c:pt>
                <c:pt idx="109">
                  <c:v>19.17</c:v>
                </c:pt>
                <c:pt idx="110">
                  <c:v>19.17</c:v>
                </c:pt>
                <c:pt idx="111">
                  <c:v>13.18</c:v>
                </c:pt>
                <c:pt idx="112">
                  <c:v>19.17</c:v>
                </c:pt>
                <c:pt idx="113">
                  <c:v>15</c:v>
                </c:pt>
                <c:pt idx="114">
                  <c:v>13.29</c:v>
                </c:pt>
                <c:pt idx="115">
                  <c:v>12.55</c:v>
                </c:pt>
                <c:pt idx="116">
                  <c:v>15.61</c:v>
                </c:pt>
                <c:pt idx="117">
                  <c:v>13.87</c:v>
                </c:pt>
                <c:pt idx="118">
                  <c:v>14.03</c:v>
                </c:pt>
                <c:pt idx="119">
                  <c:v>19.17</c:v>
                </c:pt>
                <c:pt idx="120">
                  <c:v>12.05</c:v>
                </c:pt>
                <c:pt idx="121">
                  <c:v>9.9</c:v>
                </c:pt>
                <c:pt idx="122">
                  <c:v>8.01</c:v>
                </c:pt>
                <c:pt idx="123">
                  <c:v>9</c:v>
                </c:pt>
                <c:pt idx="124">
                  <c:v>19.17</c:v>
                </c:pt>
                <c:pt idx="125">
                  <c:v>14.47</c:v>
                </c:pt>
                <c:pt idx="126">
                  <c:v>11.07</c:v>
                </c:pt>
                <c:pt idx="127">
                  <c:v>10.43</c:v>
                </c:pt>
                <c:pt idx="128">
                  <c:v>9.43</c:v>
                </c:pt>
                <c:pt idx="129">
                  <c:v>5.77</c:v>
                </c:pt>
                <c:pt idx="130">
                  <c:v>8.16</c:v>
                </c:pt>
                <c:pt idx="131">
                  <c:v>6.67</c:v>
                </c:pt>
                <c:pt idx="132">
                  <c:v>19.17</c:v>
                </c:pt>
                <c:pt idx="133">
                  <c:v>19.17</c:v>
                </c:pt>
                <c:pt idx="134">
                  <c:v>5.87</c:v>
                </c:pt>
                <c:pt idx="135">
                  <c:v>8.83</c:v>
                </c:pt>
                <c:pt idx="136">
                  <c:v>19.17</c:v>
                </c:pt>
                <c:pt idx="137">
                  <c:v>7.79</c:v>
                </c:pt>
                <c:pt idx="138">
                  <c:v>5.99</c:v>
                </c:pt>
                <c:pt idx="139">
                  <c:v>7.96</c:v>
                </c:pt>
                <c:pt idx="140">
                  <c:v>19.17</c:v>
                </c:pt>
                <c:pt idx="141">
                  <c:v>8.64</c:v>
                </c:pt>
                <c:pt idx="142">
                  <c:v>8.43</c:v>
                </c:pt>
                <c:pt idx="143">
                  <c:v>9.77</c:v>
                </c:pt>
                <c:pt idx="144">
                  <c:v>9.7</c:v>
                </c:pt>
                <c:pt idx="145">
                  <c:v>9.11</c:v>
                </c:pt>
                <c:pt idx="146">
                  <c:v>9.06</c:v>
                </c:pt>
                <c:pt idx="147">
                  <c:v>9.1</c:v>
                </c:pt>
                <c:pt idx="148">
                  <c:v>19.17</c:v>
                </c:pt>
                <c:pt idx="149">
                  <c:v>8.72</c:v>
                </c:pt>
                <c:pt idx="150">
                  <c:v>9.1</c:v>
                </c:pt>
                <c:pt idx="151">
                  <c:v>5.88</c:v>
                </c:pt>
                <c:pt idx="152">
                  <c:v>10.3</c:v>
                </c:pt>
                <c:pt idx="153">
                  <c:v>13</c:v>
                </c:pt>
                <c:pt idx="154">
                  <c:v>11.12</c:v>
                </c:pt>
                <c:pt idx="155">
                  <c:v>8.58</c:v>
                </c:pt>
                <c:pt idx="156">
                  <c:v>6.19</c:v>
                </c:pt>
                <c:pt idx="157">
                  <c:v>19.17</c:v>
                </c:pt>
                <c:pt idx="158">
                  <c:v>11.86</c:v>
                </c:pt>
                <c:pt idx="159">
                  <c:v>12.62</c:v>
                </c:pt>
                <c:pt idx="160">
                  <c:v>9.93</c:v>
                </c:pt>
                <c:pt idx="161">
                  <c:v>8.13</c:v>
                </c:pt>
                <c:pt idx="162">
                  <c:v>4.61</c:v>
                </c:pt>
                <c:pt idx="163">
                  <c:v>19.17</c:v>
                </c:pt>
                <c:pt idx="164">
                  <c:v>3.95</c:v>
                </c:pt>
                <c:pt idx="165">
                  <c:v>4.25</c:v>
                </c:pt>
                <c:pt idx="166">
                  <c:v>2.05</c:v>
                </c:pt>
                <c:pt idx="167">
                  <c:v>4.1</c:v>
                </c:pt>
                <c:pt idx="168">
                  <c:v>3.69</c:v>
                </c:pt>
                <c:pt idx="169">
                  <c:v>19.17</c:v>
                </c:pt>
                <c:pt idx="170">
                  <c:v>19.17</c:v>
                </c:pt>
                <c:pt idx="171">
                  <c:v>19.17</c:v>
                </c:pt>
                <c:pt idx="172">
                  <c:v>19.17</c:v>
                </c:pt>
                <c:pt idx="173">
                  <c:v>4.8</c:v>
                </c:pt>
                <c:pt idx="174">
                  <c:v>5.67</c:v>
                </c:pt>
                <c:pt idx="175">
                  <c:v>6.39</c:v>
                </c:pt>
                <c:pt idx="176">
                  <c:v>19.17</c:v>
                </c:pt>
                <c:pt idx="177">
                  <c:v>8.51</c:v>
                </c:pt>
                <c:pt idx="178">
                  <c:v>9.84</c:v>
                </c:pt>
                <c:pt idx="179">
                  <c:v>12.27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C9D0DA"/>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4A5568"/>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333"/>
                </a:solidFill>
                <a:latin typeface="+mn-lt"/>
              </a:defRPr>
            </a:pPr>
            <a:r>
              <a:rPr sz="1200" b="0" i="0" u="none" strike="noStrike">
                <a:solidFill>
                  <a:srgbClr val="1B2333"/>
                </a:solidFill>
                <a:latin typeface="+mn-lt"/>
              </a:rPr>
              <a:t>Share of original MRR lost</a:t>
            </a:r>
          </a:p>
        </c:rich>
      </c:tx>
      <c:layout/>
      <c:overlay val="0"/>
    </c:title>
    <c:autoTitleDeleted val="0"/>
    <c:plotArea>
      <c:layout/>
      <c:barChart>
        <c:barDir val="col"/>
        <c:grouping val="clustered"/>
        <c:varyColors val="0"/>
        <c:ser>
          <c:idx val="0"/>
          <c:order val="0"/>
          <c:tx>
            <c:strRef>
              <c:f>Sheet1!$B$1</c:f>
              <c:strCache>
                <c:ptCount val="1"/>
                <c:pt idx="0">
                  <c:v>Full shuffle</c:v>
                </c:pt>
              </c:strCache>
            </c:strRef>
          </c:tx>
          <c:spPr>
            <a:solidFill>
              <a:srgbClr val="22364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CLaSP SUSHI</c:v>
                  </c:pt>
                  <c:pt idx="1">
                    <c:v>CLaSP TRUCE</c:v>
                  </c:pt>
                  <c:pt idx="2">
                    <c:v>TRACE 168-pt</c:v>
                  </c:pt>
                  <c:pt idx="3">
                    <c:v>TRACE 180-pt</c:v>
                  </c:pt>
                  <c:pt idx="4">
                    <c:v>TRACE other</c:v>
                  </c:pt>
                </c:lvl>
              </c:multiLvlStrCache>
            </c:multiLvlStrRef>
          </c:cat>
          <c:val>
            <c:numRef>
              <c:f>Sheet1!$B$2:$B$6</c:f>
              <c:numCache>
                <c:formatCode>General</c:formatCode>
                <c:ptCount val="5"/>
                <c:pt idx="0">
                  <c:v>0.774</c:v>
                </c:pt>
                <c:pt idx="1">
                  <c:v>0.7</c:v>
                </c:pt>
                <c:pt idx="2">
                  <c:v>0.983</c:v>
                </c:pt>
                <c:pt idx="3">
                  <c:v>0.973</c:v>
                </c:pt>
                <c:pt idx="4">
                  <c:v>0.969</c:v>
                </c:pt>
              </c:numCache>
            </c:numRef>
          </c:val>
        </c:ser>
        <c:ser>
          <c:idx val="1"/>
          <c:order val="1"/>
          <c:tx>
            <c:strRef>
              <c:f>Sheet1!$C$1</c:f>
              <c:strCache>
                <c:ptCount val="1"/>
                <c:pt idx="0">
                  <c:v>First-half shuffle</c:v>
                </c:pt>
              </c:strCache>
            </c:strRef>
          </c:tx>
          <c:spPr>
            <a:solidFill>
              <a:srgbClr val="1F8A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CLaSP SUSHI</c:v>
                  </c:pt>
                  <c:pt idx="1">
                    <c:v>CLaSP TRUCE</c:v>
                  </c:pt>
                  <c:pt idx="2">
                    <c:v>TRACE 168-pt</c:v>
                  </c:pt>
                  <c:pt idx="3">
                    <c:v>TRACE 180-pt</c:v>
                  </c:pt>
                  <c:pt idx="4">
                    <c:v>TRACE other</c:v>
                  </c:pt>
                </c:lvl>
              </c:multiLvlStrCache>
            </c:multiLvlStrRef>
          </c:cat>
          <c:val>
            <c:numRef>
              <c:f>Sheet1!$C$2:$C$6</c:f>
              <c:numCache>
                <c:formatCode>General</c:formatCode>
                <c:ptCount val="5"/>
                <c:pt idx="0">
                  <c:v>0.191</c:v>
                </c:pt>
                <c:pt idx="1">
                  <c:v>0.203</c:v>
                </c:pt>
                <c:pt idx="2">
                  <c:v>0.958</c:v>
                </c:pt>
                <c:pt idx="3">
                  <c:v>0.895</c:v>
                </c:pt>
                <c:pt idx="4">
                  <c:v>0.883</c:v>
                </c:pt>
              </c:numCache>
            </c:numRef>
          </c:val>
        </c:ser>
        <c:ser>
          <c:idx val="2"/>
          <c:order val="2"/>
          <c:tx>
            <c:strRef>
              <c:f>Sheet1!$D$1</c:f>
              <c:strCache>
                <c:ptCount val="1"/>
                <c:pt idx="0">
                  <c:v>Half exchange</c:v>
                </c:pt>
              </c:strCache>
            </c:strRef>
          </c:tx>
          <c:spPr>
            <a:solidFill>
              <a:srgbClr val="D9832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CLaSP SUSHI</c:v>
                  </c:pt>
                  <c:pt idx="1">
                    <c:v>CLaSP TRUCE</c:v>
                  </c:pt>
                  <c:pt idx="2">
                    <c:v>TRACE 168-pt</c:v>
                  </c:pt>
                  <c:pt idx="3">
                    <c:v>TRACE 180-pt</c:v>
                  </c:pt>
                  <c:pt idx="4">
                    <c:v>TRACE other</c:v>
                  </c:pt>
                </c:lvl>
              </c:multiLvlStrCache>
            </c:multiLvlStrRef>
          </c:cat>
          <c:val>
            <c:numRef>
              <c:f>Sheet1!$D$2:$D$6</c:f>
              <c:numCache>
                <c:formatCode>General</c:formatCode>
                <c:ptCount val="5"/>
                <c:pt idx="0">
                  <c:v>0.724</c:v>
                </c:pt>
                <c:pt idx="1">
                  <c:v>0.813</c:v>
                </c:pt>
                <c:pt idx="2">
                  <c:v>0.378</c:v>
                </c:pt>
                <c:pt idx="3">
                  <c:v>0.818</c:v>
                </c:pt>
                <c:pt idx="4">
                  <c:v>0.725</c:v>
                </c:pt>
              </c:numCache>
            </c:numRef>
          </c:val>
        </c:ser>
        <c:ser>
          <c:idx val="3"/>
          <c:order val="3"/>
          <c:tx>
            <c:strRef>
              <c:f>Sheet1!$E$1</c:f>
              <c:strCache>
                <c:ptCount val="1"/>
                <c:pt idx="0">
                  <c:v>Masking</c:v>
                </c:pt>
              </c:strCache>
            </c:strRef>
          </c:tx>
          <c:spPr>
            <a:solidFill>
              <a:srgbClr val="7B61A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CLaSP SUSHI</c:v>
                  </c:pt>
                  <c:pt idx="1">
                    <c:v>CLaSP TRUCE</c:v>
                  </c:pt>
                  <c:pt idx="2">
                    <c:v>TRACE 168-pt</c:v>
                  </c:pt>
                  <c:pt idx="3">
                    <c:v>TRACE 180-pt</c:v>
                  </c:pt>
                  <c:pt idx="4">
                    <c:v>TRACE other</c:v>
                  </c:pt>
                </c:lvl>
              </c:multiLvlStrCache>
            </c:multiLvlStrRef>
          </c:cat>
          <c:val>
            <c:numRef>
              <c:f>Sheet1!$E$2:$E$6</c:f>
              <c:numCache>
                <c:formatCode>General</c:formatCode>
                <c:ptCount val="5"/>
                <c:pt idx="0">
                  <c:v>0.346</c:v>
                </c:pt>
                <c:pt idx="1">
                  <c:v>0.098</c:v>
                </c:pt>
                <c:pt idx="2">
                  <c:v>0.698</c:v>
                </c:pt>
                <c:pt idx="3">
                  <c:v>0.589</c:v>
                </c:pt>
                <c:pt idx="4">
                  <c:v>0.583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0DA"/>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7ED"/>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0.25"/>
      </c:valAx>
      <c:spPr>
        <a:noFill/>
        <a:ln>
          <a:noFill/>
        </a:ln>
        <a:effectLst/>
      </c:spPr>
    </c:plotArea>
    <c:legend>
      <c:legendPos val="t"/>
      <c:overlay val="0"/>
      <c:txPr>
        <a:bodyPr/>
        <a:lstStyle/>
        <a:p>
          <a:pPr>
            <a:defRPr sz="1000">
              <a:solidFill>
                <a:srgbClr val="4A55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333"/>
                </a:solidFill>
                <a:latin typeface="+mn-lt"/>
              </a:defRPr>
            </a:pPr>
            <a:r>
              <a:rPr sz="1200" b="0" i="0" u="none" strike="noStrike">
                <a:solidFill>
                  <a:srgbClr val="1B2333"/>
                </a:solidFill>
                <a:latin typeface="+mn-lt"/>
              </a:rPr>
              <a:t>ChatTS: change in accuracy</a:t>
            </a:r>
          </a:p>
        </c:rich>
      </c:tx>
      <c:layout/>
      <c:overlay val="0"/>
    </c:title>
    <c:autoTitleDeleted val="0"/>
    <c:plotArea>
      <c:layout/>
      <c:barChart>
        <c:barDir val="col"/>
        <c:grouping val="clustered"/>
        <c:varyColors val="0"/>
        <c:ser>
          <c:idx val="0"/>
          <c:order val="0"/>
          <c:tx>
            <c:strRef>
              <c:f>Sheet1!$B$1</c:f>
              <c:strCache>
                <c:ptCount val="1"/>
                <c:pt idx="0">
                  <c:v>Full shuffle</c:v>
                </c:pt>
              </c:strCache>
            </c:strRef>
          </c:tx>
          <c:spPr>
            <a:solidFill>
              <a:srgbClr val="22364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SUSHI</c:v>
                  </c:pt>
                  <c:pt idx="1">
                    <c:v>TRUCE</c:v>
                  </c:pt>
                </c:lvl>
              </c:multiLvlStrCache>
            </c:multiLvlStrRef>
          </c:cat>
          <c:val>
            <c:numRef>
              <c:f>Sheet1!$B$2:$B$3</c:f>
              <c:numCache>
                <c:formatCode>General</c:formatCode>
                <c:ptCount val="2"/>
                <c:pt idx="0">
                  <c:v>-0.267</c:v>
                </c:pt>
                <c:pt idx="1">
                  <c:v>-0.113</c:v>
                </c:pt>
              </c:numCache>
            </c:numRef>
          </c:val>
        </c:ser>
        <c:ser>
          <c:idx val="1"/>
          <c:order val="1"/>
          <c:tx>
            <c:strRef>
              <c:f>Sheet1!$C$1</c:f>
              <c:strCache>
                <c:ptCount val="1"/>
                <c:pt idx="0">
                  <c:v>First-half shuffle</c:v>
                </c:pt>
              </c:strCache>
            </c:strRef>
          </c:tx>
          <c:spPr>
            <a:solidFill>
              <a:srgbClr val="1F8A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SUSHI</c:v>
                  </c:pt>
                  <c:pt idx="1">
                    <c:v>TRUCE</c:v>
                  </c:pt>
                </c:lvl>
              </c:multiLvlStrCache>
            </c:multiLvlStrRef>
          </c:cat>
          <c:val>
            <c:numRef>
              <c:f>Sheet1!$C$2:$C$3</c:f>
              <c:numCache>
                <c:formatCode>General</c:formatCode>
                <c:ptCount val="2"/>
                <c:pt idx="0">
                  <c:v>-0.111</c:v>
                </c:pt>
                <c:pt idx="1">
                  <c:v>-0.036</c:v>
                </c:pt>
              </c:numCache>
            </c:numRef>
          </c:val>
        </c:ser>
        <c:ser>
          <c:idx val="2"/>
          <c:order val="2"/>
          <c:tx>
            <c:strRef>
              <c:f>Sheet1!$D$1</c:f>
              <c:strCache>
                <c:ptCount val="1"/>
                <c:pt idx="0">
                  <c:v>Half exchange</c:v>
                </c:pt>
              </c:strCache>
            </c:strRef>
          </c:tx>
          <c:spPr>
            <a:solidFill>
              <a:srgbClr val="D9832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SUSHI</c:v>
                  </c:pt>
                  <c:pt idx="1">
                    <c:v>TRUCE</c:v>
                  </c:pt>
                </c:lvl>
              </c:multiLvlStrCache>
            </c:multiLvlStrRef>
          </c:cat>
          <c:val>
            <c:numRef>
              <c:f>Sheet1!$D$2:$D$3</c:f>
              <c:numCache>
                <c:formatCode>General</c:formatCode>
                <c:ptCount val="2"/>
                <c:pt idx="0">
                  <c:v>-0.107</c:v>
                </c:pt>
                <c:pt idx="1">
                  <c:v>-0.174</c:v>
                </c:pt>
              </c:numCache>
            </c:numRef>
          </c:val>
        </c:ser>
        <c:ser>
          <c:idx val="3"/>
          <c:order val="3"/>
          <c:tx>
            <c:strRef>
              <c:f>Sheet1!$E$1</c:f>
              <c:strCache>
                <c:ptCount val="1"/>
                <c:pt idx="0">
                  <c:v>Masking</c:v>
                </c:pt>
              </c:strCache>
            </c:strRef>
          </c:tx>
          <c:spPr>
            <a:solidFill>
              <a:srgbClr val="7B61A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SUSHI</c:v>
                  </c:pt>
                  <c:pt idx="1">
                    <c:v>TRUCE</c:v>
                  </c:pt>
                </c:lvl>
              </c:multiLvlStrCache>
            </c:multiLvlStrRef>
          </c:cat>
          <c:val>
            <c:numRef>
              <c:f>Sheet1!$E$2:$E$3</c:f>
              <c:numCache>
                <c:formatCode>General</c:formatCode>
                <c:ptCount val="2"/>
                <c:pt idx="0">
                  <c:v>-0.119</c:v>
                </c:pt>
                <c:pt idx="1">
                  <c:v>-0.018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high"/>
        <c:spPr>
          <a:ln w="12700" cap="flat">
            <a:solidFill>
              <a:srgbClr val="C9D0DA"/>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0"/>
          <c:min val="-0.3"/>
        </c:scaling>
        <c:delete val="0"/>
        <c:axPos val="l"/>
        <c:majorGridlines>
          <c:spPr>
            <a:ln w="9525" cap="flat">
              <a:solidFill>
                <a:srgbClr val="E3E7ED"/>
              </a:solidFill>
              <a:prstDash val="solid"/>
              <a:round/>
            </a:ln>
          </c:spPr>
        </c:majorGridlines>
        <c:numFmt formatCode="0.0" sourceLinked="0"/>
        <c:majorTickMark val="out"/>
        <c:minorTickMark val="none"/>
        <c:tickLblPos val="nextTo"/>
        <c:spPr>
          <a:ln w="12700" cap="flat">
            <a:no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Companion slides for Section 3.2.2 and Appendix C.2. The tile rows use the real permutation applied to TRUCE test series pilot13/434 in run 42 (reproduced from the per-signal seed recorded in results/experiments/probe2_clasp_signal_meta_seed42.json).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example as Figure C.1 in Appendix C (ten-point series a–j). Teal tiles start in the first half, amber tiles in the second half, so the colours show where each observation moved. The three shuffles follow Tan et al. (2024); masking is the separate value-removal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Series values from TRUCE processed_data/pilot13finaltest.json, id pilot13/434.png: 6, 7, 7, 7, 5, 6, 20, 34, 35, 33, 35, 32. All three descriptions are in the order-dependent group (certified TRUCE grouping). Ranks from results/experiments/probe2_clasp_per_query_seed{42,43,44}.jsonl, caption truce_synth:pilot13/434.png#0. CLaSP pool = 386 series (140 SUSHI + 246 TRUCE).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shuffle (sf-all) applied to TRUCE pilot13/434 exactly as in CLaSP/TE-3L run 42. Index order (0-based): 4, 0, 6, 9, 3, 8, 11, 7, 10, 1, 2, 5. Resulting values: 5, 6, 20, 33, 7, 35, 32, 34, 35, 7, 7, 6. Seed = first 12 hex digits of sha256("truce_synth:pilot13/434.png|sf_all|42"), matching probe2_clasp_signal_meta_seed42.json. Rank of the series for “Rises a bit at the middle.” among 386 candidates: 1 → 29 (run 42), 19 (run 43), 29 (run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First-half shuffle (sf-half) applied to TRUCE pilot13/434 exactly as in CLaSP/TE-3L run 42. Index order (0-based): 4, 1, 3, 0, 2, 5, 6, 7, 8, 9, 10, 11. Resulting values: 5, 7, 7, 6, 7, 6, 20, 34, 35, 33, 35, 32. Seed = first 12 hex digits of sha256("truce_synth:pilot13/434.png|sf_half|42"), matching probe2_clasp_signal_meta_seed42.json. Rank of the series for “Rises a bit at the middle.” among 386 candidates: 1 → 1 (run 42), 2 (run 43), 2 (run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exchange (ex-half) applied to TRUCE pilot13/434 exactly as in CLaSP/TE-3L run 42. Index order (0-based): 6, 7, 8, 9, 10, 11, 0, 1, 2, 3, 4, 5. Resulting values: 20, 34, 35, 33, 35, 32, 6, 7, 7, 7, 5, 6. Seed = first 12 hex digits of sha256("truce_synth:pilot13/434.png|ex_half|42"), matching probe2_clasp_signal_meta_seed42.json. Rank of the series for “Rises a bit at the middle.” among 386 candidates: 1 → 62 (run 42), 85 (run 43), 102 (run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Masking (mask 0.2) applied to TRUCE pilot13/434 exactly as in CLaSP/TE-3L run 42. Masked positions (0-based): 0, 11; the model receives 0 there after z-normalisation, which equals the raw mean 18.92. Resulting values: 18.9, 7, 7, 7, 5, 6, 20, 34, 35, 33, 35, 18.9. Seed = first 12 hex digits of sha256("truce_synth:pilot13/434.png|masking|42"), matching probe2_clasp_signal_meta_seed42.json. Rank of the series for “Rises a bit at the middle.” among 386 candidates: 1 → 35 (run 42), 7 (run 43), 9 (run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Series from row0.txt (TRACE/NOAA test row 0, id 206, valid length 180, no padding inside the 180 valid steps; 6 padding slots of the 186-slot input stay fixed). Perturbations reproduced from row seeds sha256("trace_0|&lt;condition&gt;|13"), matching probe2_trace_signal_meta_seed13.json. Text-to-series ranks (2,006 records): draw 13 full 459, first-half 15, exchange 249, masking 35; draw 14: 670, 5, 698, 11; draw 15: 972, 3, 706, 199. Unperturbed rank is 1 in all draws. TRACE additionally applies its own 30% evaluation mask inside the model, identical across conditions (not drawn here). Masked days are shown at the channel mean (19.17 °C), which is what 0 means after TRACE's per-channel standardisation.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Appendix C.1–C.2. Seeds: every random draw is seeded from the series identifier, the condition and the run number, so CLaSP and TE-3L receive identical perturbed series in runs 42, 43 and 44; TRACE uses runs 13, 14 and 15, which also fix its built-in 30% evaluation mask. TRACE inputs are right-aligned in 186 slots; halves and masks are formed from the V valid steps, padding is never moved, and one permutation is shared by all 7 channels so values recorded at one time step stay together. Rounding ⌊0.2V⌋ per series gives an effective masked share of 0.1976. The letter rows on the right are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share of the original MRR lost on order-dependent descriptions, mean of the three runs (CLaSP checkpoints 42–44, Table E.2; TRACE draws 13–15 by length group, Table E.8). Chance MRR is 0.017 (CLaSP) and 0.004 (TRACE). Right: ChatTS accuracy change from Table 4.4 (one run, chance 0.5). ChatTS on TRUCE under masking (−0.018) is equivalent to no change. TE-3L figure from Appendix E.3. A drop alone does not establish order use; see the group comparison (DiD) in Table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Interpretation summary for Section 3.2.2. The order-invariant control group is thin on every dataset (2.9% SUSHI, 3.3% TRUCE, 0% NOAA), so DiDs are reported with their decomposition (Table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8046720" cy="123444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240280"/>
            <a:ext cx="8046720" cy="68580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566928"/>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ph idx="101" type="body" hasCustomPrompt="1"/>
          </p:nvPr>
        </p:nvSpPr>
        <p:spPr>
          <a:xfrm>
            <a:off x="457200" y="822960"/>
            <a:ext cx="8229600" cy="365760"/>
          </a:xfrm>
          <a:prstGeom prst="rect">
            <a:avLst/>
          </a:prstGeom>
          <a:noFill/>
          <a:ln/>
        </p:spPr>
        <p:txBody>
          <a:bodyPr wrap="square" rtlCol="0"/>
          <a:lstStyle>
            <a:lvl1pPr algn="l" indent="0" marL="0">
              <a:buNone/>
              <a:defRPr lang="en-US" sz="1500" dirty="0">
                <a:solidFill>
                  <a:schemeClr val="tx2"/>
                </a:solidFill>
              </a:defRPr>
            </a:lvl1pPr>
          </a:lstStyle>
          <a:p>
            <a:pPr algn="l" indent="0" marL="0">
              <a:buNone/>
            </a:pPr>
            <a:endParaRPr lang="en-US" sz="1500" dirty="0"/>
          </a:p>
        </p:txBody>
      </p:sp>
      <p:sp>
        <p:nvSpPr>
          <p:cNvPr id="4" name="Text 0"/>
          <p:cNvSpPr/>
          <p:nvPr/>
        </p:nvSpPr>
        <p:spPr>
          <a:xfrm>
            <a:off x="457200" y="4846320"/>
            <a:ext cx="4572000" cy="201168"/>
          </a:xfrm>
          <a:prstGeom prst="rect">
            <a:avLst/>
          </a:prstGeom>
          <a:noFill/>
          <a:ln/>
        </p:spPr>
        <p:txBody>
          <a:bodyPr wrap="square" lIns="0" tIns="0" rIns="0" bIns="0" rtlCol="0" anchor="ctr"/>
          <a:lstStyle/>
          <a:p>
            <a:pPr indent="0" marL="0">
              <a:buNone/>
            </a:pPr>
            <a:r>
              <a:rPr lang="en-US" sz="1000" dirty="0">
                <a:solidFill>
                  <a:schemeClr val="tx2"/>
                </a:solidFill>
              </a:rPr>
              <a:t>D2 · Temporal-order sensitivity</a:t>
            </a:r>
            <a:endParaRPr lang="en-US" sz="1000" dirty="0"/>
          </a:p>
        </p:txBody>
      </p:sp>
      <p:sp>
        <p:nvSpPr>
          <p:cNvPr id="25" name="Slide Number Placeholder 0"/>
          <p:cNvSpPr>
            <a:spLocks noGrp="1"/>
          </p:cNvSpPr>
          <p:nvPr>
            <p:ph type="sldNum" sz="quarter" idx="4294967295"/>
          </p:nvPr>
        </p:nvSpPr>
        <p:spPr>
          <a:xfrm>
            <a:off x="832104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rtlCol="0"/>
          <a:lstStyle>
            <a:lvl1pPr algn="l" indent="0" marL="0">
              <a:buNone/>
              <a:defRPr lang="en-US" sz="3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xt-1"/>
          <p:cNvSpPr txBox="1"/>
          <p:nvPr/>
        </p:nvSpPr>
        <p:spPr>
          <a:xfrm>
            <a:off x="548640" y="502920"/>
            <a:ext cx="804672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THESIS COMPANION SLIDES · APPENDIX C.2</a:t>
            </a:r>
            <a:endParaRPr lang="en-US" sz="1200" dirty="0"/>
          </a:p>
        </p:txBody>
      </p:sp>
      <p:sp>
        <p:nvSpPr>
          <p:cNvPr id="3" name="Text 0"/>
          <p:cNvSpPr/>
          <p:nvPr>
            <p:ph idx="100" type="title" hasCustomPrompt="1"/>
          </p:nvPr>
        </p:nvSpPr>
        <p:spPr>
          <a:xfrm>
            <a:off x="548640" y="868680"/>
            <a:ext cx="8046720" cy="12344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Diagnostic 2:</a:t>
            </a:r>
            <a:endParaRPr lang="en-US" sz="4000" dirty="0"/>
          </a:p>
          <a:p>
            <a:pPr algn="l" indent="0" marL="0">
              <a:buNone/>
            </a:pPr>
            <a:r>
              <a:rPr lang="en-US" sz="4000" b="1" dirty="0">
                <a:solidFill>
                  <a:schemeClr val="bg1"/>
                </a:solidFill>
                <a:latin typeface="Cambria" pitchFamily="34" charset="0"/>
                <a:ea typeface="Cambria" pitchFamily="34" charset="-122"/>
                <a:cs typeface="Cambria" pitchFamily="34" charset="-120"/>
              </a:rPr>
              <a:t>Temporal-Order Sensitivity</a:t>
            </a:r>
            <a:endParaRPr lang="en-US" sz="4000" dirty="0"/>
          </a:p>
        </p:txBody>
      </p:sp>
      <p:sp>
        <p:nvSpPr>
          <p:cNvPr id="4" name="Text 0"/>
          <p:cNvSpPr/>
          <p:nvPr>
            <p:ph idx="101" type="body" hasCustomPrompt="1"/>
          </p:nvPr>
        </p:nvSpPr>
        <p:spPr>
          <a:xfrm>
            <a:off x="548640" y="2240280"/>
            <a:ext cx="8046720" cy="685800"/>
          </a:xfrm>
          <a:prstGeom prst="rect">
            <a:avLst/>
          </a:prstGeom>
          <a:noFill/>
          <a:ln/>
        </p:spPr>
        <p:txBody>
          <a:bodyPr wrap="square" lIns="0" tIns="0" rIns="0" bIns="0" rtlCol="0" anchor="t"/>
          <a:lstStyle/>
          <a:p>
            <a:pPr algn="l" indent="0" marL="0">
              <a:buNone/>
            </a:pPr>
            <a:r>
              <a:rPr lang="en-US" sz="1800" dirty="0">
                <a:solidFill>
                  <a:schemeClr val="accent6"/>
                </a:solidFill>
              </a:rPr>
              <a:t>Four series perturbations, shown with letters and with the real series used in the experiments</a:t>
            </a:r>
            <a:endParaRPr lang="en-US" sz="1800" dirty="0"/>
          </a:p>
        </p:txBody>
      </p:sp>
      <p:sp>
        <p:nvSpPr>
          <p:cNvPr id="5" name="tile-2"/>
          <p:cNvSpPr/>
          <p:nvPr/>
        </p:nvSpPr>
        <p:spPr>
          <a:xfrm>
            <a:off x="548640" y="3383280"/>
            <a:ext cx="384048" cy="384048"/>
          </a:xfrm>
          <a:prstGeom prst="roundRect">
            <a:avLst>
              <a:gd name="adj" fmla="val 14286"/>
            </a:avLst>
          </a:prstGeom>
          <a:solidFill>
            <a:schemeClr val="accent2"/>
          </a:solidFill>
          <a:ln w="9525">
            <a:solidFill>
              <a:schemeClr val="accent2"/>
            </a:solidFill>
            <a:prstDash val="solid"/>
          </a:ln>
        </p:spPr>
      </p:sp>
      <p:sp>
        <p:nvSpPr>
          <p:cNvPr id="6" name="txt-3"/>
          <p:cNvSpPr txBox="1"/>
          <p:nvPr/>
        </p:nvSpPr>
        <p:spPr>
          <a:xfrm>
            <a:off x="548640" y="33832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sp>
        <p:nvSpPr>
          <p:cNvPr id="7" name="tile-4"/>
          <p:cNvSpPr/>
          <p:nvPr/>
        </p:nvSpPr>
        <p:spPr>
          <a:xfrm>
            <a:off x="1005840" y="3383280"/>
            <a:ext cx="384048" cy="384048"/>
          </a:xfrm>
          <a:prstGeom prst="roundRect">
            <a:avLst>
              <a:gd name="adj" fmla="val 14286"/>
            </a:avLst>
          </a:prstGeom>
          <a:solidFill>
            <a:schemeClr val="accent2"/>
          </a:solidFill>
          <a:ln w="9525">
            <a:solidFill>
              <a:schemeClr val="accent2"/>
            </a:solidFill>
            <a:prstDash val="solid"/>
          </a:ln>
        </p:spPr>
      </p:sp>
      <p:sp>
        <p:nvSpPr>
          <p:cNvPr id="8" name="txt-5"/>
          <p:cNvSpPr txBox="1"/>
          <p:nvPr/>
        </p:nvSpPr>
        <p:spPr>
          <a:xfrm>
            <a:off x="1005840" y="33832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sp>
        <p:nvSpPr>
          <p:cNvPr id="9" name="tile-6"/>
          <p:cNvSpPr/>
          <p:nvPr/>
        </p:nvSpPr>
        <p:spPr>
          <a:xfrm>
            <a:off x="1463040" y="3383280"/>
            <a:ext cx="384048" cy="384048"/>
          </a:xfrm>
          <a:prstGeom prst="roundRect">
            <a:avLst>
              <a:gd name="adj" fmla="val 14286"/>
            </a:avLst>
          </a:prstGeom>
          <a:solidFill>
            <a:schemeClr val="accent2"/>
          </a:solidFill>
          <a:ln w="9525">
            <a:solidFill>
              <a:schemeClr val="accent2"/>
            </a:solidFill>
            <a:prstDash val="solid"/>
          </a:ln>
        </p:spPr>
      </p:sp>
      <p:sp>
        <p:nvSpPr>
          <p:cNvPr id="10" name="txt-7"/>
          <p:cNvSpPr txBox="1"/>
          <p:nvPr/>
        </p:nvSpPr>
        <p:spPr>
          <a:xfrm>
            <a:off x="1463040" y="33832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c</a:t>
            </a:r>
            <a:endParaRPr lang="en-US" sz="1600" dirty="0"/>
          </a:p>
        </p:txBody>
      </p:sp>
      <p:sp>
        <p:nvSpPr>
          <p:cNvPr id="11" name="tile-8"/>
          <p:cNvSpPr/>
          <p:nvPr/>
        </p:nvSpPr>
        <p:spPr>
          <a:xfrm>
            <a:off x="1920240" y="3383280"/>
            <a:ext cx="384048" cy="384048"/>
          </a:xfrm>
          <a:prstGeom prst="roundRect">
            <a:avLst>
              <a:gd name="adj" fmla="val 14286"/>
            </a:avLst>
          </a:prstGeom>
          <a:solidFill>
            <a:schemeClr val="accent2"/>
          </a:solidFill>
          <a:ln w="9525">
            <a:solidFill>
              <a:schemeClr val="accent2"/>
            </a:solidFill>
            <a:prstDash val="solid"/>
          </a:ln>
        </p:spPr>
      </p:sp>
      <p:sp>
        <p:nvSpPr>
          <p:cNvPr id="12" name="txt-9"/>
          <p:cNvSpPr txBox="1"/>
          <p:nvPr/>
        </p:nvSpPr>
        <p:spPr>
          <a:xfrm>
            <a:off x="1920240" y="33832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d</a:t>
            </a:r>
            <a:endParaRPr lang="en-US" sz="1600" dirty="0"/>
          </a:p>
        </p:txBody>
      </p:sp>
      <p:sp>
        <p:nvSpPr>
          <p:cNvPr id="13" name="tile-10"/>
          <p:cNvSpPr/>
          <p:nvPr/>
        </p:nvSpPr>
        <p:spPr>
          <a:xfrm>
            <a:off x="2377440" y="3383280"/>
            <a:ext cx="384048" cy="384048"/>
          </a:xfrm>
          <a:prstGeom prst="roundRect">
            <a:avLst>
              <a:gd name="adj" fmla="val 14286"/>
            </a:avLst>
          </a:prstGeom>
          <a:solidFill>
            <a:schemeClr val="accent2"/>
          </a:solidFill>
          <a:ln w="9525">
            <a:solidFill>
              <a:schemeClr val="accent2"/>
            </a:solidFill>
            <a:prstDash val="solid"/>
          </a:ln>
        </p:spPr>
      </p:sp>
      <p:sp>
        <p:nvSpPr>
          <p:cNvPr id="14" name="txt-11"/>
          <p:cNvSpPr txBox="1"/>
          <p:nvPr/>
        </p:nvSpPr>
        <p:spPr>
          <a:xfrm>
            <a:off x="2377440" y="33832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e</a:t>
            </a:r>
            <a:endParaRPr lang="en-US" sz="1600" dirty="0"/>
          </a:p>
        </p:txBody>
      </p:sp>
      <p:sp>
        <p:nvSpPr>
          <p:cNvPr id="15" name="tile-12"/>
          <p:cNvSpPr/>
          <p:nvPr/>
        </p:nvSpPr>
        <p:spPr>
          <a:xfrm>
            <a:off x="2834640" y="3383280"/>
            <a:ext cx="384048" cy="384048"/>
          </a:xfrm>
          <a:prstGeom prst="roundRect">
            <a:avLst>
              <a:gd name="adj" fmla="val 14286"/>
            </a:avLst>
          </a:prstGeom>
          <a:solidFill>
            <a:schemeClr val="accent2"/>
          </a:solidFill>
          <a:ln w="9525">
            <a:solidFill>
              <a:schemeClr val="accent2"/>
            </a:solidFill>
            <a:prstDash val="solid"/>
          </a:ln>
        </p:spPr>
      </p:sp>
      <p:sp>
        <p:nvSpPr>
          <p:cNvPr id="16" name="txt-13"/>
          <p:cNvSpPr txBox="1"/>
          <p:nvPr/>
        </p:nvSpPr>
        <p:spPr>
          <a:xfrm>
            <a:off x="2834640" y="33832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f</a:t>
            </a:r>
            <a:endParaRPr lang="en-US" sz="1600" dirty="0"/>
          </a:p>
        </p:txBody>
      </p:sp>
      <p:sp>
        <p:nvSpPr>
          <p:cNvPr id="17" name="tile-14"/>
          <p:cNvSpPr/>
          <p:nvPr/>
        </p:nvSpPr>
        <p:spPr>
          <a:xfrm>
            <a:off x="3474720" y="3383280"/>
            <a:ext cx="384048" cy="384048"/>
          </a:xfrm>
          <a:prstGeom prst="roundRect">
            <a:avLst>
              <a:gd name="adj" fmla="val 14286"/>
            </a:avLst>
          </a:prstGeom>
          <a:solidFill>
            <a:schemeClr val="accent3"/>
          </a:solidFill>
          <a:ln w="9525">
            <a:solidFill>
              <a:schemeClr val="accent3"/>
            </a:solidFill>
            <a:prstDash val="solid"/>
          </a:ln>
        </p:spPr>
      </p:sp>
      <p:sp>
        <p:nvSpPr>
          <p:cNvPr id="18" name="txt-15"/>
          <p:cNvSpPr txBox="1"/>
          <p:nvPr/>
        </p:nvSpPr>
        <p:spPr>
          <a:xfrm>
            <a:off x="3474720" y="33832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g</a:t>
            </a:r>
            <a:endParaRPr lang="en-US" sz="1600" dirty="0"/>
          </a:p>
        </p:txBody>
      </p:sp>
      <p:sp>
        <p:nvSpPr>
          <p:cNvPr id="19" name="tile-16"/>
          <p:cNvSpPr/>
          <p:nvPr/>
        </p:nvSpPr>
        <p:spPr>
          <a:xfrm>
            <a:off x="3931920" y="3383280"/>
            <a:ext cx="384048" cy="384048"/>
          </a:xfrm>
          <a:prstGeom prst="roundRect">
            <a:avLst>
              <a:gd name="adj" fmla="val 14286"/>
            </a:avLst>
          </a:prstGeom>
          <a:solidFill>
            <a:schemeClr val="accent3"/>
          </a:solidFill>
          <a:ln w="9525">
            <a:solidFill>
              <a:schemeClr val="accent3"/>
            </a:solidFill>
            <a:prstDash val="solid"/>
          </a:ln>
        </p:spPr>
      </p:sp>
      <p:sp>
        <p:nvSpPr>
          <p:cNvPr id="20" name="txt-17"/>
          <p:cNvSpPr txBox="1"/>
          <p:nvPr/>
        </p:nvSpPr>
        <p:spPr>
          <a:xfrm>
            <a:off x="3931920" y="33832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h</a:t>
            </a:r>
            <a:endParaRPr lang="en-US" sz="1600" dirty="0"/>
          </a:p>
        </p:txBody>
      </p:sp>
      <p:sp>
        <p:nvSpPr>
          <p:cNvPr id="21" name="tile-18"/>
          <p:cNvSpPr/>
          <p:nvPr/>
        </p:nvSpPr>
        <p:spPr>
          <a:xfrm>
            <a:off x="4389120" y="3383280"/>
            <a:ext cx="384048" cy="384048"/>
          </a:xfrm>
          <a:prstGeom prst="roundRect">
            <a:avLst>
              <a:gd name="adj" fmla="val 14286"/>
            </a:avLst>
          </a:prstGeom>
          <a:solidFill>
            <a:schemeClr val="accent3"/>
          </a:solidFill>
          <a:ln w="9525">
            <a:solidFill>
              <a:schemeClr val="accent3"/>
            </a:solidFill>
            <a:prstDash val="solid"/>
          </a:ln>
        </p:spPr>
      </p:sp>
      <p:sp>
        <p:nvSpPr>
          <p:cNvPr id="22" name="txt-19"/>
          <p:cNvSpPr txBox="1"/>
          <p:nvPr/>
        </p:nvSpPr>
        <p:spPr>
          <a:xfrm>
            <a:off x="4389120" y="33832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i</a:t>
            </a:r>
            <a:endParaRPr lang="en-US" sz="1600" dirty="0"/>
          </a:p>
        </p:txBody>
      </p:sp>
      <p:sp>
        <p:nvSpPr>
          <p:cNvPr id="23" name="tile-20"/>
          <p:cNvSpPr/>
          <p:nvPr/>
        </p:nvSpPr>
        <p:spPr>
          <a:xfrm>
            <a:off x="4846320" y="3383280"/>
            <a:ext cx="384048" cy="384048"/>
          </a:xfrm>
          <a:prstGeom prst="roundRect">
            <a:avLst>
              <a:gd name="adj" fmla="val 14286"/>
            </a:avLst>
          </a:prstGeom>
          <a:solidFill>
            <a:schemeClr val="accent3"/>
          </a:solidFill>
          <a:ln w="9525">
            <a:solidFill>
              <a:schemeClr val="accent3"/>
            </a:solidFill>
            <a:prstDash val="solid"/>
          </a:ln>
        </p:spPr>
      </p:sp>
      <p:sp>
        <p:nvSpPr>
          <p:cNvPr id="24" name="txt-21"/>
          <p:cNvSpPr txBox="1"/>
          <p:nvPr/>
        </p:nvSpPr>
        <p:spPr>
          <a:xfrm>
            <a:off x="4846320" y="33832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j</a:t>
            </a:r>
            <a:endParaRPr lang="en-US" sz="1600" dirty="0"/>
          </a:p>
        </p:txBody>
      </p:sp>
      <p:sp>
        <p:nvSpPr>
          <p:cNvPr id="25" name="tile-22"/>
          <p:cNvSpPr/>
          <p:nvPr/>
        </p:nvSpPr>
        <p:spPr>
          <a:xfrm>
            <a:off x="5303520" y="3383280"/>
            <a:ext cx="384048" cy="384048"/>
          </a:xfrm>
          <a:prstGeom prst="roundRect">
            <a:avLst>
              <a:gd name="adj" fmla="val 14286"/>
            </a:avLst>
          </a:prstGeom>
          <a:solidFill>
            <a:schemeClr val="accent3"/>
          </a:solidFill>
          <a:ln w="9525">
            <a:solidFill>
              <a:schemeClr val="accent3"/>
            </a:solidFill>
            <a:prstDash val="solid"/>
          </a:ln>
        </p:spPr>
      </p:sp>
      <p:sp>
        <p:nvSpPr>
          <p:cNvPr id="26" name="txt-23"/>
          <p:cNvSpPr txBox="1"/>
          <p:nvPr/>
        </p:nvSpPr>
        <p:spPr>
          <a:xfrm>
            <a:off x="5303520" y="33832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k</a:t>
            </a:r>
            <a:endParaRPr lang="en-US" sz="1600" dirty="0"/>
          </a:p>
        </p:txBody>
      </p:sp>
      <p:sp>
        <p:nvSpPr>
          <p:cNvPr id="27" name="tile-24"/>
          <p:cNvSpPr/>
          <p:nvPr/>
        </p:nvSpPr>
        <p:spPr>
          <a:xfrm>
            <a:off x="5760720" y="3383280"/>
            <a:ext cx="384048" cy="384048"/>
          </a:xfrm>
          <a:prstGeom prst="roundRect">
            <a:avLst>
              <a:gd name="adj" fmla="val 14286"/>
            </a:avLst>
          </a:prstGeom>
          <a:solidFill>
            <a:schemeClr val="accent3"/>
          </a:solidFill>
          <a:ln w="9525">
            <a:solidFill>
              <a:schemeClr val="accent3"/>
            </a:solidFill>
            <a:prstDash val="solid"/>
          </a:ln>
        </p:spPr>
      </p:sp>
      <p:sp>
        <p:nvSpPr>
          <p:cNvPr id="28" name="txt-25"/>
          <p:cNvSpPr txBox="1"/>
          <p:nvPr/>
        </p:nvSpPr>
        <p:spPr>
          <a:xfrm>
            <a:off x="5760720" y="33832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l</a:t>
            </a:r>
            <a:endParaRPr lang="en-US" sz="1600" dirty="0"/>
          </a:p>
        </p:txBody>
      </p:sp>
      <p:sp>
        <p:nvSpPr>
          <p:cNvPr id="29" name="txt-26"/>
          <p:cNvSpPr txBox="1"/>
          <p:nvPr/>
        </p:nvSpPr>
        <p:spPr>
          <a:xfrm>
            <a:off x="3255264" y="3383280"/>
            <a:ext cx="182880" cy="384048"/>
          </a:xfrm>
          <a:prstGeom prst="rect">
            <a:avLst/>
          </a:prstGeom>
          <a:noFill/>
          <a:ln/>
        </p:spPr>
        <p:txBody>
          <a:bodyPr wrap="square" lIns="0" tIns="0" rIns="0" bIns="0" rtlCol="0" anchor="ctr"/>
          <a:lstStyle/>
          <a:p>
            <a:pPr algn="ctr" indent="0" marL="0">
              <a:buNone/>
            </a:pPr>
            <a:r>
              <a:rPr lang="en-US" sz="1800" dirty="0">
                <a:solidFill>
                  <a:schemeClr val="accent6"/>
                </a:solidFill>
              </a:rPr>
              <a:t>/</a:t>
            </a:r>
            <a:endParaRPr lang="en-US" sz="1800" dirty="0"/>
          </a:p>
        </p:txBody>
      </p:sp>
      <p:sp>
        <p:nvSpPr>
          <p:cNvPr id="30" name="tile-27"/>
          <p:cNvSpPr/>
          <p:nvPr/>
        </p:nvSpPr>
        <p:spPr>
          <a:xfrm>
            <a:off x="548640" y="3886200"/>
            <a:ext cx="384048" cy="384048"/>
          </a:xfrm>
          <a:prstGeom prst="roundRect">
            <a:avLst>
              <a:gd name="adj" fmla="val 14286"/>
            </a:avLst>
          </a:prstGeom>
          <a:solidFill>
            <a:schemeClr val="accent2"/>
          </a:solidFill>
          <a:ln w="9525">
            <a:solidFill>
              <a:schemeClr val="accent2"/>
            </a:solidFill>
            <a:prstDash val="solid"/>
          </a:ln>
        </p:spPr>
      </p:sp>
      <p:sp>
        <p:nvSpPr>
          <p:cNvPr id="31" name="txt-28"/>
          <p:cNvSpPr txBox="1"/>
          <p:nvPr/>
        </p:nvSpPr>
        <p:spPr>
          <a:xfrm>
            <a:off x="548640" y="388620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e</a:t>
            </a:r>
            <a:endParaRPr lang="en-US" sz="1600" dirty="0"/>
          </a:p>
        </p:txBody>
      </p:sp>
      <p:sp>
        <p:nvSpPr>
          <p:cNvPr id="32" name="tile-29"/>
          <p:cNvSpPr/>
          <p:nvPr/>
        </p:nvSpPr>
        <p:spPr>
          <a:xfrm>
            <a:off x="1005840" y="3886200"/>
            <a:ext cx="384048" cy="384048"/>
          </a:xfrm>
          <a:prstGeom prst="roundRect">
            <a:avLst>
              <a:gd name="adj" fmla="val 14286"/>
            </a:avLst>
          </a:prstGeom>
          <a:solidFill>
            <a:schemeClr val="accent2"/>
          </a:solidFill>
          <a:ln w="9525">
            <a:solidFill>
              <a:schemeClr val="accent2"/>
            </a:solidFill>
            <a:prstDash val="solid"/>
          </a:ln>
        </p:spPr>
      </p:sp>
      <p:sp>
        <p:nvSpPr>
          <p:cNvPr id="33" name="txt-30"/>
          <p:cNvSpPr txBox="1"/>
          <p:nvPr/>
        </p:nvSpPr>
        <p:spPr>
          <a:xfrm>
            <a:off x="1005840" y="388620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sp>
        <p:nvSpPr>
          <p:cNvPr id="34" name="tile-31"/>
          <p:cNvSpPr/>
          <p:nvPr/>
        </p:nvSpPr>
        <p:spPr>
          <a:xfrm>
            <a:off x="1463040" y="3886200"/>
            <a:ext cx="384048" cy="384048"/>
          </a:xfrm>
          <a:prstGeom prst="roundRect">
            <a:avLst>
              <a:gd name="adj" fmla="val 14286"/>
            </a:avLst>
          </a:prstGeom>
          <a:solidFill>
            <a:schemeClr val="accent3"/>
          </a:solidFill>
          <a:ln w="9525">
            <a:solidFill>
              <a:schemeClr val="accent3"/>
            </a:solidFill>
            <a:prstDash val="solid"/>
          </a:ln>
        </p:spPr>
      </p:sp>
      <p:sp>
        <p:nvSpPr>
          <p:cNvPr id="35" name="txt-32"/>
          <p:cNvSpPr txBox="1"/>
          <p:nvPr/>
        </p:nvSpPr>
        <p:spPr>
          <a:xfrm>
            <a:off x="1463040" y="388620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g</a:t>
            </a:r>
            <a:endParaRPr lang="en-US" sz="1600" dirty="0"/>
          </a:p>
        </p:txBody>
      </p:sp>
      <p:sp>
        <p:nvSpPr>
          <p:cNvPr id="36" name="tile-33"/>
          <p:cNvSpPr/>
          <p:nvPr/>
        </p:nvSpPr>
        <p:spPr>
          <a:xfrm>
            <a:off x="1920240" y="3886200"/>
            <a:ext cx="384048" cy="384048"/>
          </a:xfrm>
          <a:prstGeom prst="roundRect">
            <a:avLst>
              <a:gd name="adj" fmla="val 14286"/>
            </a:avLst>
          </a:prstGeom>
          <a:solidFill>
            <a:schemeClr val="accent3"/>
          </a:solidFill>
          <a:ln w="9525">
            <a:solidFill>
              <a:schemeClr val="accent3"/>
            </a:solidFill>
            <a:prstDash val="solid"/>
          </a:ln>
        </p:spPr>
      </p:sp>
      <p:sp>
        <p:nvSpPr>
          <p:cNvPr id="37" name="txt-34"/>
          <p:cNvSpPr txBox="1"/>
          <p:nvPr/>
        </p:nvSpPr>
        <p:spPr>
          <a:xfrm>
            <a:off x="1920240" y="388620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j</a:t>
            </a:r>
            <a:endParaRPr lang="en-US" sz="1600" dirty="0"/>
          </a:p>
        </p:txBody>
      </p:sp>
      <p:sp>
        <p:nvSpPr>
          <p:cNvPr id="38" name="tile-35"/>
          <p:cNvSpPr/>
          <p:nvPr/>
        </p:nvSpPr>
        <p:spPr>
          <a:xfrm>
            <a:off x="2377440" y="3886200"/>
            <a:ext cx="384048" cy="384048"/>
          </a:xfrm>
          <a:prstGeom prst="roundRect">
            <a:avLst>
              <a:gd name="adj" fmla="val 14286"/>
            </a:avLst>
          </a:prstGeom>
          <a:solidFill>
            <a:schemeClr val="accent2"/>
          </a:solidFill>
          <a:ln w="9525">
            <a:solidFill>
              <a:schemeClr val="accent2"/>
            </a:solidFill>
            <a:prstDash val="solid"/>
          </a:ln>
        </p:spPr>
      </p:sp>
      <p:sp>
        <p:nvSpPr>
          <p:cNvPr id="39" name="txt-36"/>
          <p:cNvSpPr txBox="1"/>
          <p:nvPr/>
        </p:nvSpPr>
        <p:spPr>
          <a:xfrm>
            <a:off x="2377440" y="388620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d</a:t>
            </a:r>
            <a:endParaRPr lang="en-US" sz="1600" dirty="0"/>
          </a:p>
        </p:txBody>
      </p:sp>
      <p:sp>
        <p:nvSpPr>
          <p:cNvPr id="40" name="tile-37"/>
          <p:cNvSpPr/>
          <p:nvPr/>
        </p:nvSpPr>
        <p:spPr>
          <a:xfrm>
            <a:off x="2834640" y="3886200"/>
            <a:ext cx="384048" cy="384048"/>
          </a:xfrm>
          <a:prstGeom prst="roundRect">
            <a:avLst>
              <a:gd name="adj" fmla="val 14286"/>
            </a:avLst>
          </a:prstGeom>
          <a:solidFill>
            <a:schemeClr val="accent3"/>
          </a:solidFill>
          <a:ln w="9525">
            <a:solidFill>
              <a:schemeClr val="accent3"/>
            </a:solidFill>
            <a:prstDash val="solid"/>
          </a:ln>
        </p:spPr>
      </p:sp>
      <p:sp>
        <p:nvSpPr>
          <p:cNvPr id="41" name="txt-38"/>
          <p:cNvSpPr txBox="1"/>
          <p:nvPr/>
        </p:nvSpPr>
        <p:spPr>
          <a:xfrm>
            <a:off x="2834640" y="388620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i</a:t>
            </a:r>
            <a:endParaRPr lang="en-US" sz="1600" dirty="0"/>
          </a:p>
        </p:txBody>
      </p:sp>
      <p:sp>
        <p:nvSpPr>
          <p:cNvPr id="42" name="tile-39"/>
          <p:cNvSpPr/>
          <p:nvPr/>
        </p:nvSpPr>
        <p:spPr>
          <a:xfrm>
            <a:off x="3474720" y="3886200"/>
            <a:ext cx="384048" cy="384048"/>
          </a:xfrm>
          <a:prstGeom prst="roundRect">
            <a:avLst>
              <a:gd name="adj" fmla="val 14286"/>
            </a:avLst>
          </a:prstGeom>
          <a:solidFill>
            <a:schemeClr val="accent3"/>
          </a:solidFill>
          <a:ln w="9525">
            <a:solidFill>
              <a:schemeClr val="accent3"/>
            </a:solidFill>
            <a:prstDash val="solid"/>
          </a:ln>
        </p:spPr>
      </p:sp>
      <p:sp>
        <p:nvSpPr>
          <p:cNvPr id="43" name="txt-40"/>
          <p:cNvSpPr txBox="1"/>
          <p:nvPr/>
        </p:nvSpPr>
        <p:spPr>
          <a:xfrm>
            <a:off x="3474720" y="388620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l</a:t>
            </a:r>
            <a:endParaRPr lang="en-US" sz="1600" dirty="0"/>
          </a:p>
        </p:txBody>
      </p:sp>
      <p:sp>
        <p:nvSpPr>
          <p:cNvPr id="44" name="tile-41"/>
          <p:cNvSpPr/>
          <p:nvPr/>
        </p:nvSpPr>
        <p:spPr>
          <a:xfrm>
            <a:off x="3931920" y="3886200"/>
            <a:ext cx="384048" cy="384048"/>
          </a:xfrm>
          <a:prstGeom prst="roundRect">
            <a:avLst>
              <a:gd name="adj" fmla="val 14286"/>
            </a:avLst>
          </a:prstGeom>
          <a:solidFill>
            <a:schemeClr val="accent3"/>
          </a:solidFill>
          <a:ln w="9525">
            <a:solidFill>
              <a:schemeClr val="accent3"/>
            </a:solidFill>
            <a:prstDash val="solid"/>
          </a:ln>
        </p:spPr>
      </p:sp>
      <p:sp>
        <p:nvSpPr>
          <p:cNvPr id="45" name="txt-42"/>
          <p:cNvSpPr txBox="1"/>
          <p:nvPr/>
        </p:nvSpPr>
        <p:spPr>
          <a:xfrm>
            <a:off x="3931920" y="388620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h</a:t>
            </a:r>
            <a:endParaRPr lang="en-US" sz="1600" dirty="0"/>
          </a:p>
        </p:txBody>
      </p:sp>
      <p:sp>
        <p:nvSpPr>
          <p:cNvPr id="46" name="tile-43"/>
          <p:cNvSpPr/>
          <p:nvPr/>
        </p:nvSpPr>
        <p:spPr>
          <a:xfrm>
            <a:off x="4389120" y="3886200"/>
            <a:ext cx="384048" cy="384048"/>
          </a:xfrm>
          <a:prstGeom prst="roundRect">
            <a:avLst>
              <a:gd name="adj" fmla="val 14286"/>
            </a:avLst>
          </a:prstGeom>
          <a:solidFill>
            <a:schemeClr val="accent3"/>
          </a:solidFill>
          <a:ln w="9525">
            <a:solidFill>
              <a:schemeClr val="accent3"/>
            </a:solidFill>
            <a:prstDash val="solid"/>
          </a:ln>
        </p:spPr>
      </p:sp>
      <p:sp>
        <p:nvSpPr>
          <p:cNvPr id="47" name="txt-44"/>
          <p:cNvSpPr txBox="1"/>
          <p:nvPr/>
        </p:nvSpPr>
        <p:spPr>
          <a:xfrm>
            <a:off x="4389120" y="388620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k</a:t>
            </a:r>
            <a:endParaRPr lang="en-US" sz="1600" dirty="0"/>
          </a:p>
        </p:txBody>
      </p:sp>
      <p:sp>
        <p:nvSpPr>
          <p:cNvPr id="48" name="tile-45"/>
          <p:cNvSpPr/>
          <p:nvPr/>
        </p:nvSpPr>
        <p:spPr>
          <a:xfrm>
            <a:off x="4846320" y="3886200"/>
            <a:ext cx="384048" cy="384048"/>
          </a:xfrm>
          <a:prstGeom prst="roundRect">
            <a:avLst>
              <a:gd name="adj" fmla="val 14286"/>
            </a:avLst>
          </a:prstGeom>
          <a:solidFill>
            <a:schemeClr val="accent2"/>
          </a:solidFill>
          <a:ln w="9525">
            <a:solidFill>
              <a:schemeClr val="accent2"/>
            </a:solidFill>
            <a:prstDash val="solid"/>
          </a:ln>
        </p:spPr>
      </p:sp>
      <p:sp>
        <p:nvSpPr>
          <p:cNvPr id="49" name="txt-46"/>
          <p:cNvSpPr txBox="1"/>
          <p:nvPr/>
        </p:nvSpPr>
        <p:spPr>
          <a:xfrm>
            <a:off x="4846320" y="388620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sp>
        <p:nvSpPr>
          <p:cNvPr id="50" name="tile-47"/>
          <p:cNvSpPr/>
          <p:nvPr/>
        </p:nvSpPr>
        <p:spPr>
          <a:xfrm>
            <a:off x="5303520" y="3886200"/>
            <a:ext cx="384048" cy="384048"/>
          </a:xfrm>
          <a:prstGeom prst="roundRect">
            <a:avLst>
              <a:gd name="adj" fmla="val 14286"/>
            </a:avLst>
          </a:prstGeom>
          <a:solidFill>
            <a:schemeClr val="accent2"/>
          </a:solidFill>
          <a:ln w="9525">
            <a:solidFill>
              <a:schemeClr val="accent2"/>
            </a:solidFill>
            <a:prstDash val="solid"/>
          </a:ln>
        </p:spPr>
      </p:sp>
      <p:sp>
        <p:nvSpPr>
          <p:cNvPr id="51" name="txt-48"/>
          <p:cNvSpPr txBox="1"/>
          <p:nvPr/>
        </p:nvSpPr>
        <p:spPr>
          <a:xfrm>
            <a:off x="5303520" y="388620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c</a:t>
            </a:r>
            <a:endParaRPr lang="en-US" sz="1600" dirty="0"/>
          </a:p>
        </p:txBody>
      </p:sp>
      <p:sp>
        <p:nvSpPr>
          <p:cNvPr id="52" name="tile-49"/>
          <p:cNvSpPr/>
          <p:nvPr/>
        </p:nvSpPr>
        <p:spPr>
          <a:xfrm>
            <a:off x="5760720" y="3886200"/>
            <a:ext cx="384048" cy="384048"/>
          </a:xfrm>
          <a:prstGeom prst="roundRect">
            <a:avLst>
              <a:gd name="adj" fmla="val 14286"/>
            </a:avLst>
          </a:prstGeom>
          <a:solidFill>
            <a:schemeClr val="accent2"/>
          </a:solidFill>
          <a:ln w="9525">
            <a:solidFill>
              <a:schemeClr val="accent2"/>
            </a:solidFill>
            <a:prstDash val="solid"/>
          </a:ln>
        </p:spPr>
      </p:sp>
      <p:sp>
        <p:nvSpPr>
          <p:cNvPr id="53" name="txt-50"/>
          <p:cNvSpPr txBox="1"/>
          <p:nvPr/>
        </p:nvSpPr>
        <p:spPr>
          <a:xfrm>
            <a:off x="5760720" y="388620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f</a:t>
            </a:r>
            <a:endParaRPr lang="en-US" sz="1600" dirty="0"/>
          </a:p>
        </p:txBody>
      </p:sp>
      <p:sp>
        <p:nvSpPr>
          <p:cNvPr id="54" name="txt-51"/>
          <p:cNvSpPr txBox="1"/>
          <p:nvPr/>
        </p:nvSpPr>
        <p:spPr>
          <a:xfrm>
            <a:off x="3255264" y="3886200"/>
            <a:ext cx="182880" cy="384048"/>
          </a:xfrm>
          <a:prstGeom prst="rect">
            <a:avLst/>
          </a:prstGeom>
          <a:noFill/>
          <a:ln/>
        </p:spPr>
        <p:txBody>
          <a:bodyPr wrap="square" lIns="0" tIns="0" rIns="0" bIns="0" rtlCol="0" anchor="ctr"/>
          <a:lstStyle/>
          <a:p>
            <a:pPr algn="ctr" indent="0" marL="0">
              <a:buNone/>
            </a:pPr>
            <a:r>
              <a:rPr lang="en-US" sz="1800" dirty="0">
                <a:solidFill>
                  <a:schemeClr val="accent6"/>
                </a:solidFill>
              </a:rPr>
              <a:t>/</a:t>
            </a:r>
            <a:endParaRPr lang="en-US" sz="1800" dirty="0"/>
          </a:p>
        </p:txBody>
      </p:sp>
      <p:sp>
        <p:nvSpPr>
          <p:cNvPr id="55" name="txt-52"/>
          <p:cNvSpPr txBox="1"/>
          <p:nvPr/>
        </p:nvSpPr>
        <p:spPr>
          <a:xfrm>
            <a:off x="6263640" y="3383280"/>
            <a:ext cx="2286000" cy="384048"/>
          </a:xfrm>
          <a:prstGeom prst="rect">
            <a:avLst/>
          </a:prstGeom>
          <a:noFill/>
          <a:ln/>
        </p:spPr>
        <p:txBody>
          <a:bodyPr wrap="square" lIns="0" tIns="0" rIns="0" bIns="0" rtlCol="0" anchor="ctr"/>
          <a:lstStyle/>
          <a:p>
            <a:pPr indent="0" marL="0">
              <a:buNone/>
            </a:pPr>
            <a:r>
              <a:rPr lang="en-US" sz="1200" dirty="0">
                <a:solidFill>
                  <a:schemeClr val="accent6"/>
                </a:solidFill>
              </a:rPr>
              <a:t>original</a:t>
            </a:r>
            <a:endParaRPr lang="en-US" sz="1200" dirty="0"/>
          </a:p>
        </p:txBody>
      </p:sp>
      <p:sp>
        <p:nvSpPr>
          <p:cNvPr id="56" name="txt-53"/>
          <p:cNvSpPr txBox="1"/>
          <p:nvPr/>
        </p:nvSpPr>
        <p:spPr>
          <a:xfrm>
            <a:off x="6263640" y="3886200"/>
            <a:ext cx="2377440" cy="384048"/>
          </a:xfrm>
          <a:prstGeom prst="rect">
            <a:avLst/>
          </a:prstGeom>
          <a:noFill/>
          <a:ln/>
        </p:spPr>
        <p:txBody>
          <a:bodyPr wrap="square" lIns="0" tIns="0" rIns="0" bIns="0" rtlCol="0" anchor="ctr"/>
          <a:lstStyle/>
          <a:p>
            <a:pPr indent="0" marL="0">
              <a:buNone/>
            </a:pPr>
            <a:r>
              <a:rPr lang="en-US" sz="1200" dirty="0">
                <a:solidFill>
                  <a:schemeClr val="accent6"/>
                </a:solidFill>
              </a:rPr>
              <a:t>full shuffle, as drawn in run 42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566928"/>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Four conditions at a glance</a:t>
            </a:r>
            <a:endParaRPr lang="en-US" sz="3400" dirty="0"/>
          </a:p>
        </p:txBody>
      </p:sp>
      <p:sp>
        <p:nvSpPr>
          <p:cNvPr id="3" name="Text 0"/>
          <p:cNvSpPr/>
          <p:nvPr>
            <p:ph idx="101" type="body" hasCustomPrompt="1"/>
          </p:nvPr>
        </p:nvSpPr>
        <p:spPr>
          <a:xfrm>
            <a:off x="457200" y="822960"/>
            <a:ext cx="8229600" cy="365760"/>
          </a:xfrm>
          <a:prstGeom prst="rect">
            <a:avLst/>
          </a:prstGeom>
          <a:noFill/>
          <a:ln/>
        </p:spPr>
        <p:txBody>
          <a:bodyPr wrap="square" lIns="0" tIns="0" rIns="0" bIns="0" rtlCol="0" anchor="t"/>
          <a:lstStyle/>
          <a:p>
            <a:pPr algn="l" indent="0" marL="0">
              <a:buNone/>
            </a:pPr>
            <a:r>
              <a:rPr lang="en-US" sz="1500" dirty="0">
                <a:solidFill>
                  <a:schemeClr val="tx2"/>
                </a:solidFill>
              </a:rPr>
              <a:t>D2 changes only the series; descriptions, model weights and candidate pools stay fixed</a:t>
            </a:r>
            <a:endParaRPr lang="en-US" sz="1500" dirty="0"/>
          </a:p>
        </p:txBody>
      </p:sp>
      <p:sp>
        <p:nvSpPr>
          <p:cNvPr id="4" name="txt-54"/>
          <p:cNvSpPr txBox="1"/>
          <p:nvPr/>
        </p:nvSpPr>
        <p:spPr>
          <a:xfrm>
            <a:off x="457200" y="1188720"/>
            <a:ext cx="1645920" cy="201168"/>
          </a:xfrm>
          <a:prstGeom prst="rect">
            <a:avLst/>
          </a:prstGeom>
          <a:noFill/>
          <a:ln/>
        </p:spPr>
        <p:txBody>
          <a:bodyPr wrap="square" lIns="0" tIns="0" rIns="0" bIns="0" rtlCol="0" anchor="ctr"/>
          <a:lstStyle/>
          <a:p>
            <a:pPr indent="0" marL="0">
              <a:buNone/>
            </a:pPr>
            <a:r>
              <a:rPr lang="en-US" sz="1100" b="1" spc="100" kern="0" dirty="0">
                <a:solidFill>
                  <a:schemeClr val="tx2"/>
                </a:solidFill>
              </a:rPr>
              <a:t>CONDITION</a:t>
            </a:r>
            <a:endParaRPr lang="en-US" sz="1100" dirty="0"/>
          </a:p>
        </p:txBody>
      </p:sp>
      <p:sp>
        <p:nvSpPr>
          <p:cNvPr id="5" name="txt-55"/>
          <p:cNvSpPr txBox="1"/>
          <p:nvPr/>
        </p:nvSpPr>
        <p:spPr>
          <a:xfrm>
            <a:off x="2240280" y="1188720"/>
            <a:ext cx="4206240" cy="201168"/>
          </a:xfrm>
          <a:prstGeom prst="rect">
            <a:avLst/>
          </a:prstGeom>
          <a:noFill/>
          <a:ln/>
        </p:spPr>
        <p:txBody>
          <a:bodyPr wrap="square" lIns="0" tIns="0" rIns="0" bIns="0" rtlCol="0" anchor="ctr"/>
          <a:lstStyle/>
          <a:p>
            <a:pPr indent="0" marL="0">
              <a:buNone/>
            </a:pPr>
            <a:r>
              <a:rPr lang="en-US" sz="1100" b="1" spc="100" kern="0" dirty="0">
                <a:solidFill>
                  <a:schemeClr val="tx2"/>
                </a:solidFill>
              </a:rPr>
              <a:t>TEN-POINT SERIES (LETTERS = OBSERVATIONS)</a:t>
            </a:r>
            <a:endParaRPr lang="en-US" sz="1100" dirty="0"/>
          </a:p>
        </p:txBody>
      </p:sp>
      <p:sp>
        <p:nvSpPr>
          <p:cNvPr id="6" name="txt-56"/>
          <p:cNvSpPr txBox="1"/>
          <p:nvPr/>
        </p:nvSpPr>
        <p:spPr>
          <a:xfrm>
            <a:off x="6720840" y="1188720"/>
            <a:ext cx="2011680" cy="201168"/>
          </a:xfrm>
          <a:prstGeom prst="rect">
            <a:avLst/>
          </a:prstGeom>
          <a:noFill/>
          <a:ln/>
        </p:spPr>
        <p:txBody>
          <a:bodyPr wrap="square" lIns="0" tIns="0" rIns="0" bIns="0" rtlCol="0" anchor="ctr"/>
          <a:lstStyle/>
          <a:p>
            <a:pPr indent="0" marL="0">
              <a:buNone/>
            </a:pPr>
            <a:r>
              <a:rPr lang="en-US" sz="1100" b="1" spc="100" kern="0" dirty="0">
                <a:solidFill>
                  <a:schemeClr val="tx2"/>
                </a:solidFill>
              </a:rPr>
              <a:t>WHAT SURVIVES</a:t>
            </a:r>
            <a:endParaRPr lang="en-US" sz="1100" dirty="0"/>
          </a:p>
        </p:txBody>
      </p:sp>
      <p:sp>
        <p:nvSpPr>
          <p:cNvPr id="7" name="txt-57"/>
          <p:cNvSpPr txBox="1"/>
          <p:nvPr/>
        </p:nvSpPr>
        <p:spPr>
          <a:xfrm>
            <a:off x="457200" y="1481328"/>
            <a:ext cx="1737360" cy="274320"/>
          </a:xfrm>
          <a:prstGeom prst="rect">
            <a:avLst/>
          </a:prstGeom>
          <a:noFill/>
          <a:ln/>
        </p:spPr>
        <p:txBody>
          <a:bodyPr wrap="square" lIns="0" tIns="0" rIns="0" bIns="0" rtlCol="0" anchor="ctr"/>
          <a:lstStyle/>
          <a:p>
            <a:pPr indent="0" marL="0">
              <a:buNone/>
            </a:pPr>
            <a:r>
              <a:rPr lang="en-US" sz="1500" b="1" dirty="0">
                <a:solidFill>
                  <a:schemeClr val="tx1"/>
                </a:solidFill>
              </a:rPr>
              <a:t>Original</a:t>
            </a:r>
            <a:endParaRPr lang="en-US" sz="1500" dirty="0"/>
          </a:p>
        </p:txBody>
      </p:sp>
      <p:sp>
        <p:nvSpPr>
          <p:cNvPr id="8" name="tile-58"/>
          <p:cNvSpPr/>
          <p:nvPr/>
        </p:nvSpPr>
        <p:spPr>
          <a:xfrm>
            <a:off x="2240280" y="1481328"/>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9" name="txt-59"/>
          <p:cNvSpPr txBox="1"/>
          <p:nvPr/>
        </p:nvSpPr>
        <p:spPr>
          <a:xfrm>
            <a:off x="2240280" y="1481328"/>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a</a:t>
            </a:r>
            <a:endParaRPr lang="en-US" sz="1700" dirty="0"/>
          </a:p>
        </p:txBody>
      </p:sp>
      <p:sp>
        <p:nvSpPr>
          <p:cNvPr id="10" name="tile-60"/>
          <p:cNvSpPr/>
          <p:nvPr/>
        </p:nvSpPr>
        <p:spPr>
          <a:xfrm>
            <a:off x="2651760" y="1481328"/>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11" name="txt-61"/>
          <p:cNvSpPr txBox="1"/>
          <p:nvPr/>
        </p:nvSpPr>
        <p:spPr>
          <a:xfrm>
            <a:off x="2651760" y="1481328"/>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b</a:t>
            </a:r>
            <a:endParaRPr lang="en-US" sz="1700" dirty="0"/>
          </a:p>
        </p:txBody>
      </p:sp>
      <p:sp>
        <p:nvSpPr>
          <p:cNvPr id="12" name="tile-62"/>
          <p:cNvSpPr/>
          <p:nvPr/>
        </p:nvSpPr>
        <p:spPr>
          <a:xfrm>
            <a:off x="3063240" y="1481328"/>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13" name="txt-63"/>
          <p:cNvSpPr txBox="1"/>
          <p:nvPr/>
        </p:nvSpPr>
        <p:spPr>
          <a:xfrm>
            <a:off x="3063240" y="1481328"/>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c</a:t>
            </a:r>
            <a:endParaRPr lang="en-US" sz="1700" dirty="0"/>
          </a:p>
        </p:txBody>
      </p:sp>
      <p:sp>
        <p:nvSpPr>
          <p:cNvPr id="14" name="tile-64"/>
          <p:cNvSpPr/>
          <p:nvPr/>
        </p:nvSpPr>
        <p:spPr>
          <a:xfrm>
            <a:off x="3474720" y="1481328"/>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15" name="txt-65"/>
          <p:cNvSpPr txBox="1"/>
          <p:nvPr/>
        </p:nvSpPr>
        <p:spPr>
          <a:xfrm>
            <a:off x="3474720" y="1481328"/>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d</a:t>
            </a:r>
            <a:endParaRPr lang="en-US" sz="1700" dirty="0"/>
          </a:p>
        </p:txBody>
      </p:sp>
      <p:sp>
        <p:nvSpPr>
          <p:cNvPr id="16" name="tile-66"/>
          <p:cNvSpPr/>
          <p:nvPr/>
        </p:nvSpPr>
        <p:spPr>
          <a:xfrm>
            <a:off x="3886200" y="1481328"/>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17" name="txt-67"/>
          <p:cNvSpPr txBox="1"/>
          <p:nvPr/>
        </p:nvSpPr>
        <p:spPr>
          <a:xfrm>
            <a:off x="3886200" y="1481328"/>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e</a:t>
            </a:r>
            <a:endParaRPr lang="en-US" sz="1700" dirty="0"/>
          </a:p>
        </p:txBody>
      </p:sp>
      <p:sp>
        <p:nvSpPr>
          <p:cNvPr id="18" name="tile-68"/>
          <p:cNvSpPr/>
          <p:nvPr/>
        </p:nvSpPr>
        <p:spPr>
          <a:xfrm>
            <a:off x="4498848" y="1481328"/>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19" name="txt-69"/>
          <p:cNvSpPr txBox="1"/>
          <p:nvPr/>
        </p:nvSpPr>
        <p:spPr>
          <a:xfrm>
            <a:off x="4498848" y="1481328"/>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f</a:t>
            </a:r>
            <a:endParaRPr lang="en-US" sz="1700" dirty="0"/>
          </a:p>
        </p:txBody>
      </p:sp>
      <p:sp>
        <p:nvSpPr>
          <p:cNvPr id="20" name="tile-70"/>
          <p:cNvSpPr/>
          <p:nvPr/>
        </p:nvSpPr>
        <p:spPr>
          <a:xfrm>
            <a:off x="4910328" y="1481328"/>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21" name="txt-71"/>
          <p:cNvSpPr txBox="1"/>
          <p:nvPr/>
        </p:nvSpPr>
        <p:spPr>
          <a:xfrm>
            <a:off x="4910328" y="1481328"/>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g</a:t>
            </a:r>
            <a:endParaRPr lang="en-US" sz="1700" dirty="0"/>
          </a:p>
        </p:txBody>
      </p:sp>
      <p:sp>
        <p:nvSpPr>
          <p:cNvPr id="22" name="tile-72"/>
          <p:cNvSpPr/>
          <p:nvPr/>
        </p:nvSpPr>
        <p:spPr>
          <a:xfrm>
            <a:off x="5321808" y="1481328"/>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23" name="txt-73"/>
          <p:cNvSpPr txBox="1"/>
          <p:nvPr/>
        </p:nvSpPr>
        <p:spPr>
          <a:xfrm>
            <a:off x="5321808" y="1481328"/>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h</a:t>
            </a:r>
            <a:endParaRPr lang="en-US" sz="1700" dirty="0"/>
          </a:p>
        </p:txBody>
      </p:sp>
      <p:sp>
        <p:nvSpPr>
          <p:cNvPr id="24" name="tile-74"/>
          <p:cNvSpPr/>
          <p:nvPr/>
        </p:nvSpPr>
        <p:spPr>
          <a:xfrm>
            <a:off x="5733288" y="1481328"/>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25" name="txt-75"/>
          <p:cNvSpPr txBox="1"/>
          <p:nvPr/>
        </p:nvSpPr>
        <p:spPr>
          <a:xfrm>
            <a:off x="5733288" y="1481328"/>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i</a:t>
            </a:r>
            <a:endParaRPr lang="en-US" sz="1700" dirty="0"/>
          </a:p>
        </p:txBody>
      </p:sp>
      <p:sp>
        <p:nvSpPr>
          <p:cNvPr id="26" name="tile-76"/>
          <p:cNvSpPr/>
          <p:nvPr/>
        </p:nvSpPr>
        <p:spPr>
          <a:xfrm>
            <a:off x="6144768" y="1481328"/>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27" name="txt-77"/>
          <p:cNvSpPr txBox="1"/>
          <p:nvPr/>
        </p:nvSpPr>
        <p:spPr>
          <a:xfrm>
            <a:off x="6144768" y="1481328"/>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j</a:t>
            </a:r>
            <a:endParaRPr lang="en-US" sz="1700" dirty="0"/>
          </a:p>
        </p:txBody>
      </p:sp>
      <p:sp>
        <p:nvSpPr>
          <p:cNvPr id="28" name="txt-78"/>
          <p:cNvSpPr txBox="1"/>
          <p:nvPr/>
        </p:nvSpPr>
        <p:spPr>
          <a:xfrm>
            <a:off x="4283964" y="1481328"/>
            <a:ext cx="182880" cy="457200"/>
          </a:xfrm>
          <a:prstGeom prst="rect">
            <a:avLst/>
          </a:prstGeom>
          <a:noFill/>
          <a:ln/>
        </p:spPr>
        <p:txBody>
          <a:bodyPr wrap="square" lIns="0" tIns="0" rIns="0" bIns="0" rtlCol="0" anchor="ctr"/>
          <a:lstStyle/>
          <a:p>
            <a:pPr algn="ctr" indent="0" marL="0">
              <a:buNone/>
            </a:pPr>
            <a:r>
              <a:rPr lang="en-US" sz="1800" dirty="0">
                <a:solidFill>
                  <a:schemeClr val="tx2"/>
                </a:solidFill>
              </a:rPr>
              <a:t>/</a:t>
            </a:r>
            <a:endParaRPr lang="en-US" sz="1800" dirty="0"/>
          </a:p>
        </p:txBody>
      </p:sp>
      <p:sp>
        <p:nvSpPr>
          <p:cNvPr id="29" name="txt-79"/>
          <p:cNvSpPr txBox="1"/>
          <p:nvPr/>
        </p:nvSpPr>
        <p:spPr>
          <a:xfrm>
            <a:off x="6720840" y="1481328"/>
            <a:ext cx="2011680" cy="457200"/>
          </a:xfrm>
          <a:prstGeom prst="rect">
            <a:avLst/>
          </a:prstGeom>
          <a:noFill/>
          <a:ln/>
        </p:spPr>
        <p:txBody>
          <a:bodyPr wrap="square" lIns="0" tIns="0" rIns="0" bIns="0" rtlCol="0" anchor="ctr"/>
          <a:lstStyle/>
          <a:p>
            <a:pPr indent="0" marL="0">
              <a:buNone/>
            </a:pPr>
            <a:r>
              <a:rPr lang="en-US" sz="1400" dirty="0">
                <a:solidFill>
                  <a:schemeClr val="tx1"/>
                </a:solidFill>
              </a:rPr>
              <a:t>the reference</a:t>
            </a:r>
            <a:endParaRPr lang="en-US" sz="1400" dirty="0"/>
          </a:p>
        </p:txBody>
      </p:sp>
      <p:sp>
        <p:nvSpPr>
          <p:cNvPr id="30" name="txt-80"/>
          <p:cNvSpPr txBox="1"/>
          <p:nvPr/>
        </p:nvSpPr>
        <p:spPr>
          <a:xfrm>
            <a:off x="457200" y="2084832"/>
            <a:ext cx="1737360" cy="274320"/>
          </a:xfrm>
          <a:prstGeom prst="rect">
            <a:avLst/>
          </a:prstGeom>
          <a:noFill/>
          <a:ln/>
        </p:spPr>
        <p:txBody>
          <a:bodyPr wrap="square" lIns="0" tIns="0" rIns="0" bIns="0" rtlCol="0" anchor="ctr"/>
          <a:lstStyle/>
          <a:p>
            <a:pPr indent="0" marL="0">
              <a:buNone/>
            </a:pPr>
            <a:r>
              <a:rPr lang="en-US" sz="1500" b="1" dirty="0">
                <a:solidFill>
                  <a:schemeClr val="accent1"/>
                </a:solidFill>
              </a:rPr>
              <a:t>Full shuffle</a:t>
            </a:r>
            <a:endParaRPr lang="en-US" sz="1500" dirty="0"/>
          </a:p>
        </p:txBody>
      </p:sp>
      <p:sp>
        <p:nvSpPr>
          <p:cNvPr id="31" name="txt-81"/>
          <p:cNvSpPr txBox="1"/>
          <p:nvPr/>
        </p:nvSpPr>
        <p:spPr>
          <a:xfrm>
            <a:off x="457200" y="2340864"/>
            <a:ext cx="1737360" cy="201168"/>
          </a:xfrm>
          <a:prstGeom prst="rect">
            <a:avLst/>
          </a:prstGeom>
          <a:noFill/>
          <a:ln/>
        </p:spPr>
        <p:txBody>
          <a:bodyPr wrap="square" lIns="0" tIns="0" rIns="0" bIns="0" rtlCol="0" anchor="ctr"/>
          <a:lstStyle/>
          <a:p>
            <a:pPr indent="0" marL="0">
              <a:buNone/>
            </a:pPr>
            <a:r>
              <a:rPr lang="en-US" sz="1100" dirty="0">
                <a:solidFill>
                  <a:schemeClr val="tx2"/>
                </a:solidFill>
              </a:rPr>
              <a:t>sf-all</a:t>
            </a:r>
            <a:endParaRPr lang="en-US" sz="1100" dirty="0"/>
          </a:p>
        </p:txBody>
      </p:sp>
      <p:sp>
        <p:nvSpPr>
          <p:cNvPr id="32" name="tile-82"/>
          <p:cNvSpPr/>
          <p:nvPr/>
        </p:nvSpPr>
        <p:spPr>
          <a:xfrm>
            <a:off x="2240280" y="2084832"/>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33" name="txt-83"/>
          <p:cNvSpPr txBox="1"/>
          <p:nvPr/>
        </p:nvSpPr>
        <p:spPr>
          <a:xfrm>
            <a:off x="2240280" y="2084832"/>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h</a:t>
            </a:r>
            <a:endParaRPr lang="en-US" sz="1700" dirty="0"/>
          </a:p>
        </p:txBody>
      </p:sp>
      <p:sp>
        <p:nvSpPr>
          <p:cNvPr id="34" name="tile-84"/>
          <p:cNvSpPr/>
          <p:nvPr/>
        </p:nvSpPr>
        <p:spPr>
          <a:xfrm>
            <a:off x="2651760" y="2084832"/>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35" name="txt-85"/>
          <p:cNvSpPr txBox="1"/>
          <p:nvPr/>
        </p:nvSpPr>
        <p:spPr>
          <a:xfrm>
            <a:off x="2651760" y="2084832"/>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c</a:t>
            </a:r>
            <a:endParaRPr lang="en-US" sz="1700" dirty="0"/>
          </a:p>
        </p:txBody>
      </p:sp>
      <p:sp>
        <p:nvSpPr>
          <p:cNvPr id="36" name="tile-86"/>
          <p:cNvSpPr/>
          <p:nvPr/>
        </p:nvSpPr>
        <p:spPr>
          <a:xfrm>
            <a:off x="3063240" y="2084832"/>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37" name="txt-87"/>
          <p:cNvSpPr txBox="1"/>
          <p:nvPr/>
        </p:nvSpPr>
        <p:spPr>
          <a:xfrm>
            <a:off x="3063240" y="2084832"/>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a</a:t>
            </a:r>
            <a:endParaRPr lang="en-US" sz="1700" dirty="0"/>
          </a:p>
        </p:txBody>
      </p:sp>
      <p:sp>
        <p:nvSpPr>
          <p:cNvPr id="38" name="tile-88"/>
          <p:cNvSpPr/>
          <p:nvPr/>
        </p:nvSpPr>
        <p:spPr>
          <a:xfrm>
            <a:off x="3474720" y="2084832"/>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39" name="txt-89"/>
          <p:cNvSpPr txBox="1"/>
          <p:nvPr/>
        </p:nvSpPr>
        <p:spPr>
          <a:xfrm>
            <a:off x="3474720" y="2084832"/>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j</a:t>
            </a:r>
            <a:endParaRPr lang="en-US" sz="1700" dirty="0"/>
          </a:p>
        </p:txBody>
      </p:sp>
      <p:sp>
        <p:nvSpPr>
          <p:cNvPr id="40" name="tile-90"/>
          <p:cNvSpPr/>
          <p:nvPr/>
        </p:nvSpPr>
        <p:spPr>
          <a:xfrm>
            <a:off x="3886200" y="2084832"/>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41" name="txt-91"/>
          <p:cNvSpPr txBox="1"/>
          <p:nvPr/>
        </p:nvSpPr>
        <p:spPr>
          <a:xfrm>
            <a:off x="3886200" y="2084832"/>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f</a:t>
            </a:r>
            <a:endParaRPr lang="en-US" sz="1700" dirty="0"/>
          </a:p>
        </p:txBody>
      </p:sp>
      <p:sp>
        <p:nvSpPr>
          <p:cNvPr id="42" name="tile-92"/>
          <p:cNvSpPr/>
          <p:nvPr/>
        </p:nvSpPr>
        <p:spPr>
          <a:xfrm>
            <a:off x="4498848" y="2084832"/>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43" name="txt-93"/>
          <p:cNvSpPr txBox="1"/>
          <p:nvPr/>
        </p:nvSpPr>
        <p:spPr>
          <a:xfrm>
            <a:off x="4498848" y="2084832"/>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b</a:t>
            </a:r>
            <a:endParaRPr lang="en-US" sz="1700" dirty="0"/>
          </a:p>
        </p:txBody>
      </p:sp>
      <p:sp>
        <p:nvSpPr>
          <p:cNvPr id="44" name="tile-94"/>
          <p:cNvSpPr/>
          <p:nvPr/>
        </p:nvSpPr>
        <p:spPr>
          <a:xfrm>
            <a:off x="4910328" y="2084832"/>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45" name="txt-95"/>
          <p:cNvSpPr txBox="1"/>
          <p:nvPr/>
        </p:nvSpPr>
        <p:spPr>
          <a:xfrm>
            <a:off x="4910328" y="2084832"/>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i</a:t>
            </a:r>
            <a:endParaRPr lang="en-US" sz="1700" dirty="0"/>
          </a:p>
        </p:txBody>
      </p:sp>
      <p:sp>
        <p:nvSpPr>
          <p:cNvPr id="46" name="tile-96"/>
          <p:cNvSpPr/>
          <p:nvPr/>
        </p:nvSpPr>
        <p:spPr>
          <a:xfrm>
            <a:off x="5321808" y="2084832"/>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47" name="txt-97"/>
          <p:cNvSpPr txBox="1"/>
          <p:nvPr/>
        </p:nvSpPr>
        <p:spPr>
          <a:xfrm>
            <a:off x="5321808" y="2084832"/>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e</a:t>
            </a:r>
            <a:endParaRPr lang="en-US" sz="1700" dirty="0"/>
          </a:p>
        </p:txBody>
      </p:sp>
      <p:sp>
        <p:nvSpPr>
          <p:cNvPr id="48" name="tile-98"/>
          <p:cNvSpPr/>
          <p:nvPr/>
        </p:nvSpPr>
        <p:spPr>
          <a:xfrm>
            <a:off x="5733288" y="2084832"/>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49" name="txt-99"/>
          <p:cNvSpPr txBox="1"/>
          <p:nvPr/>
        </p:nvSpPr>
        <p:spPr>
          <a:xfrm>
            <a:off x="5733288" y="2084832"/>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g</a:t>
            </a:r>
            <a:endParaRPr lang="en-US" sz="1700" dirty="0"/>
          </a:p>
        </p:txBody>
      </p:sp>
      <p:sp>
        <p:nvSpPr>
          <p:cNvPr id="50" name="tile-100"/>
          <p:cNvSpPr/>
          <p:nvPr/>
        </p:nvSpPr>
        <p:spPr>
          <a:xfrm>
            <a:off x="6144768" y="2084832"/>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51" name="txt-101"/>
          <p:cNvSpPr txBox="1"/>
          <p:nvPr/>
        </p:nvSpPr>
        <p:spPr>
          <a:xfrm>
            <a:off x="6144768" y="2084832"/>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d</a:t>
            </a:r>
            <a:endParaRPr lang="en-US" sz="1700" dirty="0"/>
          </a:p>
        </p:txBody>
      </p:sp>
      <p:sp>
        <p:nvSpPr>
          <p:cNvPr id="52" name="txt-102"/>
          <p:cNvSpPr txBox="1"/>
          <p:nvPr/>
        </p:nvSpPr>
        <p:spPr>
          <a:xfrm>
            <a:off x="4283964" y="2084832"/>
            <a:ext cx="182880" cy="457200"/>
          </a:xfrm>
          <a:prstGeom prst="rect">
            <a:avLst/>
          </a:prstGeom>
          <a:noFill/>
          <a:ln/>
        </p:spPr>
        <p:txBody>
          <a:bodyPr wrap="square" lIns="0" tIns="0" rIns="0" bIns="0" rtlCol="0" anchor="ctr"/>
          <a:lstStyle/>
          <a:p>
            <a:pPr algn="ctr" indent="0" marL="0">
              <a:buNone/>
            </a:pPr>
            <a:r>
              <a:rPr lang="en-US" sz="1800" dirty="0">
                <a:solidFill>
                  <a:schemeClr val="tx2"/>
                </a:solidFill>
              </a:rPr>
              <a:t>/</a:t>
            </a:r>
            <a:endParaRPr lang="en-US" sz="1800" dirty="0"/>
          </a:p>
        </p:txBody>
      </p:sp>
      <p:sp>
        <p:nvSpPr>
          <p:cNvPr id="53" name="txt-103"/>
          <p:cNvSpPr txBox="1"/>
          <p:nvPr/>
        </p:nvSpPr>
        <p:spPr>
          <a:xfrm>
            <a:off x="6720840" y="2084832"/>
            <a:ext cx="2011680" cy="457200"/>
          </a:xfrm>
          <a:prstGeom prst="rect">
            <a:avLst/>
          </a:prstGeom>
          <a:noFill/>
          <a:ln/>
        </p:spPr>
        <p:txBody>
          <a:bodyPr wrap="square" lIns="0" tIns="0" rIns="0" bIns="0" rtlCol="0" anchor="ctr"/>
          <a:lstStyle/>
          <a:p>
            <a:pPr indent="0" marL="0">
              <a:buNone/>
            </a:pPr>
            <a:r>
              <a:rPr lang="en-US" sz="1400" dirty="0">
                <a:solidFill>
                  <a:schemeClr val="tx1"/>
                </a:solidFill>
              </a:rPr>
              <a:t>values only</a:t>
            </a:r>
            <a:endParaRPr lang="en-US" sz="1400" dirty="0"/>
          </a:p>
        </p:txBody>
      </p:sp>
      <p:sp>
        <p:nvSpPr>
          <p:cNvPr id="54" name="txt-104"/>
          <p:cNvSpPr txBox="1"/>
          <p:nvPr/>
        </p:nvSpPr>
        <p:spPr>
          <a:xfrm>
            <a:off x="457200" y="2688336"/>
            <a:ext cx="1737360" cy="274320"/>
          </a:xfrm>
          <a:prstGeom prst="rect">
            <a:avLst/>
          </a:prstGeom>
          <a:noFill/>
          <a:ln/>
        </p:spPr>
        <p:txBody>
          <a:bodyPr wrap="square" lIns="0" tIns="0" rIns="0" bIns="0" rtlCol="0" anchor="ctr"/>
          <a:lstStyle/>
          <a:p>
            <a:pPr indent="0" marL="0">
              <a:buNone/>
            </a:pPr>
            <a:r>
              <a:rPr lang="en-US" sz="1500" b="1" dirty="0">
                <a:solidFill>
                  <a:schemeClr val="accent2"/>
                </a:solidFill>
              </a:rPr>
              <a:t>First-half shuffle</a:t>
            </a:r>
            <a:endParaRPr lang="en-US" sz="1500" dirty="0"/>
          </a:p>
        </p:txBody>
      </p:sp>
      <p:sp>
        <p:nvSpPr>
          <p:cNvPr id="55" name="txt-105"/>
          <p:cNvSpPr txBox="1"/>
          <p:nvPr/>
        </p:nvSpPr>
        <p:spPr>
          <a:xfrm>
            <a:off x="457200" y="2944368"/>
            <a:ext cx="1737360" cy="201168"/>
          </a:xfrm>
          <a:prstGeom prst="rect">
            <a:avLst/>
          </a:prstGeom>
          <a:noFill/>
          <a:ln/>
        </p:spPr>
        <p:txBody>
          <a:bodyPr wrap="square" lIns="0" tIns="0" rIns="0" bIns="0" rtlCol="0" anchor="ctr"/>
          <a:lstStyle/>
          <a:p>
            <a:pPr indent="0" marL="0">
              <a:buNone/>
            </a:pPr>
            <a:r>
              <a:rPr lang="en-US" sz="1100" dirty="0">
                <a:solidFill>
                  <a:schemeClr val="tx2"/>
                </a:solidFill>
              </a:rPr>
              <a:t>sf-half</a:t>
            </a:r>
            <a:endParaRPr lang="en-US" sz="1100" dirty="0"/>
          </a:p>
        </p:txBody>
      </p:sp>
      <p:sp>
        <p:nvSpPr>
          <p:cNvPr id="56" name="tile-106"/>
          <p:cNvSpPr/>
          <p:nvPr/>
        </p:nvSpPr>
        <p:spPr>
          <a:xfrm>
            <a:off x="2240280" y="2688336"/>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57" name="txt-107"/>
          <p:cNvSpPr txBox="1"/>
          <p:nvPr/>
        </p:nvSpPr>
        <p:spPr>
          <a:xfrm>
            <a:off x="2240280" y="2688336"/>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c</a:t>
            </a:r>
            <a:endParaRPr lang="en-US" sz="1700" dirty="0"/>
          </a:p>
        </p:txBody>
      </p:sp>
      <p:sp>
        <p:nvSpPr>
          <p:cNvPr id="58" name="tile-108"/>
          <p:cNvSpPr/>
          <p:nvPr/>
        </p:nvSpPr>
        <p:spPr>
          <a:xfrm>
            <a:off x="2651760" y="2688336"/>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59" name="txt-109"/>
          <p:cNvSpPr txBox="1"/>
          <p:nvPr/>
        </p:nvSpPr>
        <p:spPr>
          <a:xfrm>
            <a:off x="2651760" y="2688336"/>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a</a:t>
            </a:r>
            <a:endParaRPr lang="en-US" sz="1700" dirty="0"/>
          </a:p>
        </p:txBody>
      </p:sp>
      <p:sp>
        <p:nvSpPr>
          <p:cNvPr id="60" name="tile-110"/>
          <p:cNvSpPr/>
          <p:nvPr/>
        </p:nvSpPr>
        <p:spPr>
          <a:xfrm>
            <a:off x="3063240" y="2688336"/>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61" name="txt-111"/>
          <p:cNvSpPr txBox="1"/>
          <p:nvPr/>
        </p:nvSpPr>
        <p:spPr>
          <a:xfrm>
            <a:off x="3063240" y="2688336"/>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e</a:t>
            </a:r>
            <a:endParaRPr lang="en-US" sz="1700" dirty="0"/>
          </a:p>
        </p:txBody>
      </p:sp>
      <p:sp>
        <p:nvSpPr>
          <p:cNvPr id="62" name="tile-112"/>
          <p:cNvSpPr/>
          <p:nvPr/>
        </p:nvSpPr>
        <p:spPr>
          <a:xfrm>
            <a:off x="3474720" y="2688336"/>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63" name="txt-113"/>
          <p:cNvSpPr txBox="1"/>
          <p:nvPr/>
        </p:nvSpPr>
        <p:spPr>
          <a:xfrm>
            <a:off x="3474720" y="2688336"/>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b</a:t>
            </a:r>
            <a:endParaRPr lang="en-US" sz="1700" dirty="0"/>
          </a:p>
        </p:txBody>
      </p:sp>
      <p:sp>
        <p:nvSpPr>
          <p:cNvPr id="64" name="tile-114"/>
          <p:cNvSpPr/>
          <p:nvPr/>
        </p:nvSpPr>
        <p:spPr>
          <a:xfrm>
            <a:off x="3886200" y="2688336"/>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65" name="txt-115"/>
          <p:cNvSpPr txBox="1"/>
          <p:nvPr/>
        </p:nvSpPr>
        <p:spPr>
          <a:xfrm>
            <a:off x="3886200" y="2688336"/>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d</a:t>
            </a:r>
            <a:endParaRPr lang="en-US" sz="1700" dirty="0"/>
          </a:p>
        </p:txBody>
      </p:sp>
      <p:sp>
        <p:nvSpPr>
          <p:cNvPr id="66" name="tile-116"/>
          <p:cNvSpPr/>
          <p:nvPr/>
        </p:nvSpPr>
        <p:spPr>
          <a:xfrm>
            <a:off x="4498848" y="2688336"/>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67" name="txt-117"/>
          <p:cNvSpPr txBox="1"/>
          <p:nvPr/>
        </p:nvSpPr>
        <p:spPr>
          <a:xfrm>
            <a:off x="4498848" y="2688336"/>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f</a:t>
            </a:r>
            <a:endParaRPr lang="en-US" sz="1700" dirty="0"/>
          </a:p>
        </p:txBody>
      </p:sp>
      <p:sp>
        <p:nvSpPr>
          <p:cNvPr id="68" name="tile-118"/>
          <p:cNvSpPr/>
          <p:nvPr/>
        </p:nvSpPr>
        <p:spPr>
          <a:xfrm>
            <a:off x="4910328" y="2688336"/>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69" name="txt-119"/>
          <p:cNvSpPr txBox="1"/>
          <p:nvPr/>
        </p:nvSpPr>
        <p:spPr>
          <a:xfrm>
            <a:off x="4910328" y="2688336"/>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g</a:t>
            </a:r>
            <a:endParaRPr lang="en-US" sz="1700" dirty="0"/>
          </a:p>
        </p:txBody>
      </p:sp>
      <p:sp>
        <p:nvSpPr>
          <p:cNvPr id="70" name="tile-120"/>
          <p:cNvSpPr/>
          <p:nvPr/>
        </p:nvSpPr>
        <p:spPr>
          <a:xfrm>
            <a:off x="5321808" y="2688336"/>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71" name="txt-121"/>
          <p:cNvSpPr txBox="1"/>
          <p:nvPr/>
        </p:nvSpPr>
        <p:spPr>
          <a:xfrm>
            <a:off x="5321808" y="2688336"/>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h</a:t>
            </a:r>
            <a:endParaRPr lang="en-US" sz="1700" dirty="0"/>
          </a:p>
        </p:txBody>
      </p:sp>
      <p:sp>
        <p:nvSpPr>
          <p:cNvPr id="72" name="tile-122"/>
          <p:cNvSpPr/>
          <p:nvPr/>
        </p:nvSpPr>
        <p:spPr>
          <a:xfrm>
            <a:off x="5733288" y="2688336"/>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73" name="txt-123"/>
          <p:cNvSpPr txBox="1"/>
          <p:nvPr/>
        </p:nvSpPr>
        <p:spPr>
          <a:xfrm>
            <a:off x="5733288" y="2688336"/>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i</a:t>
            </a:r>
            <a:endParaRPr lang="en-US" sz="1700" dirty="0"/>
          </a:p>
        </p:txBody>
      </p:sp>
      <p:sp>
        <p:nvSpPr>
          <p:cNvPr id="74" name="tile-124"/>
          <p:cNvSpPr/>
          <p:nvPr/>
        </p:nvSpPr>
        <p:spPr>
          <a:xfrm>
            <a:off x="6144768" y="2688336"/>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75" name="txt-125"/>
          <p:cNvSpPr txBox="1"/>
          <p:nvPr/>
        </p:nvSpPr>
        <p:spPr>
          <a:xfrm>
            <a:off x="6144768" y="2688336"/>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j</a:t>
            </a:r>
            <a:endParaRPr lang="en-US" sz="1700" dirty="0"/>
          </a:p>
        </p:txBody>
      </p:sp>
      <p:sp>
        <p:nvSpPr>
          <p:cNvPr id="76" name="txt-126"/>
          <p:cNvSpPr txBox="1"/>
          <p:nvPr/>
        </p:nvSpPr>
        <p:spPr>
          <a:xfrm>
            <a:off x="4283964" y="2688336"/>
            <a:ext cx="182880" cy="457200"/>
          </a:xfrm>
          <a:prstGeom prst="rect">
            <a:avLst/>
          </a:prstGeom>
          <a:noFill/>
          <a:ln/>
        </p:spPr>
        <p:txBody>
          <a:bodyPr wrap="square" lIns="0" tIns="0" rIns="0" bIns="0" rtlCol="0" anchor="ctr"/>
          <a:lstStyle/>
          <a:p>
            <a:pPr algn="ctr" indent="0" marL="0">
              <a:buNone/>
            </a:pPr>
            <a:r>
              <a:rPr lang="en-US" sz="1800" dirty="0">
                <a:solidFill>
                  <a:schemeClr val="tx2"/>
                </a:solidFill>
              </a:rPr>
              <a:t>/</a:t>
            </a:r>
            <a:endParaRPr lang="en-US" sz="1800" dirty="0"/>
          </a:p>
        </p:txBody>
      </p:sp>
      <p:sp>
        <p:nvSpPr>
          <p:cNvPr id="77" name="txt-127"/>
          <p:cNvSpPr txBox="1"/>
          <p:nvPr/>
        </p:nvSpPr>
        <p:spPr>
          <a:xfrm>
            <a:off x="6720840" y="2688336"/>
            <a:ext cx="2011680" cy="457200"/>
          </a:xfrm>
          <a:prstGeom prst="rect">
            <a:avLst/>
          </a:prstGeom>
          <a:noFill/>
          <a:ln/>
        </p:spPr>
        <p:txBody>
          <a:bodyPr wrap="square" lIns="0" tIns="0" rIns="0" bIns="0" rtlCol="0" anchor="ctr"/>
          <a:lstStyle/>
          <a:p>
            <a:pPr indent="0" marL="0">
              <a:buNone/>
            </a:pPr>
            <a:r>
              <a:rPr lang="en-US" sz="1400" dirty="0">
                <a:solidFill>
                  <a:schemeClr val="tx1"/>
                </a:solidFill>
              </a:rPr>
              <a:t>second half, in place</a:t>
            </a:r>
            <a:endParaRPr lang="en-US" sz="1400" dirty="0"/>
          </a:p>
        </p:txBody>
      </p:sp>
      <p:sp>
        <p:nvSpPr>
          <p:cNvPr id="78" name="txt-128"/>
          <p:cNvSpPr txBox="1"/>
          <p:nvPr/>
        </p:nvSpPr>
        <p:spPr>
          <a:xfrm>
            <a:off x="457200" y="3291840"/>
            <a:ext cx="1737360" cy="274320"/>
          </a:xfrm>
          <a:prstGeom prst="rect">
            <a:avLst/>
          </a:prstGeom>
          <a:noFill/>
          <a:ln/>
        </p:spPr>
        <p:txBody>
          <a:bodyPr wrap="square" lIns="0" tIns="0" rIns="0" bIns="0" rtlCol="0" anchor="ctr"/>
          <a:lstStyle/>
          <a:p>
            <a:pPr indent="0" marL="0">
              <a:buNone/>
            </a:pPr>
            <a:r>
              <a:rPr lang="en-US" sz="1500" b="1" dirty="0">
                <a:solidFill>
                  <a:schemeClr val="accent3"/>
                </a:solidFill>
              </a:rPr>
              <a:t>Half exchange</a:t>
            </a:r>
            <a:endParaRPr lang="en-US" sz="1500" dirty="0"/>
          </a:p>
        </p:txBody>
      </p:sp>
      <p:sp>
        <p:nvSpPr>
          <p:cNvPr id="79" name="txt-129"/>
          <p:cNvSpPr txBox="1"/>
          <p:nvPr/>
        </p:nvSpPr>
        <p:spPr>
          <a:xfrm>
            <a:off x="457200" y="3547872"/>
            <a:ext cx="1737360" cy="201168"/>
          </a:xfrm>
          <a:prstGeom prst="rect">
            <a:avLst/>
          </a:prstGeom>
          <a:noFill/>
          <a:ln/>
        </p:spPr>
        <p:txBody>
          <a:bodyPr wrap="square" lIns="0" tIns="0" rIns="0" bIns="0" rtlCol="0" anchor="ctr"/>
          <a:lstStyle/>
          <a:p>
            <a:pPr indent="0" marL="0">
              <a:buNone/>
            </a:pPr>
            <a:r>
              <a:rPr lang="en-US" sz="1100" dirty="0">
                <a:solidFill>
                  <a:schemeClr val="tx2"/>
                </a:solidFill>
              </a:rPr>
              <a:t>ex-half</a:t>
            </a:r>
            <a:endParaRPr lang="en-US" sz="1100" dirty="0"/>
          </a:p>
        </p:txBody>
      </p:sp>
      <p:sp>
        <p:nvSpPr>
          <p:cNvPr id="80" name="tile-130"/>
          <p:cNvSpPr/>
          <p:nvPr/>
        </p:nvSpPr>
        <p:spPr>
          <a:xfrm>
            <a:off x="2240280" y="3291840"/>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81" name="txt-131"/>
          <p:cNvSpPr txBox="1"/>
          <p:nvPr/>
        </p:nvSpPr>
        <p:spPr>
          <a:xfrm>
            <a:off x="2240280" y="3291840"/>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f</a:t>
            </a:r>
            <a:endParaRPr lang="en-US" sz="1700" dirty="0"/>
          </a:p>
        </p:txBody>
      </p:sp>
      <p:sp>
        <p:nvSpPr>
          <p:cNvPr id="82" name="tile-132"/>
          <p:cNvSpPr/>
          <p:nvPr/>
        </p:nvSpPr>
        <p:spPr>
          <a:xfrm>
            <a:off x="2651760" y="3291840"/>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83" name="txt-133"/>
          <p:cNvSpPr txBox="1"/>
          <p:nvPr/>
        </p:nvSpPr>
        <p:spPr>
          <a:xfrm>
            <a:off x="2651760" y="3291840"/>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g</a:t>
            </a:r>
            <a:endParaRPr lang="en-US" sz="1700" dirty="0"/>
          </a:p>
        </p:txBody>
      </p:sp>
      <p:sp>
        <p:nvSpPr>
          <p:cNvPr id="84" name="tile-134"/>
          <p:cNvSpPr/>
          <p:nvPr/>
        </p:nvSpPr>
        <p:spPr>
          <a:xfrm>
            <a:off x="3063240" y="3291840"/>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85" name="txt-135"/>
          <p:cNvSpPr txBox="1"/>
          <p:nvPr/>
        </p:nvSpPr>
        <p:spPr>
          <a:xfrm>
            <a:off x="3063240" y="3291840"/>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h</a:t>
            </a:r>
            <a:endParaRPr lang="en-US" sz="1700" dirty="0"/>
          </a:p>
        </p:txBody>
      </p:sp>
      <p:sp>
        <p:nvSpPr>
          <p:cNvPr id="86" name="tile-136"/>
          <p:cNvSpPr/>
          <p:nvPr/>
        </p:nvSpPr>
        <p:spPr>
          <a:xfrm>
            <a:off x="3474720" y="3291840"/>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87" name="txt-137"/>
          <p:cNvSpPr txBox="1"/>
          <p:nvPr/>
        </p:nvSpPr>
        <p:spPr>
          <a:xfrm>
            <a:off x="3474720" y="3291840"/>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i</a:t>
            </a:r>
            <a:endParaRPr lang="en-US" sz="1700" dirty="0"/>
          </a:p>
        </p:txBody>
      </p:sp>
      <p:sp>
        <p:nvSpPr>
          <p:cNvPr id="88" name="tile-138"/>
          <p:cNvSpPr/>
          <p:nvPr/>
        </p:nvSpPr>
        <p:spPr>
          <a:xfrm>
            <a:off x="3886200" y="3291840"/>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89" name="txt-139"/>
          <p:cNvSpPr txBox="1"/>
          <p:nvPr/>
        </p:nvSpPr>
        <p:spPr>
          <a:xfrm>
            <a:off x="3886200" y="3291840"/>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j</a:t>
            </a:r>
            <a:endParaRPr lang="en-US" sz="1700" dirty="0"/>
          </a:p>
        </p:txBody>
      </p:sp>
      <p:sp>
        <p:nvSpPr>
          <p:cNvPr id="90" name="tile-140"/>
          <p:cNvSpPr/>
          <p:nvPr/>
        </p:nvSpPr>
        <p:spPr>
          <a:xfrm>
            <a:off x="4498848" y="3291840"/>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91" name="txt-141"/>
          <p:cNvSpPr txBox="1"/>
          <p:nvPr/>
        </p:nvSpPr>
        <p:spPr>
          <a:xfrm>
            <a:off x="4498848" y="3291840"/>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a</a:t>
            </a:r>
            <a:endParaRPr lang="en-US" sz="1700" dirty="0"/>
          </a:p>
        </p:txBody>
      </p:sp>
      <p:sp>
        <p:nvSpPr>
          <p:cNvPr id="92" name="tile-142"/>
          <p:cNvSpPr/>
          <p:nvPr/>
        </p:nvSpPr>
        <p:spPr>
          <a:xfrm>
            <a:off x="4910328" y="3291840"/>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93" name="txt-143"/>
          <p:cNvSpPr txBox="1"/>
          <p:nvPr/>
        </p:nvSpPr>
        <p:spPr>
          <a:xfrm>
            <a:off x="4910328" y="3291840"/>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b</a:t>
            </a:r>
            <a:endParaRPr lang="en-US" sz="1700" dirty="0"/>
          </a:p>
        </p:txBody>
      </p:sp>
      <p:sp>
        <p:nvSpPr>
          <p:cNvPr id="94" name="tile-144"/>
          <p:cNvSpPr/>
          <p:nvPr/>
        </p:nvSpPr>
        <p:spPr>
          <a:xfrm>
            <a:off x="5321808" y="3291840"/>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95" name="txt-145"/>
          <p:cNvSpPr txBox="1"/>
          <p:nvPr/>
        </p:nvSpPr>
        <p:spPr>
          <a:xfrm>
            <a:off x="5321808" y="3291840"/>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c</a:t>
            </a:r>
            <a:endParaRPr lang="en-US" sz="1700" dirty="0"/>
          </a:p>
        </p:txBody>
      </p:sp>
      <p:sp>
        <p:nvSpPr>
          <p:cNvPr id="96" name="tile-146"/>
          <p:cNvSpPr/>
          <p:nvPr/>
        </p:nvSpPr>
        <p:spPr>
          <a:xfrm>
            <a:off x="5733288" y="3291840"/>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97" name="txt-147"/>
          <p:cNvSpPr txBox="1"/>
          <p:nvPr/>
        </p:nvSpPr>
        <p:spPr>
          <a:xfrm>
            <a:off x="5733288" y="3291840"/>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d</a:t>
            </a:r>
            <a:endParaRPr lang="en-US" sz="1700" dirty="0"/>
          </a:p>
        </p:txBody>
      </p:sp>
      <p:sp>
        <p:nvSpPr>
          <p:cNvPr id="98" name="tile-148"/>
          <p:cNvSpPr/>
          <p:nvPr/>
        </p:nvSpPr>
        <p:spPr>
          <a:xfrm>
            <a:off x="6144768" y="3291840"/>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99" name="txt-149"/>
          <p:cNvSpPr txBox="1"/>
          <p:nvPr/>
        </p:nvSpPr>
        <p:spPr>
          <a:xfrm>
            <a:off x="6144768" y="3291840"/>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e</a:t>
            </a:r>
            <a:endParaRPr lang="en-US" sz="1700" dirty="0"/>
          </a:p>
        </p:txBody>
      </p:sp>
      <p:sp>
        <p:nvSpPr>
          <p:cNvPr id="100" name="txt-150"/>
          <p:cNvSpPr txBox="1"/>
          <p:nvPr/>
        </p:nvSpPr>
        <p:spPr>
          <a:xfrm>
            <a:off x="4283964" y="3291840"/>
            <a:ext cx="182880" cy="457200"/>
          </a:xfrm>
          <a:prstGeom prst="rect">
            <a:avLst/>
          </a:prstGeom>
          <a:noFill/>
          <a:ln/>
        </p:spPr>
        <p:txBody>
          <a:bodyPr wrap="square" lIns="0" tIns="0" rIns="0" bIns="0" rtlCol="0" anchor="ctr"/>
          <a:lstStyle/>
          <a:p>
            <a:pPr algn="ctr" indent="0" marL="0">
              <a:buNone/>
            </a:pPr>
            <a:r>
              <a:rPr lang="en-US" sz="1800" dirty="0">
                <a:solidFill>
                  <a:schemeClr val="tx2"/>
                </a:solidFill>
              </a:rPr>
              <a:t>/</a:t>
            </a:r>
            <a:endParaRPr lang="en-US" sz="1800" dirty="0"/>
          </a:p>
        </p:txBody>
      </p:sp>
      <p:sp>
        <p:nvSpPr>
          <p:cNvPr id="101" name="txt-151"/>
          <p:cNvSpPr txBox="1"/>
          <p:nvPr/>
        </p:nvSpPr>
        <p:spPr>
          <a:xfrm>
            <a:off x="6720840" y="3291840"/>
            <a:ext cx="2011680" cy="457200"/>
          </a:xfrm>
          <a:prstGeom prst="rect">
            <a:avLst/>
          </a:prstGeom>
          <a:noFill/>
          <a:ln/>
        </p:spPr>
        <p:txBody>
          <a:bodyPr wrap="square" lIns="0" tIns="0" rIns="0" bIns="0" rtlCol="0" anchor="ctr"/>
          <a:lstStyle/>
          <a:p>
            <a:pPr indent="0" marL="0">
              <a:buNone/>
            </a:pPr>
            <a:r>
              <a:rPr lang="en-US" sz="1400" dirty="0">
                <a:solidFill>
                  <a:schemeClr val="tx1"/>
                </a:solidFill>
              </a:rPr>
              <a:t>order inside each half</a:t>
            </a:r>
            <a:endParaRPr lang="en-US" sz="1400" dirty="0"/>
          </a:p>
        </p:txBody>
      </p:sp>
      <p:sp>
        <p:nvSpPr>
          <p:cNvPr id="102" name="txt-152"/>
          <p:cNvSpPr txBox="1"/>
          <p:nvPr/>
        </p:nvSpPr>
        <p:spPr>
          <a:xfrm>
            <a:off x="457200" y="3895344"/>
            <a:ext cx="1737360" cy="274320"/>
          </a:xfrm>
          <a:prstGeom prst="rect">
            <a:avLst/>
          </a:prstGeom>
          <a:noFill/>
          <a:ln/>
        </p:spPr>
        <p:txBody>
          <a:bodyPr wrap="square" lIns="0" tIns="0" rIns="0" bIns="0" rtlCol="0" anchor="ctr"/>
          <a:lstStyle/>
          <a:p>
            <a:pPr indent="0" marL="0">
              <a:buNone/>
            </a:pPr>
            <a:r>
              <a:rPr lang="en-US" sz="1500" b="1" dirty="0">
                <a:solidFill>
                  <a:schemeClr val="accent4"/>
                </a:solidFill>
              </a:rPr>
              <a:t>Masking</a:t>
            </a:r>
            <a:endParaRPr lang="en-US" sz="1500" dirty="0"/>
          </a:p>
        </p:txBody>
      </p:sp>
      <p:sp>
        <p:nvSpPr>
          <p:cNvPr id="103" name="txt-153"/>
          <p:cNvSpPr txBox="1"/>
          <p:nvPr/>
        </p:nvSpPr>
        <p:spPr>
          <a:xfrm>
            <a:off x="457200" y="4151376"/>
            <a:ext cx="1737360" cy="201168"/>
          </a:xfrm>
          <a:prstGeom prst="rect">
            <a:avLst/>
          </a:prstGeom>
          <a:noFill/>
          <a:ln/>
        </p:spPr>
        <p:txBody>
          <a:bodyPr wrap="square" lIns="0" tIns="0" rIns="0" bIns="0" rtlCol="0" anchor="ctr"/>
          <a:lstStyle/>
          <a:p>
            <a:pPr indent="0" marL="0">
              <a:buNone/>
            </a:pPr>
            <a:r>
              <a:rPr lang="en-US" sz="1100" dirty="0">
                <a:solidFill>
                  <a:schemeClr val="tx2"/>
                </a:solidFill>
              </a:rPr>
              <a:t>mask</a:t>
            </a:r>
            <a:endParaRPr lang="en-US" sz="1100" dirty="0"/>
          </a:p>
        </p:txBody>
      </p:sp>
      <p:sp>
        <p:nvSpPr>
          <p:cNvPr id="104" name="tile-154"/>
          <p:cNvSpPr/>
          <p:nvPr/>
        </p:nvSpPr>
        <p:spPr>
          <a:xfrm>
            <a:off x="2240280" y="3895344"/>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105" name="txt-155"/>
          <p:cNvSpPr txBox="1"/>
          <p:nvPr/>
        </p:nvSpPr>
        <p:spPr>
          <a:xfrm>
            <a:off x="2240280" y="3895344"/>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a</a:t>
            </a:r>
            <a:endParaRPr lang="en-US" sz="1700" dirty="0"/>
          </a:p>
        </p:txBody>
      </p:sp>
      <p:sp>
        <p:nvSpPr>
          <p:cNvPr id="106" name="tile-156"/>
          <p:cNvSpPr/>
          <p:nvPr/>
        </p:nvSpPr>
        <p:spPr>
          <a:xfrm>
            <a:off x="2651760" y="3895344"/>
            <a:ext cx="365760" cy="457200"/>
          </a:xfrm>
          <a:prstGeom prst="roundRect">
            <a:avLst>
              <a:gd name="adj" fmla="val 15000"/>
            </a:avLst>
          </a:prstGeom>
          <a:solidFill>
            <a:schemeClr val="accent4">
              <a:alpha val="22000"/>
            </a:schemeClr>
          </a:solidFill>
          <a:ln w="12700">
            <a:solidFill>
              <a:schemeClr val="accent4"/>
            </a:solidFill>
            <a:prstDash val="dash"/>
          </a:ln>
        </p:spPr>
      </p:sp>
      <p:sp>
        <p:nvSpPr>
          <p:cNvPr id="107" name="txt-157"/>
          <p:cNvSpPr txBox="1"/>
          <p:nvPr/>
        </p:nvSpPr>
        <p:spPr>
          <a:xfrm>
            <a:off x="2651760" y="3895344"/>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m</a:t>
            </a:r>
            <a:endParaRPr lang="en-US" sz="1700" dirty="0"/>
          </a:p>
        </p:txBody>
      </p:sp>
      <p:sp>
        <p:nvSpPr>
          <p:cNvPr id="108" name="tile-158"/>
          <p:cNvSpPr/>
          <p:nvPr/>
        </p:nvSpPr>
        <p:spPr>
          <a:xfrm>
            <a:off x="3063240" y="3895344"/>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109" name="txt-159"/>
          <p:cNvSpPr txBox="1"/>
          <p:nvPr/>
        </p:nvSpPr>
        <p:spPr>
          <a:xfrm>
            <a:off x="3063240" y="3895344"/>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c</a:t>
            </a:r>
            <a:endParaRPr lang="en-US" sz="1700" dirty="0"/>
          </a:p>
        </p:txBody>
      </p:sp>
      <p:sp>
        <p:nvSpPr>
          <p:cNvPr id="110" name="tile-160"/>
          <p:cNvSpPr/>
          <p:nvPr/>
        </p:nvSpPr>
        <p:spPr>
          <a:xfrm>
            <a:off x="3474720" y="3895344"/>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111" name="txt-161"/>
          <p:cNvSpPr txBox="1"/>
          <p:nvPr/>
        </p:nvSpPr>
        <p:spPr>
          <a:xfrm>
            <a:off x="3474720" y="3895344"/>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d</a:t>
            </a:r>
            <a:endParaRPr lang="en-US" sz="1700" dirty="0"/>
          </a:p>
        </p:txBody>
      </p:sp>
      <p:sp>
        <p:nvSpPr>
          <p:cNvPr id="112" name="tile-162"/>
          <p:cNvSpPr/>
          <p:nvPr/>
        </p:nvSpPr>
        <p:spPr>
          <a:xfrm>
            <a:off x="3886200" y="3895344"/>
            <a:ext cx="365760" cy="457200"/>
          </a:xfrm>
          <a:prstGeom prst="roundRect">
            <a:avLst>
              <a:gd name="adj" fmla="val 15000"/>
            </a:avLst>
          </a:prstGeom>
          <a:solidFill>
            <a:schemeClr val="accent2">
              <a:alpha val="24000"/>
            </a:schemeClr>
          </a:solidFill>
          <a:ln w="9525">
            <a:solidFill>
              <a:schemeClr val="accent2"/>
            </a:solidFill>
            <a:prstDash val="solid"/>
          </a:ln>
        </p:spPr>
      </p:sp>
      <p:sp>
        <p:nvSpPr>
          <p:cNvPr id="113" name="txt-163"/>
          <p:cNvSpPr txBox="1"/>
          <p:nvPr/>
        </p:nvSpPr>
        <p:spPr>
          <a:xfrm>
            <a:off x="3886200" y="3895344"/>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e</a:t>
            </a:r>
            <a:endParaRPr lang="en-US" sz="1700" dirty="0"/>
          </a:p>
        </p:txBody>
      </p:sp>
      <p:sp>
        <p:nvSpPr>
          <p:cNvPr id="114" name="tile-164"/>
          <p:cNvSpPr/>
          <p:nvPr/>
        </p:nvSpPr>
        <p:spPr>
          <a:xfrm>
            <a:off x="4498848" y="3895344"/>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115" name="txt-165"/>
          <p:cNvSpPr txBox="1"/>
          <p:nvPr/>
        </p:nvSpPr>
        <p:spPr>
          <a:xfrm>
            <a:off x="4498848" y="3895344"/>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f</a:t>
            </a:r>
            <a:endParaRPr lang="en-US" sz="1700" dirty="0"/>
          </a:p>
        </p:txBody>
      </p:sp>
      <p:sp>
        <p:nvSpPr>
          <p:cNvPr id="116" name="tile-166"/>
          <p:cNvSpPr/>
          <p:nvPr/>
        </p:nvSpPr>
        <p:spPr>
          <a:xfrm>
            <a:off x="4910328" y="3895344"/>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117" name="txt-167"/>
          <p:cNvSpPr txBox="1"/>
          <p:nvPr/>
        </p:nvSpPr>
        <p:spPr>
          <a:xfrm>
            <a:off x="4910328" y="3895344"/>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g</a:t>
            </a:r>
            <a:endParaRPr lang="en-US" sz="1700" dirty="0"/>
          </a:p>
        </p:txBody>
      </p:sp>
      <p:sp>
        <p:nvSpPr>
          <p:cNvPr id="118" name="tile-168"/>
          <p:cNvSpPr/>
          <p:nvPr/>
        </p:nvSpPr>
        <p:spPr>
          <a:xfrm>
            <a:off x="5321808" y="3895344"/>
            <a:ext cx="365760" cy="457200"/>
          </a:xfrm>
          <a:prstGeom prst="roundRect">
            <a:avLst>
              <a:gd name="adj" fmla="val 15000"/>
            </a:avLst>
          </a:prstGeom>
          <a:solidFill>
            <a:schemeClr val="accent4">
              <a:alpha val="22000"/>
            </a:schemeClr>
          </a:solidFill>
          <a:ln w="12700">
            <a:solidFill>
              <a:schemeClr val="accent4"/>
            </a:solidFill>
            <a:prstDash val="dash"/>
          </a:ln>
        </p:spPr>
      </p:sp>
      <p:sp>
        <p:nvSpPr>
          <p:cNvPr id="119" name="txt-169"/>
          <p:cNvSpPr txBox="1"/>
          <p:nvPr/>
        </p:nvSpPr>
        <p:spPr>
          <a:xfrm>
            <a:off x="5321808" y="3895344"/>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m</a:t>
            </a:r>
            <a:endParaRPr lang="en-US" sz="1700" dirty="0"/>
          </a:p>
        </p:txBody>
      </p:sp>
      <p:sp>
        <p:nvSpPr>
          <p:cNvPr id="120" name="tile-170"/>
          <p:cNvSpPr/>
          <p:nvPr/>
        </p:nvSpPr>
        <p:spPr>
          <a:xfrm>
            <a:off x="5733288" y="3895344"/>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121" name="txt-171"/>
          <p:cNvSpPr txBox="1"/>
          <p:nvPr/>
        </p:nvSpPr>
        <p:spPr>
          <a:xfrm>
            <a:off x="5733288" y="3895344"/>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i</a:t>
            </a:r>
            <a:endParaRPr lang="en-US" sz="1700" dirty="0"/>
          </a:p>
        </p:txBody>
      </p:sp>
      <p:sp>
        <p:nvSpPr>
          <p:cNvPr id="122" name="tile-172"/>
          <p:cNvSpPr/>
          <p:nvPr/>
        </p:nvSpPr>
        <p:spPr>
          <a:xfrm>
            <a:off x="6144768" y="3895344"/>
            <a:ext cx="365760" cy="457200"/>
          </a:xfrm>
          <a:prstGeom prst="roundRect">
            <a:avLst>
              <a:gd name="adj" fmla="val 15000"/>
            </a:avLst>
          </a:prstGeom>
          <a:solidFill>
            <a:schemeClr val="accent3">
              <a:alpha val="24000"/>
            </a:schemeClr>
          </a:solidFill>
          <a:ln w="9525">
            <a:solidFill>
              <a:schemeClr val="accent3"/>
            </a:solidFill>
            <a:prstDash val="solid"/>
          </a:ln>
        </p:spPr>
      </p:sp>
      <p:sp>
        <p:nvSpPr>
          <p:cNvPr id="123" name="txt-173"/>
          <p:cNvSpPr txBox="1"/>
          <p:nvPr/>
        </p:nvSpPr>
        <p:spPr>
          <a:xfrm>
            <a:off x="6144768" y="3895344"/>
            <a:ext cx="365760" cy="457200"/>
          </a:xfrm>
          <a:prstGeom prst="rect">
            <a:avLst/>
          </a:prstGeom>
          <a:noFill/>
          <a:ln/>
        </p:spPr>
        <p:txBody>
          <a:bodyPr wrap="square" lIns="0" tIns="0" rIns="0" bIns="0" rtlCol="0" anchor="ctr"/>
          <a:lstStyle/>
          <a:p>
            <a:pPr algn="ctr" indent="0" marL="0">
              <a:buNone/>
            </a:pPr>
            <a:r>
              <a:rPr lang="en-US" sz="1700" b="1" dirty="0">
                <a:solidFill>
                  <a:schemeClr val="tx1"/>
                </a:solidFill>
              </a:rPr>
              <a:t>j</a:t>
            </a:r>
            <a:endParaRPr lang="en-US" sz="1700" dirty="0"/>
          </a:p>
        </p:txBody>
      </p:sp>
      <p:sp>
        <p:nvSpPr>
          <p:cNvPr id="124" name="txt-174"/>
          <p:cNvSpPr txBox="1"/>
          <p:nvPr/>
        </p:nvSpPr>
        <p:spPr>
          <a:xfrm>
            <a:off x="4283964" y="3895344"/>
            <a:ext cx="182880" cy="457200"/>
          </a:xfrm>
          <a:prstGeom prst="rect">
            <a:avLst/>
          </a:prstGeom>
          <a:noFill/>
          <a:ln/>
        </p:spPr>
        <p:txBody>
          <a:bodyPr wrap="square" lIns="0" tIns="0" rIns="0" bIns="0" rtlCol="0" anchor="ctr"/>
          <a:lstStyle/>
          <a:p>
            <a:pPr algn="ctr" indent="0" marL="0">
              <a:buNone/>
            </a:pPr>
            <a:r>
              <a:rPr lang="en-US" sz="1800" dirty="0">
                <a:solidFill>
                  <a:schemeClr val="tx2"/>
                </a:solidFill>
              </a:rPr>
              <a:t>/</a:t>
            </a:r>
            <a:endParaRPr lang="en-US" sz="1800" dirty="0"/>
          </a:p>
        </p:txBody>
      </p:sp>
      <p:sp>
        <p:nvSpPr>
          <p:cNvPr id="125" name="txt-175"/>
          <p:cNvSpPr txBox="1"/>
          <p:nvPr/>
        </p:nvSpPr>
        <p:spPr>
          <a:xfrm>
            <a:off x="6720840" y="3895344"/>
            <a:ext cx="2011680" cy="457200"/>
          </a:xfrm>
          <a:prstGeom prst="rect">
            <a:avLst/>
          </a:prstGeom>
          <a:noFill/>
          <a:ln/>
        </p:spPr>
        <p:txBody>
          <a:bodyPr wrap="square" lIns="0" tIns="0" rIns="0" bIns="0" rtlCol="0" anchor="ctr"/>
          <a:lstStyle/>
          <a:p>
            <a:pPr indent="0" marL="0">
              <a:buNone/>
            </a:pPr>
            <a:r>
              <a:rPr lang="en-US" sz="1400" dirty="0">
                <a:solidFill>
                  <a:schemeClr val="tx1"/>
                </a:solidFill>
              </a:rPr>
              <a:t>order; 80% of values</a:t>
            </a:r>
            <a:endParaRPr lang="en-US" sz="1400" dirty="0"/>
          </a:p>
        </p:txBody>
      </p:sp>
      <p:sp>
        <p:nvSpPr>
          <p:cNvPr id="126" name="txt-176"/>
          <p:cNvSpPr txBox="1"/>
          <p:nvPr/>
        </p:nvSpPr>
        <p:spPr>
          <a:xfrm>
            <a:off x="457200" y="4498848"/>
            <a:ext cx="8229600" cy="228600"/>
          </a:xfrm>
          <a:prstGeom prst="rect">
            <a:avLst/>
          </a:prstGeom>
          <a:noFill/>
          <a:ln/>
        </p:spPr>
        <p:txBody>
          <a:bodyPr wrap="square" lIns="0" tIns="0" rIns="0" bIns="0" rtlCol="0" anchor="ctr"/>
          <a:lstStyle/>
          <a:p>
            <a:pPr indent="0" marL="0">
              <a:buNone/>
            </a:pPr>
            <a:r>
              <a:rPr lang="en-US" sz="1100" dirty="0">
                <a:solidFill>
                  <a:schemeClr val="tx2"/>
                </a:solidFill>
              </a:rPr>
              <a:t>“/” marks the middle; m = masked point, fed to the model as 0 (the series mean after normalisation); runs mask ⌊L/5⌋ points.</a:t>
            </a:r>
            <a:endParaRPr lang="en-US" sz="1100" dirty="0"/>
          </a:p>
        </p:txBody>
      </p:sp>
      <p:sp>
        <p:nvSpPr>
          <p:cNvPr id="25" name="Slide Number Placeholder 0"/>
          <p:cNvSpPr>
            <a:spLocks noGrp="1"/>
          </p:cNvSpPr>
          <p:nvPr>
            <p:ph type="sldNum" sz="quarter" idx="4294967295"/>
          </p:nvPr>
        </p:nvSpPr>
        <p:spPr>
          <a:xfrm>
            <a:off x="832104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566928"/>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The real series we perturb</a:t>
            </a:r>
            <a:endParaRPr lang="en-US" sz="3400" dirty="0"/>
          </a:p>
        </p:txBody>
      </p:sp>
      <p:sp>
        <p:nvSpPr>
          <p:cNvPr id="3" name="Text 0"/>
          <p:cNvSpPr/>
          <p:nvPr>
            <p:ph idx="101" type="body" hasCustomPrompt="1"/>
          </p:nvPr>
        </p:nvSpPr>
        <p:spPr>
          <a:xfrm>
            <a:off x="457200" y="822960"/>
            <a:ext cx="8229600" cy="365760"/>
          </a:xfrm>
          <a:prstGeom prst="rect">
            <a:avLst/>
          </a:prstGeom>
          <a:noFill/>
          <a:ln/>
        </p:spPr>
        <p:txBody>
          <a:bodyPr wrap="square" lIns="0" tIns="0" rIns="0" bIns="0" rtlCol="0" anchor="t"/>
          <a:lstStyle/>
          <a:p>
            <a:pPr algn="l" indent="0" marL="0">
              <a:buNone/>
            </a:pPr>
            <a:r>
              <a:rPr lang="en-US" sz="1500" dirty="0">
                <a:solidFill>
                  <a:schemeClr val="tx2"/>
                </a:solidFill>
              </a:rPr>
              <a:t>TRUCE test series pilot13/434: 12 points, one of the 386 series in CLaSP’s candidate pool</a:t>
            </a:r>
            <a:endParaRPr lang="en-US" sz="1500" dirty="0"/>
          </a:p>
        </p:txBody>
      </p:sp>
      <p:graphicFrame>
        <p:nvGraphicFramePr>
          <p:cNvPr id="4" name="chart-truce-original" descr=""/>
          <p:cNvGraphicFramePr/>
          <p:nvPr/>
        </p:nvGraphicFramePr>
        <p:xfrm>
          <a:off x="457200" y="1280160"/>
          <a:ext cx="4846320" cy="2514600"/>
        </p:xfrm>
        <a:graphic xmlns:a="http://schemas.openxmlformats.org/drawingml/2006/main">
          <a:graphicData uri="http://schemas.openxmlformats.org/drawingml/2006/chart">
            <c:chart xmlns:c="http://schemas.openxmlformats.org/drawingml/2006/chart" r:id="rId1"/>
          </a:graphicData>
        </a:graphic>
      </p:graphicFrame>
      <p:sp>
        <p:nvSpPr>
          <p:cNvPr id="5" name="tile-177"/>
          <p:cNvSpPr/>
          <p:nvPr/>
        </p:nvSpPr>
        <p:spPr>
          <a:xfrm>
            <a:off x="566928" y="3977640"/>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6" name="txt-178"/>
          <p:cNvSpPr txBox="1"/>
          <p:nvPr/>
        </p:nvSpPr>
        <p:spPr>
          <a:xfrm>
            <a:off x="566928" y="4014216"/>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a</a:t>
            </a:r>
            <a:endParaRPr lang="en-US" sz="1100" dirty="0"/>
          </a:p>
        </p:txBody>
      </p:sp>
      <p:sp>
        <p:nvSpPr>
          <p:cNvPr id="7" name="txt-179"/>
          <p:cNvSpPr txBox="1"/>
          <p:nvPr/>
        </p:nvSpPr>
        <p:spPr>
          <a:xfrm>
            <a:off x="566928" y="4215750"/>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8" name="tile-180"/>
          <p:cNvSpPr/>
          <p:nvPr/>
        </p:nvSpPr>
        <p:spPr>
          <a:xfrm>
            <a:off x="950976" y="3977640"/>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9" name="txt-181"/>
          <p:cNvSpPr txBox="1"/>
          <p:nvPr/>
        </p:nvSpPr>
        <p:spPr>
          <a:xfrm>
            <a:off x="950976" y="4014216"/>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b</a:t>
            </a:r>
            <a:endParaRPr lang="en-US" sz="1100" dirty="0"/>
          </a:p>
        </p:txBody>
      </p:sp>
      <p:sp>
        <p:nvSpPr>
          <p:cNvPr id="10" name="txt-182"/>
          <p:cNvSpPr txBox="1"/>
          <p:nvPr/>
        </p:nvSpPr>
        <p:spPr>
          <a:xfrm>
            <a:off x="950976" y="4215750"/>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11" name="tile-183"/>
          <p:cNvSpPr/>
          <p:nvPr/>
        </p:nvSpPr>
        <p:spPr>
          <a:xfrm>
            <a:off x="1335024" y="3977640"/>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12" name="txt-184"/>
          <p:cNvSpPr txBox="1"/>
          <p:nvPr/>
        </p:nvSpPr>
        <p:spPr>
          <a:xfrm>
            <a:off x="1335024" y="4014216"/>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c</a:t>
            </a:r>
            <a:endParaRPr lang="en-US" sz="1100" dirty="0"/>
          </a:p>
        </p:txBody>
      </p:sp>
      <p:sp>
        <p:nvSpPr>
          <p:cNvPr id="13" name="txt-185"/>
          <p:cNvSpPr txBox="1"/>
          <p:nvPr/>
        </p:nvSpPr>
        <p:spPr>
          <a:xfrm>
            <a:off x="1335024" y="4215750"/>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14" name="tile-186"/>
          <p:cNvSpPr/>
          <p:nvPr/>
        </p:nvSpPr>
        <p:spPr>
          <a:xfrm>
            <a:off x="1719072" y="3977640"/>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15" name="txt-187"/>
          <p:cNvSpPr txBox="1"/>
          <p:nvPr/>
        </p:nvSpPr>
        <p:spPr>
          <a:xfrm>
            <a:off x="1719072" y="4014216"/>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d</a:t>
            </a:r>
            <a:endParaRPr lang="en-US" sz="1100" dirty="0"/>
          </a:p>
        </p:txBody>
      </p:sp>
      <p:sp>
        <p:nvSpPr>
          <p:cNvPr id="16" name="txt-188"/>
          <p:cNvSpPr txBox="1"/>
          <p:nvPr/>
        </p:nvSpPr>
        <p:spPr>
          <a:xfrm>
            <a:off x="1719072" y="4215750"/>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17" name="tile-189"/>
          <p:cNvSpPr/>
          <p:nvPr/>
        </p:nvSpPr>
        <p:spPr>
          <a:xfrm>
            <a:off x="2103120" y="3977640"/>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18" name="txt-190"/>
          <p:cNvSpPr txBox="1"/>
          <p:nvPr/>
        </p:nvSpPr>
        <p:spPr>
          <a:xfrm>
            <a:off x="2103120" y="4014216"/>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e</a:t>
            </a:r>
            <a:endParaRPr lang="en-US" sz="1100" dirty="0"/>
          </a:p>
        </p:txBody>
      </p:sp>
      <p:sp>
        <p:nvSpPr>
          <p:cNvPr id="19" name="txt-191"/>
          <p:cNvSpPr txBox="1"/>
          <p:nvPr/>
        </p:nvSpPr>
        <p:spPr>
          <a:xfrm>
            <a:off x="2103120" y="4215750"/>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20" name="tile-192"/>
          <p:cNvSpPr/>
          <p:nvPr/>
        </p:nvSpPr>
        <p:spPr>
          <a:xfrm>
            <a:off x="2487168" y="3977640"/>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21" name="txt-193"/>
          <p:cNvSpPr txBox="1"/>
          <p:nvPr/>
        </p:nvSpPr>
        <p:spPr>
          <a:xfrm>
            <a:off x="2487168" y="4014216"/>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f</a:t>
            </a:r>
            <a:endParaRPr lang="en-US" sz="1100" dirty="0"/>
          </a:p>
        </p:txBody>
      </p:sp>
      <p:sp>
        <p:nvSpPr>
          <p:cNvPr id="22" name="txt-194"/>
          <p:cNvSpPr txBox="1"/>
          <p:nvPr/>
        </p:nvSpPr>
        <p:spPr>
          <a:xfrm>
            <a:off x="2487168" y="4215750"/>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23" name="tile-195"/>
          <p:cNvSpPr/>
          <p:nvPr/>
        </p:nvSpPr>
        <p:spPr>
          <a:xfrm>
            <a:off x="3017520" y="3977640"/>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24" name="txt-196"/>
          <p:cNvSpPr txBox="1"/>
          <p:nvPr/>
        </p:nvSpPr>
        <p:spPr>
          <a:xfrm>
            <a:off x="3017520" y="4014216"/>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g</a:t>
            </a:r>
            <a:endParaRPr lang="en-US" sz="1100" dirty="0"/>
          </a:p>
        </p:txBody>
      </p:sp>
      <p:sp>
        <p:nvSpPr>
          <p:cNvPr id="25" name="txt-197"/>
          <p:cNvSpPr txBox="1"/>
          <p:nvPr/>
        </p:nvSpPr>
        <p:spPr>
          <a:xfrm>
            <a:off x="3017520" y="4215750"/>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20</a:t>
            </a:r>
            <a:endParaRPr lang="en-US" sz="1400" dirty="0"/>
          </a:p>
        </p:txBody>
      </p:sp>
      <p:sp>
        <p:nvSpPr>
          <p:cNvPr id="26" name="tile-198"/>
          <p:cNvSpPr/>
          <p:nvPr/>
        </p:nvSpPr>
        <p:spPr>
          <a:xfrm>
            <a:off x="3401568" y="3977640"/>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27" name="txt-199"/>
          <p:cNvSpPr txBox="1"/>
          <p:nvPr/>
        </p:nvSpPr>
        <p:spPr>
          <a:xfrm>
            <a:off x="3401568" y="4014216"/>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h</a:t>
            </a:r>
            <a:endParaRPr lang="en-US" sz="1100" dirty="0"/>
          </a:p>
        </p:txBody>
      </p:sp>
      <p:sp>
        <p:nvSpPr>
          <p:cNvPr id="28" name="txt-200"/>
          <p:cNvSpPr txBox="1"/>
          <p:nvPr/>
        </p:nvSpPr>
        <p:spPr>
          <a:xfrm>
            <a:off x="3401568" y="4215750"/>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34</a:t>
            </a:r>
            <a:endParaRPr lang="en-US" sz="1400" dirty="0"/>
          </a:p>
        </p:txBody>
      </p:sp>
      <p:sp>
        <p:nvSpPr>
          <p:cNvPr id="29" name="tile-201"/>
          <p:cNvSpPr/>
          <p:nvPr/>
        </p:nvSpPr>
        <p:spPr>
          <a:xfrm>
            <a:off x="3785616" y="3977640"/>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30" name="txt-202"/>
          <p:cNvSpPr txBox="1"/>
          <p:nvPr/>
        </p:nvSpPr>
        <p:spPr>
          <a:xfrm>
            <a:off x="3785616" y="4014216"/>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i</a:t>
            </a:r>
            <a:endParaRPr lang="en-US" sz="1100" dirty="0"/>
          </a:p>
        </p:txBody>
      </p:sp>
      <p:sp>
        <p:nvSpPr>
          <p:cNvPr id="31" name="txt-203"/>
          <p:cNvSpPr txBox="1"/>
          <p:nvPr/>
        </p:nvSpPr>
        <p:spPr>
          <a:xfrm>
            <a:off x="3785616" y="4215750"/>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35</a:t>
            </a:r>
            <a:endParaRPr lang="en-US" sz="1400" dirty="0"/>
          </a:p>
        </p:txBody>
      </p:sp>
      <p:sp>
        <p:nvSpPr>
          <p:cNvPr id="32" name="tile-204"/>
          <p:cNvSpPr/>
          <p:nvPr/>
        </p:nvSpPr>
        <p:spPr>
          <a:xfrm>
            <a:off x="4169664" y="3977640"/>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33" name="txt-205"/>
          <p:cNvSpPr txBox="1"/>
          <p:nvPr/>
        </p:nvSpPr>
        <p:spPr>
          <a:xfrm>
            <a:off x="4169664" y="4014216"/>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j</a:t>
            </a:r>
            <a:endParaRPr lang="en-US" sz="1100" dirty="0"/>
          </a:p>
        </p:txBody>
      </p:sp>
      <p:sp>
        <p:nvSpPr>
          <p:cNvPr id="34" name="txt-206"/>
          <p:cNvSpPr txBox="1"/>
          <p:nvPr/>
        </p:nvSpPr>
        <p:spPr>
          <a:xfrm>
            <a:off x="4169664" y="4215750"/>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33</a:t>
            </a:r>
            <a:endParaRPr lang="en-US" sz="1400" dirty="0"/>
          </a:p>
        </p:txBody>
      </p:sp>
      <p:sp>
        <p:nvSpPr>
          <p:cNvPr id="35" name="tile-207"/>
          <p:cNvSpPr/>
          <p:nvPr/>
        </p:nvSpPr>
        <p:spPr>
          <a:xfrm>
            <a:off x="4553712" y="3977640"/>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36" name="txt-208"/>
          <p:cNvSpPr txBox="1"/>
          <p:nvPr/>
        </p:nvSpPr>
        <p:spPr>
          <a:xfrm>
            <a:off x="4553712" y="4014216"/>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k</a:t>
            </a:r>
            <a:endParaRPr lang="en-US" sz="1100" dirty="0"/>
          </a:p>
        </p:txBody>
      </p:sp>
      <p:sp>
        <p:nvSpPr>
          <p:cNvPr id="37" name="txt-209"/>
          <p:cNvSpPr txBox="1"/>
          <p:nvPr/>
        </p:nvSpPr>
        <p:spPr>
          <a:xfrm>
            <a:off x="4553712" y="4215750"/>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35</a:t>
            </a:r>
            <a:endParaRPr lang="en-US" sz="1400" dirty="0"/>
          </a:p>
        </p:txBody>
      </p:sp>
      <p:sp>
        <p:nvSpPr>
          <p:cNvPr id="38" name="tile-210"/>
          <p:cNvSpPr/>
          <p:nvPr/>
        </p:nvSpPr>
        <p:spPr>
          <a:xfrm>
            <a:off x="4937760" y="3977640"/>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39" name="txt-211"/>
          <p:cNvSpPr txBox="1"/>
          <p:nvPr/>
        </p:nvSpPr>
        <p:spPr>
          <a:xfrm>
            <a:off x="4937760" y="4014216"/>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l</a:t>
            </a:r>
            <a:endParaRPr lang="en-US" sz="1100" dirty="0"/>
          </a:p>
        </p:txBody>
      </p:sp>
      <p:sp>
        <p:nvSpPr>
          <p:cNvPr id="40" name="txt-212"/>
          <p:cNvSpPr txBox="1"/>
          <p:nvPr/>
        </p:nvSpPr>
        <p:spPr>
          <a:xfrm>
            <a:off x="4937760" y="4215750"/>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32</a:t>
            </a:r>
            <a:endParaRPr lang="en-US" sz="1400" dirty="0"/>
          </a:p>
        </p:txBody>
      </p:sp>
      <p:sp>
        <p:nvSpPr>
          <p:cNvPr id="41" name="txt-213"/>
          <p:cNvSpPr txBox="1"/>
          <p:nvPr/>
        </p:nvSpPr>
        <p:spPr>
          <a:xfrm>
            <a:off x="2834640" y="3977640"/>
            <a:ext cx="182880" cy="566928"/>
          </a:xfrm>
          <a:prstGeom prst="rect">
            <a:avLst/>
          </a:prstGeom>
          <a:noFill/>
          <a:ln/>
        </p:spPr>
        <p:txBody>
          <a:bodyPr wrap="square" lIns="0" tIns="0" rIns="0" bIns="0" rtlCol="0" anchor="ctr"/>
          <a:lstStyle/>
          <a:p>
            <a:pPr algn="ctr" indent="0" marL="0">
              <a:buNone/>
            </a:pPr>
            <a:r>
              <a:rPr lang="en-US" sz="1800" dirty="0">
                <a:solidFill>
                  <a:schemeClr val="tx2"/>
                </a:solidFill>
              </a:rPr>
              <a:t>/</a:t>
            </a:r>
            <a:endParaRPr lang="en-US" sz="1800" dirty="0"/>
          </a:p>
        </p:txBody>
      </p:sp>
      <p:sp>
        <p:nvSpPr>
          <p:cNvPr id="42" name="txt-214"/>
          <p:cNvSpPr txBox="1"/>
          <p:nvPr/>
        </p:nvSpPr>
        <p:spPr>
          <a:xfrm>
            <a:off x="5623560" y="1298448"/>
            <a:ext cx="3063240" cy="201168"/>
          </a:xfrm>
          <a:prstGeom prst="rect">
            <a:avLst/>
          </a:prstGeom>
          <a:noFill/>
          <a:ln/>
        </p:spPr>
        <p:txBody>
          <a:bodyPr wrap="square" lIns="0" tIns="0" rIns="0" bIns="0" rtlCol="0" anchor="ctr"/>
          <a:lstStyle/>
          <a:p>
            <a:pPr indent="0" marL="0">
              <a:buNone/>
            </a:pPr>
            <a:r>
              <a:rPr lang="en-US" sz="1100" b="1" spc="100" kern="0" dirty="0">
                <a:solidFill>
                  <a:schemeClr val="tx2"/>
                </a:solidFill>
              </a:rPr>
              <a:t>ITS THREE HUMAN DESCRIPTIONS</a:t>
            </a:r>
            <a:endParaRPr lang="en-US" sz="1100" dirty="0"/>
          </a:p>
        </p:txBody>
      </p:sp>
      <p:sp>
        <p:nvSpPr>
          <p:cNvPr id="43" name="card-215"/>
          <p:cNvSpPr/>
          <p:nvPr/>
        </p:nvSpPr>
        <p:spPr>
          <a:xfrm>
            <a:off x="5623560" y="1572768"/>
            <a:ext cx="3063240" cy="384048"/>
          </a:xfrm>
          <a:prstGeom prst="roundRect">
            <a:avLst>
              <a:gd name="adj" fmla="val 19048"/>
            </a:avLst>
          </a:prstGeom>
          <a:solidFill>
            <a:schemeClr val="bg2"/>
          </a:solidFill>
          <a:ln/>
        </p:spPr>
      </p:sp>
      <p:sp>
        <p:nvSpPr>
          <p:cNvPr id="44" name="txt-216"/>
          <p:cNvSpPr txBox="1"/>
          <p:nvPr/>
        </p:nvSpPr>
        <p:spPr>
          <a:xfrm>
            <a:off x="5760720" y="1572768"/>
            <a:ext cx="2834640" cy="384048"/>
          </a:xfrm>
          <a:prstGeom prst="rect">
            <a:avLst/>
          </a:prstGeom>
          <a:noFill/>
          <a:ln/>
        </p:spPr>
        <p:txBody>
          <a:bodyPr wrap="square" lIns="0" tIns="0" rIns="0" bIns="0" rtlCol="0" anchor="ctr"/>
          <a:lstStyle/>
          <a:p>
            <a:pPr indent="0" marL="0">
              <a:buNone/>
            </a:pPr>
            <a:r>
              <a:rPr lang="en-US" sz="1500" b="1" i="1" dirty="0">
                <a:solidFill>
                  <a:schemeClr val="tx1"/>
                </a:solidFill>
              </a:rPr>
              <a:t>“Rises a bit at the middle.”</a:t>
            </a:r>
            <a:endParaRPr lang="en-US" sz="1500" dirty="0"/>
          </a:p>
        </p:txBody>
      </p:sp>
      <p:sp>
        <p:nvSpPr>
          <p:cNvPr id="45" name="card-217"/>
          <p:cNvSpPr/>
          <p:nvPr/>
        </p:nvSpPr>
        <p:spPr>
          <a:xfrm>
            <a:off x="5623560" y="2029968"/>
            <a:ext cx="3063240" cy="384048"/>
          </a:xfrm>
          <a:prstGeom prst="roundRect">
            <a:avLst>
              <a:gd name="adj" fmla="val 19048"/>
            </a:avLst>
          </a:prstGeom>
          <a:solidFill>
            <a:schemeClr val="bg2"/>
          </a:solidFill>
          <a:ln/>
        </p:spPr>
      </p:sp>
      <p:sp>
        <p:nvSpPr>
          <p:cNvPr id="46" name="txt-218"/>
          <p:cNvSpPr txBox="1"/>
          <p:nvPr/>
        </p:nvSpPr>
        <p:spPr>
          <a:xfrm>
            <a:off x="5760720" y="2029968"/>
            <a:ext cx="2834640" cy="384048"/>
          </a:xfrm>
          <a:prstGeom prst="rect">
            <a:avLst/>
          </a:prstGeom>
          <a:noFill/>
          <a:ln/>
        </p:spPr>
        <p:txBody>
          <a:bodyPr wrap="square" lIns="0" tIns="0" rIns="0" bIns="0" rtlCol="0" anchor="ctr"/>
          <a:lstStyle/>
          <a:p>
            <a:pPr indent="0" marL="0">
              <a:buNone/>
            </a:pPr>
            <a:r>
              <a:rPr lang="en-US" sz="1500" i="1" dirty="0">
                <a:solidFill>
                  <a:schemeClr val="tx1"/>
                </a:solidFill>
              </a:rPr>
              <a:t>“climbs halfway through”</a:t>
            </a:r>
            <a:endParaRPr lang="en-US" sz="1500" dirty="0"/>
          </a:p>
        </p:txBody>
      </p:sp>
      <p:sp>
        <p:nvSpPr>
          <p:cNvPr id="47" name="card-219"/>
          <p:cNvSpPr/>
          <p:nvPr/>
        </p:nvSpPr>
        <p:spPr>
          <a:xfrm>
            <a:off x="5623560" y="2487168"/>
            <a:ext cx="3063240" cy="384048"/>
          </a:xfrm>
          <a:prstGeom prst="roundRect">
            <a:avLst>
              <a:gd name="adj" fmla="val 19048"/>
            </a:avLst>
          </a:prstGeom>
          <a:solidFill>
            <a:schemeClr val="bg2"/>
          </a:solidFill>
          <a:ln/>
        </p:spPr>
      </p:sp>
      <p:sp>
        <p:nvSpPr>
          <p:cNvPr id="48" name="txt-220"/>
          <p:cNvSpPr txBox="1"/>
          <p:nvPr/>
        </p:nvSpPr>
        <p:spPr>
          <a:xfrm>
            <a:off x="5760720" y="2487168"/>
            <a:ext cx="2834640" cy="384048"/>
          </a:xfrm>
          <a:prstGeom prst="rect">
            <a:avLst/>
          </a:prstGeom>
          <a:noFill/>
          <a:ln/>
        </p:spPr>
        <p:txBody>
          <a:bodyPr wrap="square" lIns="0" tIns="0" rIns="0" bIns="0" rtlCol="0" anchor="ctr"/>
          <a:lstStyle/>
          <a:p>
            <a:pPr indent="0" marL="0">
              <a:buNone/>
            </a:pPr>
            <a:r>
              <a:rPr lang="en-US" sz="1500" i="1" dirty="0">
                <a:solidFill>
                  <a:schemeClr val="tx1"/>
                </a:solidFill>
              </a:rPr>
              <a:t>“increases in the middle”</a:t>
            </a:r>
            <a:endParaRPr lang="en-US" sz="1500" dirty="0"/>
          </a:p>
        </p:txBody>
      </p:sp>
      <p:sp>
        <p:nvSpPr>
          <p:cNvPr id="49" name="txt-221"/>
          <p:cNvSpPr txBox="1"/>
          <p:nvPr/>
        </p:nvSpPr>
        <p:spPr>
          <a:xfrm>
            <a:off x="5623560" y="3035808"/>
            <a:ext cx="3063240" cy="201168"/>
          </a:xfrm>
          <a:prstGeom prst="rect">
            <a:avLst/>
          </a:prstGeom>
          <a:noFill/>
          <a:ln/>
        </p:spPr>
        <p:txBody>
          <a:bodyPr wrap="square" lIns="0" tIns="0" rIns="0" bIns="0" rtlCol="0" anchor="ctr"/>
          <a:lstStyle/>
          <a:p>
            <a:pPr indent="0" marL="0">
              <a:buNone/>
            </a:pPr>
            <a:r>
              <a:rPr lang="en-US" sz="1100" b="1" spc="100" kern="0" dirty="0">
                <a:solidFill>
                  <a:schemeClr val="tx2"/>
                </a:solidFill>
              </a:rPr>
              <a:t>HOW AN EFFECT IS READ</a:t>
            </a:r>
            <a:endParaRPr lang="en-US" sz="1100" dirty="0"/>
          </a:p>
        </p:txBody>
      </p:sp>
      <p:sp>
        <p:nvSpPr>
          <p:cNvPr id="50" name="txt-222"/>
          <p:cNvSpPr txBox="1"/>
          <p:nvPr/>
        </p:nvSpPr>
        <p:spPr>
          <a:xfrm>
            <a:off x="5623560" y="3291840"/>
            <a:ext cx="3063240" cy="1280160"/>
          </a:xfrm>
          <a:prstGeom prst="rect">
            <a:avLst/>
          </a:prstGeom>
          <a:noFill/>
          <a:ln/>
        </p:spPr>
        <p:txBody>
          <a:bodyPr wrap="square" lIns="0" tIns="0" rIns="0" bIns="0" rtlCol="0" anchor="t"/>
          <a:lstStyle/>
          <a:p>
            <a:pPr indent="0" marL="0">
              <a:buNone/>
            </a:pPr>
            <a:r>
              <a:rPr lang="en-US" sz="1400" dirty="0">
                <a:solidFill>
                  <a:schemeClr val="tx1"/>
                </a:solidFill>
              </a:rPr>
              <a:t>CLaSP ranks all 386 series for a description. Unperturbed, the first description puts this series </a:t>
            </a:r>
            <a:pPr indent="0" marL="0">
              <a:buNone/>
            </a:pPr>
            <a:r>
              <a:rPr lang="en-US" sz="1400" b="1" dirty="0">
                <a:solidFill>
                  <a:schemeClr val="tx1"/>
                </a:solidFill>
              </a:rPr>
              <a:t>1st in all three runs</a:t>
            </a:r>
            <a:pPr indent="0" marL="0">
              <a:buNone/>
            </a:pPr>
            <a:r>
              <a:rPr lang="en-US" sz="1400" dirty="0">
                <a:solidFill>
                  <a:schemeClr val="tx1"/>
                </a:solidFill>
              </a:rPr>
              <a:t>; each perturbation is scored by where it falls afterwards.</a:t>
            </a:r>
            <a:endParaRPr lang="en-US" sz="1400" dirty="0"/>
          </a:p>
        </p:txBody>
      </p:sp>
      <p:sp>
        <p:nvSpPr>
          <p:cNvPr id="25" name="Slide Number Placeholder 0"/>
          <p:cNvSpPr>
            <a:spLocks noGrp="1"/>
          </p:cNvSpPr>
          <p:nvPr>
            <p:ph type="sldNum" sz="quarter" idx="4294967295"/>
          </p:nvPr>
        </p:nvSpPr>
        <p:spPr>
          <a:xfrm>
            <a:off x="832104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566928"/>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Full shuffle</a:t>
            </a:r>
            <a:endParaRPr lang="en-US" sz="3400" dirty="0"/>
          </a:p>
        </p:txBody>
      </p:sp>
      <p:sp>
        <p:nvSpPr>
          <p:cNvPr id="3" name="Text 0"/>
          <p:cNvSpPr/>
          <p:nvPr>
            <p:ph idx="101" type="body" hasCustomPrompt="1"/>
          </p:nvPr>
        </p:nvSpPr>
        <p:spPr>
          <a:xfrm>
            <a:off x="457200" y="822960"/>
            <a:ext cx="8229600" cy="365760"/>
          </a:xfrm>
          <a:prstGeom prst="rect">
            <a:avLst/>
          </a:prstGeom>
          <a:noFill/>
          <a:ln/>
        </p:spPr>
        <p:txBody>
          <a:bodyPr wrap="square" lIns="0" tIns="0" rIns="0" bIns="0" rtlCol="0" anchor="t"/>
          <a:lstStyle/>
          <a:p>
            <a:pPr algn="l" indent="0" marL="0">
              <a:buNone/>
            </a:pPr>
            <a:r>
              <a:rPr lang="en-US" sz="1500" dirty="0">
                <a:solidFill>
                  <a:schemeClr val="tx2"/>
                </a:solidFill>
              </a:rPr>
              <a:t>A random permutation of all 12 time steps: every value survives, no order does</a:t>
            </a:r>
            <a:endParaRPr lang="en-US" sz="1500" dirty="0"/>
          </a:p>
        </p:txBody>
      </p:sp>
      <p:sp>
        <p:nvSpPr>
          <p:cNvPr id="4" name="pill-223"/>
          <p:cNvSpPr/>
          <p:nvPr/>
        </p:nvSpPr>
        <p:spPr>
          <a:xfrm>
            <a:off x="7589520" y="384048"/>
            <a:ext cx="1097280" cy="310896"/>
          </a:xfrm>
          <a:prstGeom prst="roundRect">
            <a:avLst>
              <a:gd name="adj" fmla="val 50000"/>
            </a:avLst>
          </a:prstGeom>
          <a:solidFill>
            <a:schemeClr val="accent1"/>
          </a:solidFill>
          <a:ln/>
        </p:spPr>
      </p:sp>
      <p:sp>
        <p:nvSpPr>
          <p:cNvPr id="5" name="txt-224"/>
          <p:cNvSpPr txBox="1"/>
          <p:nvPr/>
        </p:nvSpPr>
        <p:spPr>
          <a:xfrm>
            <a:off x="7589520" y="384048"/>
            <a:ext cx="1097280" cy="310896"/>
          </a:xfrm>
          <a:prstGeom prst="rect">
            <a:avLst/>
          </a:prstGeom>
          <a:noFill/>
          <a:ln/>
        </p:spPr>
        <p:txBody>
          <a:bodyPr wrap="square" lIns="0" tIns="0" rIns="0" bIns="0" rtlCol="0" anchor="ctr"/>
          <a:lstStyle/>
          <a:p>
            <a:pPr algn="ctr" indent="0" marL="0">
              <a:buNone/>
            </a:pPr>
            <a:r>
              <a:rPr lang="en-US" sz="1200" b="1" dirty="0">
                <a:solidFill>
                  <a:schemeClr val="bg1"/>
                </a:solidFill>
              </a:rPr>
              <a:t>sf-all</a:t>
            </a:r>
            <a:endParaRPr lang="en-US" sz="1200" dirty="0"/>
          </a:p>
        </p:txBody>
      </p:sp>
      <p:sp>
        <p:nvSpPr>
          <p:cNvPr id="6" name="txt-225"/>
          <p:cNvSpPr txBox="1"/>
          <p:nvPr/>
        </p:nvSpPr>
        <p:spPr>
          <a:xfrm>
            <a:off x="457200" y="1325880"/>
            <a:ext cx="2743200" cy="201168"/>
          </a:xfrm>
          <a:prstGeom prst="rect">
            <a:avLst/>
          </a:prstGeom>
          <a:noFill/>
          <a:ln/>
        </p:spPr>
        <p:txBody>
          <a:bodyPr wrap="square" lIns="0" tIns="0" rIns="0" bIns="0" rtlCol="0" anchor="ctr"/>
          <a:lstStyle/>
          <a:p>
            <a:pPr indent="0" marL="0">
              <a:buNone/>
            </a:pPr>
            <a:r>
              <a:rPr lang="en-US" sz="1100" b="1" spc="100" kern="0" dirty="0">
                <a:solidFill>
                  <a:schemeClr val="tx2"/>
                </a:solidFill>
              </a:rPr>
              <a:t>ORIGINAL</a:t>
            </a:r>
            <a:endParaRPr lang="en-US" sz="1100" dirty="0"/>
          </a:p>
        </p:txBody>
      </p:sp>
      <p:sp>
        <p:nvSpPr>
          <p:cNvPr id="7" name="tile-226"/>
          <p:cNvSpPr/>
          <p:nvPr/>
        </p:nvSpPr>
        <p:spPr>
          <a:xfrm>
            <a:off x="457200"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8" name="txt-227"/>
          <p:cNvSpPr txBox="1"/>
          <p:nvPr/>
        </p:nvSpPr>
        <p:spPr>
          <a:xfrm>
            <a:off x="457200"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a</a:t>
            </a:r>
            <a:endParaRPr lang="en-US" sz="1100" dirty="0"/>
          </a:p>
        </p:txBody>
      </p:sp>
      <p:sp>
        <p:nvSpPr>
          <p:cNvPr id="9" name="txt-228"/>
          <p:cNvSpPr txBox="1"/>
          <p:nvPr/>
        </p:nvSpPr>
        <p:spPr>
          <a:xfrm>
            <a:off x="457200"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10" name="tile-229"/>
          <p:cNvSpPr/>
          <p:nvPr/>
        </p:nvSpPr>
        <p:spPr>
          <a:xfrm>
            <a:off x="841248"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11" name="txt-230"/>
          <p:cNvSpPr txBox="1"/>
          <p:nvPr/>
        </p:nvSpPr>
        <p:spPr>
          <a:xfrm>
            <a:off x="841248"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b</a:t>
            </a:r>
            <a:endParaRPr lang="en-US" sz="1100" dirty="0"/>
          </a:p>
        </p:txBody>
      </p:sp>
      <p:sp>
        <p:nvSpPr>
          <p:cNvPr id="12" name="txt-231"/>
          <p:cNvSpPr txBox="1"/>
          <p:nvPr/>
        </p:nvSpPr>
        <p:spPr>
          <a:xfrm>
            <a:off x="841248"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13" name="tile-232"/>
          <p:cNvSpPr/>
          <p:nvPr/>
        </p:nvSpPr>
        <p:spPr>
          <a:xfrm>
            <a:off x="1225296"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14" name="txt-233"/>
          <p:cNvSpPr txBox="1"/>
          <p:nvPr/>
        </p:nvSpPr>
        <p:spPr>
          <a:xfrm>
            <a:off x="1225296"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c</a:t>
            </a:r>
            <a:endParaRPr lang="en-US" sz="1100" dirty="0"/>
          </a:p>
        </p:txBody>
      </p:sp>
      <p:sp>
        <p:nvSpPr>
          <p:cNvPr id="15" name="txt-234"/>
          <p:cNvSpPr txBox="1"/>
          <p:nvPr/>
        </p:nvSpPr>
        <p:spPr>
          <a:xfrm>
            <a:off x="1225296"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16" name="tile-235"/>
          <p:cNvSpPr/>
          <p:nvPr/>
        </p:nvSpPr>
        <p:spPr>
          <a:xfrm>
            <a:off x="1609344"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17" name="txt-236"/>
          <p:cNvSpPr txBox="1"/>
          <p:nvPr/>
        </p:nvSpPr>
        <p:spPr>
          <a:xfrm>
            <a:off x="1609344"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d</a:t>
            </a:r>
            <a:endParaRPr lang="en-US" sz="1100" dirty="0"/>
          </a:p>
        </p:txBody>
      </p:sp>
      <p:sp>
        <p:nvSpPr>
          <p:cNvPr id="18" name="txt-237"/>
          <p:cNvSpPr txBox="1"/>
          <p:nvPr/>
        </p:nvSpPr>
        <p:spPr>
          <a:xfrm>
            <a:off x="1609344"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19" name="tile-238"/>
          <p:cNvSpPr/>
          <p:nvPr/>
        </p:nvSpPr>
        <p:spPr>
          <a:xfrm>
            <a:off x="1993392"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20" name="txt-239"/>
          <p:cNvSpPr txBox="1"/>
          <p:nvPr/>
        </p:nvSpPr>
        <p:spPr>
          <a:xfrm>
            <a:off x="1993392"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e</a:t>
            </a:r>
            <a:endParaRPr lang="en-US" sz="1100" dirty="0"/>
          </a:p>
        </p:txBody>
      </p:sp>
      <p:sp>
        <p:nvSpPr>
          <p:cNvPr id="21" name="txt-240"/>
          <p:cNvSpPr txBox="1"/>
          <p:nvPr/>
        </p:nvSpPr>
        <p:spPr>
          <a:xfrm>
            <a:off x="1993392"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22" name="tile-241"/>
          <p:cNvSpPr/>
          <p:nvPr/>
        </p:nvSpPr>
        <p:spPr>
          <a:xfrm>
            <a:off x="2377440"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23" name="txt-242"/>
          <p:cNvSpPr txBox="1"/>
          <p:nvPr/>
        </p:nvSpPr>
        <p:spPr>
          <a:xfrm>
            <a:off x="2377440"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f</a:t>
            </a:r>
            <a:endParaRPr lang="en-US" sz="1100" dirty="0"/>
          </a:p>
        </p:txBody>
      </p:sp>
      <p:sp>
        <p:nvSpPr>
          <p:cNvPr id="24" name="txt-243"/>
          <p:cNvSpPr txBox="1"/>
          <p:nvPr/>
        </p:nvSpPr>
        <p:spPr>
          <a:xfrm>
            <a:off x="2377440"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25" name="tile-244"/>
          <p:cNvSpPr/>
          <p:nvPr/>
        </p:nvSpPr>
        <p:spPr>
          <a:xfrm>
            <a:off x="2907792"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26" name="txt-245"/>
          <p:cNvSpPr txBox="1"/>
          <p:nvPr/>
        </p:nvSpPr>
        <p:spPr>
          <a:xfrm>
            <a:off x="2907792"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g</a:t>
            </a:r>
            <a:endParaRPr lang="en-US" sz="1100" dirty="0"/>
          </a:p>
        </p:txBody>
      </p:sp>
      <p:sp>
        <p:nvSpPr>
          <p:cNvPr id="27" name="txt-246"/>
          <p:cNvSpPr txBox="1"/>
          <p:nvPr/>
        </p:nvSpPr>
        <p:spPr>
          <a:xfrm>
            <a:off x="2907792"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20</a:t>
            </a:r>
            <a:endParaRPr lang="en-US" sz="1400" dirty="0"/>
          </a:p>
        </p:txBody>
      </p:sp>
      <p:sp>
        <p:nvSpPr>
          <p:cNvPr id="28" name="tile-247"/>
          <p:cNvSpPr/>
          <p:nvPr/>
        </p:nvSpPr>
        <p:spPr>
          <a:xfrm>
            <a:off x="3291840"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29" name="txt-248"/>
          <p:cNvSpPr txBox="1"/>
          <p:nvPr/>
        </p:nvSpPr>
        <p:spPr>
          <a:xfrm>
            <a:off x="3291840"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h</a:t>
            </a:r>
            <a:endParaRPr lang="en-US" sz="1100" dirty="0"/>
          </a:p>
        </p:txBody>
      </p:sp>
      <p:sp>
        <p:nvSpPr>
          <p:cNvPr id="30" name="txt-249"/>
          <p:cNvSpPr txBox="1"/>
          <p:nvPr/>
        </p:nvSpPr>
        <p:spPr>
          <a:xfrm>
            <a:off x="3291840"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34</a:t>
            </a:r>
            <a:endParaRPr lang="en-US" sz="1400" dirty="0"/>
          </a:p>
        </p:txBody>
      </p:sp>
      <p:sp>
        <p:nvSpPr>
          <p:cNvPr id="31" name="tile-250"/>
          <p:cNvSpPr/>
          <p:nvPr/>
        </p:nvSpPr>
        <p:spPr>
          <a:xfrm>
            <a:off x="3675888"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32" name="txt-251"/>
          <p:cNvSpPr txBox="1"/>
          <p:nvPr/>
        </p:nvSpPr>
        <p:spPr>
          <a:xfrm>
            <a:off x="3675888"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i</a:t>
            </a:r>
            <a:endParaRPr lang="en-US" sz="1100" dirty="0"/>
          </a:p>
        </p:txBody>
      </p:sp>
      <p:sp>
        <p:nvSpPr>
          <p:cNvPr id="33" name="txt-252"/>
          <p:cNvSpPr txBox="1"/>
          <p:nvPr/>
        </p:nvSpPr>
        <p:spPr>
          <a:xfrm>
            <a:off x="3675888"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35</a:t>
            </a:r>
            <a:endParaRPr lang="en-US" sz="1400" dirty="0"/>
          </a:p>
        </p:txBody>
      </p:sp>
      <p:sp>
        <p:nvSpPr>
          <p:cNvPr id="34" name="tile-253"/>
          <p:cNvSpPr/>
          <p:nvPr/>
        </p:nvSpPr>
        <p:spPr>
          <a:xfrm>
            <a:off x="4059936"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35" name="txt-254"/>
          <p:cNvSpPr txBox="1"/>
          <p:nvPr/>
        </p:nvSpPr>
        <p:spPr>
          <a:xfrm>
            <a:off x="4059936"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j</a:t>
            </a:r>
            <a:endParaRPr lang="en-US" sz="1100" dirty="0"/>
          </a:p>
        </p:txBody>
      </p:sp>
      <p:sp>
        <p:nvSpPr>
          <p:cNvPr id="36" name="txt-255"/>
          <p:cNvSpPr txBox="1"/>
          <p:nvPr/>
        </p:nvSpPr>
        <p:spPr>
          <a:xfrm>
            <a:off x="4059936"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33</a:t>
            </a:r>
            <a:endParaRPr lang="en-US" sz="1400" dirty="0"/>
          </a:p>
        </p:txBody>
      </p:sp>
      <p:sp>
        <p:nvSpPr>
          <p:cNvPr id="37" name="tile-256"/>
          <p:cNvSpPr/>
          <p:nvPr/>
        </p:nvSpPr>
        <p:spPr>
          <a:xfrm>
            <a:off x="4443984"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38" name="txt-257"/>
          <p:cNvSpPr txBox="1"/>
          <p:nvPr/>
        </p:nvSpPr>
        <p:spPr>
          <a:xfrm>
            <a:off x="4443984"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k</a:t>
            </a:r>
            <a:endParaRPr lang="en-US" sz="1100" dirty="0"/>
          </a:p>
        </p:txBody>
      </p:sp>
      <p:sp>
        <p:nvSpPr>
          <p:cNvPr id="39" name="txt-258"/>
          <p:cNvSpPr txBox="1"/>
          <p:nvPr/>
        </p:nvSpPr>
        <p:spPr>
          <a:xfrm>
            <a:off x="4443984"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35</a:t>
            </a:r>
            <a:endParaRPr lang="en-US" sz="1400" dirty="0"/>
          </a:p>
        </p:txBody>
      </p:sp>
      <p:sp>
        <p:nvSpPr>
          <p:cNvPr id="40" name="tile-259"/>
          <p:cNvSpPr/>
          <p:nvPr/>
        </p:nvSpPr>
        <p:spPr>
          <a:xfrm>
            <a:off x="4828032"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41" name="txt-260"/>
          <p:cNvSpPr txBox="1"/>
          <p:nvPr/>
        </p:nvSpPr>
        <p:spPr>
          <a:xfrm>
            <a:off x="4828032"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l</a:t>
            </a:r>
            <a:endParaRPr lang="en-US" sz="1100" dirty="0"/>
          </a:p>
        </p:txBody>
      </p:sp>
      <p:sp>
        <p:nvSpPr>
          <p:cNvPr id="42" name="txt-261"/>
          <p:cNvSpPr txBox="1"/>
          <p:nvPr/>
        </p:nvSpPr>
        <p:spPr>
          <a:xfrm>
            <a:off x="4828032"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32</a:t>
            </a:r>
            <a:endParaRPr lang="en-US" sz="1400" dirty="0"/>
          </a:p>
        </p:txBody>
      </p:sp>
      <p:sp>
        <p:nvSpPr>
          <p:cNvPr id="43" name="txt-262"/>
          <p:cNvSpPr txBox="1"/>
          <p:nvPr/>
        </p:nvSpPr>
        <p:spPr>
          <a:xfrm>
            <a:off x="2724912" y="1572768"/>
            <a:ext cx="182880" cy="566928"/>
          </a:xfrm>
          <a:prstGeom prst="rect">
            <a:avLst/>
          </a:prstGeom>
          <a:noFill/>
          <a:ln/>
        </p:spPr>
        <p:txBody>
          <a:bodyPr wrap="square" lIns="0" tIns="0" rIns="0" bIns="0" rtlCol="0" anchor="ctr"/>
          <a:lstStyle/>
          <a:p>
            <a:pPr algn="ctr" indent="0" marL="0">
              <a:buNone/>
            </a:pPr>
            <a:r>
              <a:rPr lang="en-US" sz="1800" dirty="0">
                <a:solidFill>
                  <a:schemeClr val="tx2"/>
                </a:solidFill>
              </a:rPr>
              <a:t>/</a:t>
            </a:r>
            <a:endParaRPr lang="en-US" sz="1800" dirty="0"/>
          </a:p>
        </p:txBody>
      </p:sp>
      <p:sp>
        <p:nvSpPr>
          <p:cNvPr id="44" name="txt-263"/>
          <p:cNvSpPr txBox="1"/>
          <p:nvPr/>
        </p:nvSpPr>
        <p:spPr>
          <a:xfrm>
            <a:off x="457200" y="2286000"/>
            <a:ext cx="3657600" cy="201168"/>
          </a:xfrm>
          <a:prstGeom prst="rect">
            <a:avLst/>
          </a:prstGeom>
          <a:noFill/>
          <a:ln/>
        </p:spPr>
        <p:txBody>
          <a:bodyPr wrap="square" lIns="0" tIns="0" rIns="0" bIns="0" rtlCol="0" anchor="ctr"/>
          <a:lstStyle/>
          <a:p>
            <a:pPr indent="0" marL="0">
              <a:buNone/>
            </a:pPr>
            <a:r>
              <a:rPr lang="en-US" sz="1100" b="1" spc="100" kern="0" dirty="0">
                <a:solidFill>
                  <a:schemeClr val="accent1"/>
                </a:solidFill>
              </a:rPr>
              <a:t>FULL SHUFFLE · RUN 42</a:t>
            </a:r>
            <a:endParaRPr lang="en-US" sz="1100" dirty="0"/>
          </a:p>
        </p:txBody>
      </p:sp>
      <p:sp>
        <p:nvSpPr>
          <p:cNvPr id="45" name="tile-264"/>
          <p:cNvSpPr/>
          <p:nvPr/>
        </p:nvSpPr>
        <p:spPr>
          <a:xfrm>
            <a:off x="457200"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46" name="txt-265"/>
          <p:cNvSpPr txBox="1"/>
          <p:nvPr/>
        </p:nvSpPr>
        <p:spPr>
          <a:xfrm>
            <a:off x="457200"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e</a:t>
            </a:r>
            <a:endParaRPr lang="en-US" sz="1100" dirty="0"/>
          </a:p>
        </p:txBody>
      </p:sp>
      <p:sp>
        <p:nvSpPr>
          <p:cNvPr id="47" name="txt-266"/>
          <p:cNvSpPr txBox="1"/>
          <p:nvPr/>
        </p:nvSpPr>
        <p:spPr>
          <a:xfrm>
            <a:off x="457200"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48" name="tile-267"/>
          <p:cNvSpPr/>
          <p:nvPr/>
        </p:nvSpPr>
        <p:spPr>
          <a:xfrm>
            <a:off x="841248"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49" name="txt-268"/>
          <p:cNvSpPr txBox="1"/>
          <p:nvPr/>
        </p:nvSpPr>
        <p:spPr>
          <a:xfrm>
            <a:off x="841248"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a</a:t>
            </a:r>
            <a:endParaRPr lang="en-US" sz="1100" dirty="0"/>
          </a:p>
        </p:txBody>
      </p:sp>
      <p:sp>
        <p:nvSpPr>
          <p:cNvPr id="50" name="txt-269"/>
          <p:cNvSpPr txBox="1"/>
          <p:nvPr/>
        </p:nvSpPr>
        <p:spPr>
          <a:xfrm>
            <a:off x="841248"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51" name="tile-270"/>
          <p:cNvSpPr/>
          <p:nvPr/>
        </p:nvSpPr>
        <p:spPr>
          <a:xfrm>
            <a:off x="1225296"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52" name="txt-271"/>
          <p:cNvSpPr txBox="1"/>
          <p:nvPr/>
        </p:nvSpPr>
        <p:spPr>
          <a:xfrm>
            <a:off x="1225296"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g</a:t>
            </a:r>
            <a:endParaRPr lang="en-US" sz="1100" dirty="0"/>
          </a:p>
        </p:txBody>
      </p:sp>
      <p:sp>
        <p:nvSpPr>
          <p:cNvPr id="53" name="txt-272"/>
          <p:cNvSpPr txBox="1"/>
          <p:nvPr/>
        </p:nvSpPr>
        <p:spPr>
          <a:xfrm>
            <a:off x="1225296"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20</a:t>
            </a:r>
            <a:endParaRPr lang="en-US" sz="1400" dirty="0"/>
          </a:p>
        </p:txBody>
      </p:sp>
      <p:sp>
        <p:nvSpPr>
          <p:cNvPr id="54" name="tile-273"/>
          <p:cNvSpPr/>
          <p:nvPr/>
        </p:nvSpPr>
        <p:spPr>
          <a:xfrm>
            <a:off x="1609344"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55" name="txt-274"/>
          <p:cNvSpPr txBox="1"/>
          <p:nvPr/>
        </p:nvSpPr>
        <p:spPr>
          <a:xfrm>
            <a:off x="1609344"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j</a:t>
            </a:r>
            <a:endParaRPr lang="en-US" sz="1100" dirty="0"/>
          </a:p>
        </p:txBody>
      </p:sp>
      <p:sp>
        <p:nvSpPr>
          <p:cNvPr id="56" name="txt-275"/>
          <p:cNvSpPr txBox="1"/>
          <p:nvPr/>
        </p:nvSpPr>
        <p:spPr>
          <a:xfrm>
            <a:off x="1609344"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33</a:t>
            </a:r>
            <a:endParaRPr lang="en-US" sz="1400" dirty="0"/>
          </a:p>
        </p:txBody>
      </p:sp>
      <p:sp>
        <p:nvSpPr>
          <p:cNvPr id="57" name="tile-276"/>
          <p:cNvSpPr/>
          <p:nvPr/>
        </p:nvSpPr>
        <p:spPr>
          <a:xfrm>
            <a:off x="1993392"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58" name="txt-277"/>
          <p:cNvSpPr txBox="1"/>
          <p:nvPr/>
        </p:nvSpPr>
        <p:spPr>
          <a:xfrm>
            <a:off x="1993392"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d</a:t>
            </a:r>
            <a:endParaRPr lang="en-US" sz="1100" dirty="0"/>
          </a:p>
        </p:txBody>
      </p:sp>
      <p:sp>
        <p:nvSpPr>
          <p:cNvPr id="59" name="txt-278"/>
          <p:cNvSpPr txBox="1"/>
          <p:nvPr/>
        </p:nvSpPr>
        <p:spPr>
          <a:xfrm>
            <a:off x="1993392"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60" name="tile-279"/>
          <p:cNvSpPr/>
          <p:nvPr/>
        </p:nvSpPr>
        <p:spPr>
          <a:xfrm>
            <a:off x="2377440"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61" name="txt-280"/>
          <p:cNvSpPr txBox="1"/>
          <p:nvPr/>
        </p:nvSpPr>
        <p:spPr>
          <a:xfrm>
            <a:off x="2377440"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i</a:t>
            </a:r>
            <a:endParaRPr lang="en-US" sz="1100" dirty="0"/>
          </a:p>
        </p:txBody>
      </p:sp>
      <p:sp>
        <p:nvSpPr>
          <p:cNvPr id="62" name="txt-281"/>
          <p:cNvSpPr txBox="1"/>
          <p:nvPr/>
        </p:nvSpPr>
        <p:spPr>
          <a:xfrm>
            <a:off x="2377440"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35</a:t>
            </a:r>
            <a:endParaRPr lang="en-US" sz="1400" dirty="0"/>
          </a:p>
        </p:txBody>
      </p:sp>
      <p:sp>
        <p:nvSpPr>
          <p:cNvPr id="63" name="tile-282"/>
          <p:cNvSpPr/>
          <p:nvPr/>
        </p:nvSpPr>
        <p:spPr>
          <a:xfrm>
            <a:off x="2907792"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64" name="txt-283"/>
          <p:cNvSpPr txBox="1"/>
          <p:nvPr/>
        </p:nvSpPr>
        <p:spPr>
          <a:xfrm>
            <a:off x="2907792"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l</a:t>
            </a:r>
            <a:endParaRPr lang="en-US" sz="1100" dirty="0"/>
          </a:p>
        </p:txBody>
      </p:sp>
      <p:sp>
        <p:nvSpPr>
          <p:cNvPr id="65" name="txt-284"/>
          <p:cNvSpPr txBox="1"/>
          <p:nvPr/>
        </p:nvSpPr>
        <p:spPr>
          <a:xfrm>
            <a:off x="2907792"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32</a:t>
            </a:r>
            <a:endParaRPr lang="en-US" sz="1400" dirty="0"/>
          </a:p>
        </p:txBody>
      </p:sp>
      <p:sp>
        <p:nvSpPr>
          <p:cNvPr id="66" name="tile-285"/>
          <p:cNvSpPr/>
          <p:nvPr/>
        </p:nvSpPr>
        <p:spPr>
          <a:xfrm>
            <a:off x="3291840"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67" name="txt-286"/>
          <p:cNvSpPr txBox="1"/>
          <p:nvPr/>
        </p:nvSpPr>
        <p:spPr>
          <a:xfrm>
            <a:off x="3291840"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h</a:t>
            </a:r>
            <a:endParaRPr lang="en-US" sz="1100" dirty="0"/>
          </a:p>
        </p:txBody>
      </p:sp>
      <p:sp>
        <p:nvSpPr>
          <p:cNvPr id="68" name="txt-287"/>
          <p:cNvSpPr txBox="1"/>
          <p:nvPr/>
        </p:nvSpPr>
        <p:spPr>
          <a:xfrm>
            <a:off x="3291840"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34</a:t>
            </a:r>
            <a:endParaRPr lang="en-US" sz="1400" dirty="0"/>
          </a:p>
        </p:txBody>
      </p:sp>
      <p:sp>
        <p:nvSpPr>
          <p:cNvPr id="69" name="tile-288"/>
          <p:cNvSpPr/>
          <p:nvPr/>
        </p:nvSpPr>
        <p:spPr>
          <a:xfrm>
            <a:off x="3675888"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70" name="txt-289"/>
          <p:cNvSpPr txBox="1"/>
          <p:nvPr/>
        </p:nvSpPr>
        <p:spPr>
          <a:xfrm>
            <a:off x="3675888"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k</a:t>
            </a:r>
            <a:endParaRPr lang="en-US" sz="1100" dirty="0"/>
          </a:p>
        </p:txBody>
      </p:sp>
      <p:sp>
        <p:nvSpPr>
          <p:cNvPr id="71" name="txt-290"/>
          <p:cNvSpPr txBox="1"/>
          <p:nvPr/>
        </p:nvSpPr>
        <p:spPr>
          <a:xfrm>
            <a:off x="3675888"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35</a:t>
            </a:r>
            <a:endParaRPr lang="en-US" sz="1400" dirty="0"/>
          </a:p>
        </p:txBody>
      </p:sp>
      <p:sp>
        <p:nvSpPr>
          <p:cNvPr id="72" name="tile-291"/>
          <p:cNvSpPr/>
          <p:nvPr/>
        </p:nvSpPr>
        <p:spPr>
          <a:xfrm>
            <a:off x="4059936"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73" name="txt-292"/>
          <p:cNvSpPr txBox="1"/>
          <p:nvPr/>
        </p:nvSpPr>
        <p:spPr>
          <a:xfrm>
            <a:off x="4059936"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b</a:t>
            </a:r>
            <a:endParaRPr lang="en-US" sz="1100" dirty="0"/>
          </a:p>
        </p:txBody>
      </p:sp>
      <p:sp>
        <p:nvSpPr>
          <p:cNvPr id="74" name="txt-293"/>
          <p:cNvSpPr txBox="1"/>
          <p:nvPr/>
        </p:nvSpPr>
        <p:spPr>
          <a:xfrm>
            <a:off x="4059936"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75" name="tile-294"/>
          <p:cNvSpPr/>
          <p:nvPr/>
        </p:nvSpPr>
        <p:spPr>
          <a:xfrm>
            <a:off x="4443984"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76" name="txt-295"/>
          <p:cNvSpPr txBox="1"/>
          <p:nvPr/>
        </p:nvSpPr>
        <p:spPr>
          <a:xfrm>
            <a:off x="4443984"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c</a:t>
            </a:r>
            <a:endParaRPr lang="en-US" sz="1100" dirty="0"/>
          </a:p>
        </p:txBody>
      </p:sp>
      <p:sp>
        <p:nvSpPr>
          <p:cNvPr id="77" name="txt-296"/>
          <p:cNvSpPr txBox="1"/>
          <p:nvPr/>
        </p:nvSpPr>
        <p:spPr>
          <a:xfrm>
            <a:off x="4443984"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78" name="tile-297"/>
          <p:cNvSpPr/>
          <p:nvPr/>
        </p:nvSpPr>
        <p:spPr>
          <a:xfrm>
            <a:off x="4828032"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79" name="txt-298"/>
          <p:cNvSpPr txBox="1"/>
          <p:nvPr/>
        </p:nvSpPr>
        <p:spPr>
          <a:xfrm>
            <a:off x="4828032"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f</a:t>
            </a:r>
            <a:endParaRPr lang="en-US" sz="1100" dirty="0"/>
          </a:p>
        </p:txBody>
      </p:sp>
      <p:sp>
        <p:nvSpPr>
          <p:cNvPr id="80" name="txt-299"/>
          <p:cNvSpPr txBox="1"/>
          <p:nvPr/>
        </p:nvSpPr>
        <p:spPr>
          <a:xfrm>
            <a:off x="4828032"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81" name="txt-300"/>
          <p:cNvSpPr txBox="1"/>
          <p:nvPr/>
        </p:nvSpPr>
        <p:spPr>
          <a:xfrm>
            <a:off x="2724912" y="2532888"/>
            <a:ext cx="182880" cy="566928"/>
          </a:xfrm>
          <a:prstGeom prst="rect">
            <a:avLst/>
          </a:prstGeom>
          <a:noFill/>
          <a:ln/>
        </p:spPr>
        <p:txBody>
          <a:bodyPr wrap="square" lIns="0" tIns="0" rIns="0" bIns="0" rtlCol="0" anchor="ctr"/>
          <a:lstStyle/>
          <a:p>
            <a:pPr algn="ctr" indent="0" marL="0">
              <a:buNone/>
            </a:pPr>
            <a:r>
              <a:rPr lang="en-US" sz="1800" dirty="0">
                <a:solidFill>
                  <a:schemeClr val="tx2"/>
                </a:solidFill>
              </a:rPr>
              <a:t>/</a:t>
            </a:r>
            <a:endParaRPr lang="en-US" sz="1800" dirty="0"/>
          </a:p>
        </p:txBody>
      </p:sp>
      <p:sp>
        <p:nvSpPr>
          <p:cNvPr id="82" name="txt-301"/>
          <p:cNvSpPr txBox="1"/>
          <p:nvPr/>
        </p:nvSpPr>
        <p:spPr>
          <a:xfrm>
            <a:off x="457200" y="3200400"/>
            <a:ext cx="4754880" cy="411480"/>
          </a:xfrm>
          <a:prstGeom prst="rect">
            <a:avLst/>
          </a:prstGeom>
          <a:noFill/>
          <a:ln/>
        </p:spPr>
        <p:txBody>
          <a:bodyPr wrap="square" lIns="0" tIns="0" rIns="0" bIns="0" rtlCol="0" anchor="ctr"/>
          <a:lstStyle/>
          <a:p>
            <a:pPr indent="0" marL="0">
              <a:buNone/>
            </a:pPr>
            <a:r>
              <a:rPr lang="en-US" sz="1100" dirty="0">
                <a:solidFill>
                  <a:schemeClr val="tx2"/>
                </a:solidFill>
              </a:rPr>
              <a:t>Tiles keep their colour (teal = started in the first half, amber = second half), so you can follow each value.</a:t>
            </a:r>
            <a:endParaRPr lang="en-US" sz="1100" dirty="0"/>
          </a:p>
        </p:txBody>
      </p:sp>
      <p:graphicFrame>
        <p:nvGraphicFramePr>
          <p:cNvPr id="83" name="chart-truce-sf_all" descr=""/>
          <p:cNvGraphicFramePr/>
          <p:nvPr/>
        </p:nvGraphicFramePr>
        <p:xfrm>
          <a:off x="5440680" y="1261872"/>
          <a:ext cx="3246120" cy="2377440"/>
        </p:xfrm>
        <a:graphic xmlns:a="http://schemas.openxmlformats.org/drawingml/2006/main">
          <a:graphicData uri="http://schemas.openxmlformats.org/drawingml/2006/chart">
            <c:chart xmlns:c="http://schemas.openxmlformats.org/drawingml/2006/chart" r:id="rId1"/>
          </a:graphicData>
        </a:graphic>
      </p:graphicFrame>
      <p:sp>
        <p:nvSpPr>
          <p:cNvPr id="84" name="card-302"/>
          <p:cNvSpPr/>
          <p:nvPr/>
        </p:nvSpPr>
        <p:spPr>
          <a:xfrm>
            <a:off x="457200" y="3749040"/>
            <a:ext cx="2624328" cy="960120"/>
          </a:xfrm>
          <a:prstGeom prst="roundRect">
            <a:avLst>
              <a:gd name="adj" fmla="val 7619"/>
            </a:avLst>
          </a:prstGeom>
          <a:solidFill>
            <a:schemeClr val="bg2"/>
          </a:solidFill>
          <a:ln/>
        </p:spPr>
      </p:sp>
      <p:sp>
        <p:nvSpPr>
          <p:cNvPr id="85" name="txt-303"/>
          <p:cNvSpPr txBox="1"/>
          <p:nvPr/>
        </p:nvSpPr>
        <p:spPr>
          <a:xfrm>
            <a:off x="594360" y="3858768"/>
            <a:ext cx="2286000" cy="201168"/>
          </a:xfrm>
          <a:prstGeom prst="rect">
            <a:avLst/>
          </a:prstGeom>
          <a:noFill/>
          <a:ln/>
        </p:spPr>
        <p:txBody>
          <a:bodyPr wrap="square" lIns="0" tIns="0" rIns="0" bIns="0" rtlCol="0" anchor="ctr"/>
          <a:lstStyle/>
          <a:p>
            <a:pPr indent="0" marL="0">
              <a:buNone/>
            </a:pPr>
            <a:r>
              <a:rPr lang="en-US" sz="1100" b="1" spc="100" kern="0" dirty="0">
                <a:solidFill>
                  <a:schemeClr val="accent2"/>
                </a:solidFill>
              </a:rPr>
              <a:t>KEEPS</a:t>
            </a:r>
            <a:endParaRPr lang="en-US" sz="1100" dirty="0"/>
          </a:p>
        </p:txBody>
      </p:sp>
      <p:sp>
        <p:nvSpPr>
          <p:cNvPr id="86" name="txt-304"/>
          <p:cNvSpPr txBox="1"/>
          <p:nvPr/>
        </p:nvSpPr>
        <p:spPr>
          <a:xfrm>
            <a:off x="594360" y="4096512"/>
            <a:ext cx="2350008" cy="548640"/>
          </a:xfrm>
          <a:prstGeom prst="rect">
            <a:avLst/>
          </a:prstGeom>
          <a:noFill/>
          <a:ln/>
        </p:spPr>
        <p:txBody>
          <a:bodyPr wrap="square" lIns="0" tIns="0" rIns="0" bIns="0" rtlCol="0" anchor="t"/>
          <a:lstStyle/>
          <a:p>
            <a:pPr indent="0" marL="0">
              <a:buNone/>
            </a:pPr>
            <a:r>
              <a:rPr lang="en-US" sz="1400" dirty="0">
                <a:solidFill>
                  <a:schemeClr val="tx1"/>
                </a:solidFill>
              </a:rPr>
              <a:t>All 12 values: same mean, spread, minimum and maximum</a:t>
            </a:r>
            <a:endParaRPr lang="en-US" sz="1400" dirty="0"/>
          </a:p>
        </p:txBody>
      </p:sp>
      <p:sp>
        <p:nvSpPr>
          <p:cNvPr id="87" name="card-305"/>
          <p:cNvSpPr/>
          <p:nvPr/>
        </p:nvSpPr>
        <p:spPr>
          <a:xfrm>
            <a:off x="3259836" y="3749040"/>
            <a:ext cx="2624328" cy="960120"/>
          </a:xfrm>
          <a:prstGeom prst="roundRect">
            <a:avLst>
              <a:gd name="adj" fmla="val 7619"/>
            </a:avLst>
          </a:prstGeom>
          <a:solidFill>
            <a:schemeClr val="bg2"/>
          </a:solidFill>
          <a:ln/>
        </p:spPr>
      </p:sp>
      <p:sp>
        <p:nvSpPr>
          <p:cNvPr id="88" name="txt-306"/>
          <p:cNvSpPr txBox="1"/>
          <p:nvPr/>
        </p:nvSpPr>
        <p:spPr>
          <a:xfrm>
            <a:off x="3396996" y="3858768"/>
            <a:ext cx="2286000" cy="201168"/>
          </a:xfrm>
          <a:prstGeom prst="rect">
            <a:avLst/>
          </a:prstGeom>
          <a:noFill/>
          <a:ln/>
        </p:spPr>
        <p:txBody>
          <a:bodyPr wrap="square" lIns="0" tIns="0" rIns="0" bIns="0" rtlCol="0" anchor="ctr"/>
          <a:lstStyle/>
          <a:p>
            <a:pPr indent="0" marL="0">
              <a:buNone/>
            </a:pPr>
            <a:r>
              <a:rPr lang="en-US" sz="1100" b="1" spc="100" kern="0" dirty="0">
                <a:solidFill>
                  <a:schemeClr val="accent5"/>
                </a:solidFill>
              </a:rPr>
              <a:t>DESTROYS</a:t>
            </a:r>
            <a:endParaRPr lang="en-US" sz="1100" dirty="0"/>
          </a:p>
        </p:txBody>
      </p:sp>
      <p:sp>
        <p:nvSpPr>
          <p:cNvPr id="89" name="txt-307"/>
          <p:cNvSpPr txBox="1"/>
          <p:nvPr/>
        </p:nvSpPr>
        <p:spPr>
          <a:xfrm>
            <a:off x="3396996" y="4096512"/>
            <a:ext cx="2350008" cy="548640"/>
          </a:xfrm>
          <a:prstGeom prst="rect">
            <a:avLst/>
          </a:prstGeom>
          <a:noFill/>
          <a:ln/>
        </p:spPr>
        <p:txBody>
          <a:bodyPr wrap="square" lIns="0" tIns="0" rIns="0" bIns="0" rtlCol="0" anchor="t"/>
          <a:lstStyle/>
          <a:p>
            <a:pPr indent="0" marL="0">
              <a:buNone/>
            </a:pPr>
            <a:r>
              <a:rPr lang="en-US" sz="1400" dirty="0">
                <a:solidFill>
                  <a:schemeClr val="tx1"/>
                </a:solidFill>
              </a:rPr>
              <a:t>Every trace of order, including the mid-series rise</a:t>
            </a:r>
            <a:endParaRPr lang="en-US" sz="1400" dirty="0"/>
          </a:p>
        </p:txBody>
      </p:sp>
      <p:sp>
        <p:nvSpPr>
          <p:cNvPr id="90" name="card-308"/>
          <p:cNvSpPr/>
          <p:nvPr/>
        </p:nvSpPr>
        <p:spPr>
          <a:xfrm>
            <a:off x="6062472" y="3749040"/>
            <a:ext cx="2624328" cy="960120"/>
          </a:xfrm>
          <a:prstGeom prst="roundRect">
            <a:avLst>
              <a:gd name="adj" fmla="val 7619"/>
            </a:avLst>
          </a:prstGeom>
          <a:solidFill>
            <a:schemeClr val="accent1">
              <a:alpha val="12000"/>
            </a:schemeClr>
          </a:solidFill>
          <a:ln/>
        </p:spPr>
      </p:sp>
      <p:sp>
        <p:nvSpPr>
          <p:cNvPr id="91" name="txt-309"/>
          <p:cNvSpPr txBox="1"/>
          <p:nvPr/>
        </p:nvSpPr>
        <p:spPr>
          <a:xfrm>
            <a:off x="6199632" y="3858768"/>
            <a:ext cx="2377440" cy="201168"/>
          </a:xfrm>
          <a:prstGeom prst="rect">
            <a:avLst/>
          </a:prstGeom>
          <a:noFill/>
          <a:ln/>
        </p:spPr>
        <p:txBody>
          <a:bodyPr wrap="square" lIns="0" tIns="0" rIns="0" bIns="0" rtlCol="0" anchor="ctr"/>
          <a:lstStyle/>
          <a:p>
            <a:pPr indent="0" marL="0">
              <a:buNone/>
            </a:pPr>
            <a:r>
              <a:rPr lang="en-US" sz="1100" b="1" spc="100" kern="0" dirty="0">
                <a:solidFill>
                  <a:schemeClr val="accent1"/>
                </a:solidFill>
              </a:rPr>
              <a:t>RANK OF “RISES A BIT…” · RUN 42</a:t>
            </a:r>
            <a:endParaRPr lang="en-US" sz="1100" dirty="0"/>
          </a:p>
        </p:txBody>
      </p:sp>
      <p:sp>
        <p:nvSpPr>
          <p:cNvPr id="92" name="txt-310"/>
          <p:cNvSpPr txBox="1"/>
          <p:nvPr/>
        </p:nvSpPr>
        <p:spPr>
          <a:xfrm>
            <a:off x="6199632" y="4078224"/>
            <a:ext cx="109728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 → 29</a:t>
            </a:r>
            <a:endParaRPr lang="en-US" sz="2600" dirty="0"/>
          </a:p>
        </p:txBody>
      </p:sp>
      <p:sp>
        <p:nvSpPr>
          <p:cNvPr id="93" name="txt-311"/>
          <p:cNvSpPr txBox="1"/>
          <p:nvPr/>
        </p:nvSpPr>
        <p:spPr>
          <a:xfrm>
            <a:off x="7251192" y="4169664"/>
            <a:ext cx="1188720" cy="292608"/>
          </a:xfrm>
          <a:prstGeom prst="rect">
            <a:avLst/>
          </a:prstGeom>
          <a:noFill/>
          <a:ln/>
        </p:spPr>
        <p:txBody>
          <a:bodyPr wrap="square" lIns="0" tIns="0" rIns="0" bIns="0" rtlCol="0" anchor="ctr"/>
          <a:lstStyle/>
          <a:p>
            <a:pPr indent="0" marL="0">
              <a:buNone/>
            </a:pPr>
            <a:r>
              <a:rPr lang="en-US" sz="1200" dirty="0">
                <a:solidFill>
                  <a:schemeClr val="tx2"/>
                </a:solidFill>
              </a:rPr>
              <a:t>of 386</a:t>
            </a:r>
            <a:endParaRPr lang="en-US" sz="1200" dirty="0"/>
          </a:p>
        </p:txBody>
      </p:sp>
      <p:sp>
        <p:nvSpPr>
          <p:cNvPr id="94" name="txt-312"/>
          <p:cNvSpPr txBox="1"/>
          <p:nvPr/>
        </p:nvSpPr>
        <p:spPr>
          <a:xfrm>
            <a:off x="6199632" y="4480560"/>
            <a:ext cx="2395728" cy="201168"/>
          </a:xfrm>
          <a:prstGeom prst="rect">
            <a:avLst/>
          </a:prstGeom>
          <a:noFill/>
          <a:ln/>
        </p:spPr>
        <p:txBody>
          <a:bodyPr wrap="square" lIns="0" tIns="0" rIns="0" bIns="0" rtlCol="0" anchor="ctr"/>
          <a:lstStyle/>
          <a:p>
            <a:pPr indent="0" marL="0">
              <a:buNone/>
            </a:pPr>
            <a:r>
              <a:rPr lang="en-US" sz="1000" dirty="0">
                <a:solidFill>
                  <a:schemeClr val="tx2"/>
                </a:solidFill>
              </a:rPr>
              <a:t>runs 43, 44 (other draws): 19, 29</a:t>
            </a:r>
            <a:endParaRPr lang="en-US" sz="1000" dirty="0"/>
          </a:p>
        </p:txBody>
      </p:sp>
      <p:sp>
        <p:nvSpPr>
          <p:cNvPr id="25" name="Slide Number Placeholder 0"/>
          <p:cNvSpPr>
            <a:spLocks noGrp="1"/>
          </p:cNvSpPr>
          <p:nvPr>
            <p:ph type="sldNum" sz="quarter" idx="4294967295"/>
          </p:nvPr>
        </p:nvSpPr>
        <p:spPr>
          <a:xfrm>
            <a:off x="832104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566928"/>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First-half shuffle</a:t>
            </a:r>
            <a:endParaRPr lang="en-US" sz="3400" dirty="0"/>
          </a:p>
        </p:txBody>
      </p:sp>
      <p:sp>
        <p:nvSpPr>
          <p:cNvPr id="3" name="Text 0"/>
          <p:cNvSpPr/>
          <p:nvPr>
            <p:ph idx="101" type="body" hasCustomPrompt="1"/>
          </p:nvPr>
        </p:nvSpPr>
        <p:spPr>
          <a:xfrm>
            <a:off x="457200" y="822960"/>
            <a:ext cx="8229600" cy="365760"/>
          </a:xfrm>
          <a:prstGeom prst="rect">
            <a:avLst/>
          </a:prstGeom>
          <a:noFill/>
          <a:ln/>
        </p:spPr>
        <p:txBody>
          <a:bodyPr wrap="square" lIns="0" tIns="0" rIns="0" bIns="0" rtlCol="0" anchor="t"/>
          <a:lstStyle/>
          <a:p>
            <a:pPr algn="l" indent="0" marL="0">
              <a:buNone/>
            </a:pPr>
            <a:r>
              <a:rPr lang="en-US" sz="1500" dirty="0">
                <a:solidFill>
                  <a:schemeClr val="tx2"/>
                </a:solidFill>
              </a:rPr>
              <a:t>Only steps 1–6 are permuted; steps 7–12 stay exactly where they were</a:t>
            </a:r>
            <a:endParaRPr lang="en-US" sz="1500" dirty="0"/>
          </a:p>
        </p:txBody>
      </p:sp>
      <p:sp>
        <p:nvSpPr>
          <p:cNvPr id="4" name="pill-313"/>
          <p:cNvSpPr/>
          <p:nvPr/>
        </p:nvSpPr>
        <p:spPr>
          <a:xfrm>
            <a:off x="7589520" y="384048"/>
            <a:ext cx="1097280" cy="310896"/>
          </a:xfrm>
          <a:prstGeom prst="roundRect">
            <a:avLst>
              <a:gd name="adj" fmla="val 50000"/>
            </a:avLst>
          </a:prstGeom>
          <a:solidFill>
            <a:schemeClr val="accent2"/>
          </a:solidFill>
          <a:ln/>
        </p:spPr>
      </p:sp>
      <p:sp>
        <p:nvSpPr>
          <p:cNvPr id="5" name="txt-314"/>
          <p:cNvSpPr txBox="1"/>
          <p:nvPr/>
        </p:nvSpPr>
        <p:spPr>
          <a:xfrm>
            <a:off x="7589520" y="384048"/>
            <a:ext cx="1097280" cy="310896"/>
          </a:xfrm>
          <a:prstGeom prst="rect">
            <a:avLst/>
          </a:prstGeom>
          <a:noFill/>
          <a:ln/>
        </p:spPr>
        <p:txBody>
          <a:bodyPr wrap="square" lIns="0" tIns="0" rIns="0" bIns="0" rtlCol="0" anchor="ctr"/>
          <a:lstStyle/>
          <a:p>
            <a:pPr algn="ctr" indent="0" marL="0">
              <a:buNone/>
            </a:pPr>
            <a:r>
              <a:rPr lang="en-US" sz="1200" b="1" dirty="0">
                <a:solidFill>
                  <a:schemeClr val="bg1"/>
                </a:solidFill>
              </a:rPr>
              <a:t>sf-half</a:t>
            </a:r>
            <a:endParaRPr lang="en-US" sz="1200" dirty="0"/>
          </a:p>
        </p:txBody>
      </p:sp>
      <p:sp>
        <p:nvSpPr>
          <p:cNvPr id="6" name="txt-315"/>
          <p:cNvSpPr txBox="1"/>
          <p:nvPr/>
        </p:nvSpPr>
        <p:spPr>
          <a:xfrm>
            <a:off x="457200" y="1325880"/>
            <a:ext cx="2743200" cy="201168"/>
          </a:xfrm>
          <a:prstGeom prst="rect">
            <a:avLst/>
          </a:prstGeom>
          <a:noFill/>
          <a:ln/>
        </p:spPr>
        <p:txBody>
          <a:bodyPr wrap="square" lIns="0" tIns="0" rIns="0" bIns="0" rtlCol="0" anchor="ctr"/>
          <a:lstStyle/>
          <a:p>
            <a:pPr indent="0" marL="0">
              <a:buNone/>
            </a:pPr>
            <a:r>
              <a:rPr lang="en-US" sz="1100" b="1" spc="100" kern="0" dirty="0">
                <a:solidFill>
                  <a:schemeClr val="tx2"/>
                </a:solidFill>
              </a:rPr>
              <a:t>ORIGINAL</a:t>
            </a:r>
            <a:endParaRPr lang="en-US" sz="1100" dirty="0"/>
          </a:p>
        </p:txBody>
      </p:sp>
      <p:sp>
        <p:nvSpPr>
          <p:cNvPr id="7" name="tile-316"/>
          <p:cNvSpPr/>
          <p:nvPr/>
        </p:nvSpPr>
        <p:spPr>
          <a:xfrm>
            <a:off x="457200"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8" name="txt-317"/>
          <p:cNvSpPr txBox="1"/>
          <p:nvPr/>
        </p:nvSpPr>
        <p:spPr>
          <a:xfrm>
            <a:off x="457200"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a</a:t>
            </a:r>
            <a:endParaRPr lang="en-US" sz="1100" dirty="0"/>
          </a:p>
        </p:txBody>
      </p:sp>
      <p:sp>
        <p:nvSpPr>
          <p:cNvPr id="9" name="txt-318"/>
          <p:cNvSpPr txBox="1"/>
          <p:nvPr/>
        </p:nvSpPr>
        <p:spPr>
          <a:xfrm>
            <a:off x="457200"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10" name="tile-319"/>
          <p:cNvSpPr/>
          <p:nvPr/>
        </p:nvSpPr>
        <p:spPr>
          <a:xfrm>
            <a:off x="841248"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11" name="txt-320"/>
          <p:cNvSpPr txBox="1"/>
          <p:nvPr/>
        </p:nvSpPr>
        <p:spPr>
          <a:xfrm>
            <a:off x="841248"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b</a:t>
            </a:r>
            <a:endParaRPr lang="en-US" sz="1100" dirty="0"/>
          </a:p>
        </p:txBody>
      </p:sp>
      <p:sp>
        <p:nvSpPr>
          <p:cNvPr id="12" name="txt-321"/>
          <p:cNvSpPr txBox="1"/>
          <p:nvPr/>
        </p:nvSpPr>
        <p:spPr>
          <a:xfrm>
            <a:off x="841248"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13" name="tile-322"/>
          <p:cNvSpPr/>
          <p:nvPr/>
        </p:nvSpPr>
        <p:spPr>
          <a:xfrm>
            <a:off x="1225296"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14" name="txt-323"/>
          <p:cNvSpPr txBox="1"/>
          <p:nvPr/>
        </p:nvSpPr>
        <p:spPr>
          <a:xfrm>
            <a:off x="1225296"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c</a:t>
            </a:r>
            <a:endParaRPr lang="en-US" sz="1100" dirty="0"/>
          </a:p>
        </p:txBody>
      </p:sp>
      <p:sp>
        <p:nvSpPr>
          <p:cNvPr id="15" name="txt-324"/>
          <p:cNvSpPr txBox="1"/>
          <p:nvPr/>
        </p:nvSpPr>
        <p:spPr>
          <a:xfrm>
            <a:off x="1225296"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16" name="tile-325"/>
          <p:cNvSpPr/>
          <p:nvPr/>
        </p:nvSpPr>
        <p:spPr>
          <a:xfrm>
            <a:off x="1609344"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17" name="txt-326"/>
          <p:cNvSpPr txBox="1"/>
          <p:nvPr/>
        </p:nvSpPr>
        <p:spPr>
          <a:xfrm>
            <a:off x="1609344"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d</a:t>
            </a:r>
            <a:endParaRPr lang="en-US" sz="1100" dirty="0"/>
          </a:p>
        </p:txBody>
      </p:sp>
      <p:sp>
        <p:nvSpPr>
          <p:cNvPr id="18" name="txt-327"/>
          <p:cNvSpPr txBox="1"/>
          <p:nvPr/>
        </p:nvSpPr>
        <p:spPr>
          <a:xfrm>
            <a:off x="1609344"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19" name="tile-328"/>
          <p:cNvSpPr/>
          <p:nvPr/>
        </p:nvSpPr>
        <p:spPr>
          <a:xfrm>
            <a:off x="1993392"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20" name="txt-329"/>
          <p:cNvSpPr txBox="1"/>
          <p:nvPr/>
        </p:nvSpPr>
        <p:spPr>
          <a:xfrm>
            <a:off x="1993392"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e</a:t>
            </a:r>
            <a:endParaRPr lang="en-US" sz="1100" dirty="0"/>
          </a:p>
        </p:txBody>
      </p:sp>
      <p:sp>
        <p:nvSpPr>
          <p:cNvPr id="21" name="txt-330"/>
          <p:cNvSpPr txBox="1"/>
          <p:nvPr/>
        </p:nvSpPr>
        <p:spPr>
          <a:xfrm>
            <a:off x="1993392"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22" name="tile-331"/>
          <p:cNvSpPr/>
          <p:nvPr/>
        </p:nvSpPr>
        <p:spPr>
          <a:xfrm>
            <a:off x="2377440"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23" name="txt-332"/>
          <p:cNvSpPr txBox="1"/>
          <p:nvPr/>
        </p:nvSpPr>
        <p:spPr>
          <a:xfrm>
            <a:off x="2377440"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f</a:t>
            </a:r>
            <a:endParaRPr lang="en-US" sz="1100" dirty="0"/>
          </a:p>
        </p:txBody>
      </p:sp>
      <p:sp>
        <p:nvSpPr>
          <p:cNvPr id="24" name="txt-333"/>
          <p:cNvSpPr txBox="1"/>
          <p:nvPr/>
        </p:nvSpPr>
        <p:spPr>
          <a:xfrm>
            <a:off x="2377440"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25" name="tile-334"/>
          <p:cNvSpPr/>
          <p:nvPr/>
        </p:nvSpPr>
        <p:spPr>
          <a:xfrm>
            <a:off x="2907792"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26" name="txt-335"/>
          <p:cNvSpPr txBox="1"/>
          <p:nvPr/>
        </p:nvSpPr>
        <p:spPr>
          <a:xfrm>
            <a:off x="2907792"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g</a:t>
            </a:r>
            <a:endParaRPr lang="en-US" sz="1100" dirty="0"/>
          </a:p>
        </p:txBody>
      </p:sp>
      <p:sp>
        <p:nvSpPr>
          <p:cNvPr id="27" name="txt-336"/>
          <p:cNvSpPr txBox="1"/>
          <p:nvPr/>
        </p:nvSpPr>
        <p:spPr>
          <a:xfrm>
            <a:off x="2907792"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20</a:t>
            </a:r>
            <a:endParaRPr lang="en-US" sz="1400" dirty="0"/>
          </a:p>
        </p:txBody>
      </p:sp>
      <p:sp>
        <p:nvSpPr>
          <p:cNvPr id="28" name="tile-337"/>
          <p:cNvSpPr/>
          <p:nvPr/>
        </p:nvSpPr>
        <p:spPr>
          <a:xfrm>
            <a:off x="3291840"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29" name="txt-338"/>
          <p:cNvSpPr txBox="1"/>
          <p:nvPr/>
        </p:nvSpPr>
        <p:spPr>
          <a:xfrm>
            <a:off x="3291840"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h</a:t>
            </a:r>
            <a:endParaRPr lang="en-US" sz="1100" dirty="0"/>
          </a:p>
        </p:txBody>
      </p:sp>
      <p:sp>
        <p:nvSpPr>
          <p:cNvPr id="30" name="txt-339"/>
          <p:cNvSpPr txBox="1"/>
          <p:nvPr/>
        </p:nvSpPr>
        <p:spPr>
          <a:xfrm>
            <a:off x="3291840"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34</a:t>
            </a:r>
            <a:endParaRPr lang="en-US" sz="1400" dirty="0"/>
          </a:p>
        </p:txBody>
      </p:sp>
      <p:sp>
        <p:nvSpPr>
          <p:cNvPr id="31" name="tile-340"/>
          <p:cNvSpPr/>
          <p:nvPr/>
        </p:nvSpPr>
        <p:spPr>
          <a:xfrm>
            <a:off x="3675888"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32" name="txt-341"/>
          <p:cNvSpPr txBox="1"/>
          <p:nvPr/>
        </p:nvSpPr>
        <p:spPr>
          <a:xfrm>
            <a:off x="3675888"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i</a:t>
            </a:r>
            <a:endParaRPr lang="en-US" sz="1100" dirty="0"/>
          </a:p>
        </p:txBody>
      </p:sp>
      <p:sp>
        <p:nvSpPr>
          <p:cNvPr id="33" name="txt-342"/>
          <p:cNvSpPr txBox="1"/>
          <p:nvPr/>
        </p:nvSpPr>
        <p:spPr>
          <a:xfrm>
            <a:off x="3675888"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35</a:t>
            </a:r>
            <a:endParaRPr lang="en-US" sz="1400" dirty="0"/>
          </a:p>
        </p:txBody>
      </p:sp>
      <p:sp>
        <p:nvSpPr>
          <p:cNvPr id="34" name="tile-343"/>
          <p:cNvSpPr/>
          <p:nvPr/>
        </p:nvSpPr>
        <p:spPr>
          <a:xfrm>
            <a:off x="4059936"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35" name="txt-344"/>
          <p:cNvSpPr txBox="1"/>
          <p:nvPr/>
        </p:nvSpPr>
        <p:spPr>
          <a:xfrm>
            <a:off x="4059936"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j</a:t>
            </a:r>
            <a:endParaRPr lang="en-US" sz="1100" dirty="0"/>
          </a:p>
        </p:txBody>
      </p:sp>
      <p:sp>
        <p:nvSpPr>
          <p:cNvPr id="36" name="txt-345"/>
          <p:cNvSpPr txBox="1"/>
          <p:nvPr/>
        </p:nvSpPr>
        <p:spPr>
          <a:xfrm>
            <a:off x="4059936"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33</a:t>
            </a:r>
            <a:endParaRPr lang="en-US" sz="1400" dirty="0"/>
          </a:p>
        </p:txBody>
      </p:sp>
      <p:sp>
        <p:nvSpPr>
          <p:cNvPr id="37" name="tile-346"/>
          <p:cNvSpPr/>
          <p:nvPr/>
        </p:nvSpPr>
        <p:spPr>
          <a:xfrm>
            <a:off x="4443984"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38" name="txt-347"/>
          <p:cNvSpPr txBox="1"/>
          <p:nvPr/>
        </p:nvSpPr>
        <p:spPr>
          <a:xfrm>
            <a:off x="4443984"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k</a:t>
            </a:r>
            <a:endParaRPr lang="en-US" sz="1100" dirty="0"/>
          </a:p>
        </p:txBody>
      </p:sp>
      <p:sp>
        <p:nvSpPr>
          <p:cNvPr id="39" name="txt-348"/>
          <p:cNvSpPr txBox="1"/>
          <p:nvPr/>
        </p:nvSpPr>
        <p:spPr>
          <a:xfrm>
            <a:off x="4443984"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35</a:t>
            </a:r>
            <a:endParaRPr lang="en-US" sz="1400" dirty="0"/>
          </a:p>
        </p:txBody>
      </p:sp>
      <p:sp>
        <p:nvSpPr>
          <p:cNvPr id="40" name="tile-349"/>
          <p:cNvSpPr/>
          <p:nvPr/>
        </p:nvSpPr>
        <p:spPr>
          <a:xfrm>
            <a:off x="4828032"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41" name="txt-350"/>
          <p:cNvSpPr txBox="1"/>
          <p:nvPr/>
        </p:nvSpPr>
        <p:spPr>
          <a:xfrm>
            <a:off x="4828032"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l</a:t>
            </a:r>
            <a:endParaRPr lang="en-US" sz="1100" dirty="0"/>
          </a:p>
        </p:txBody>
      </p:sp>
      <p:sp>
        <p:nvSpPr>
          <p:cNvPr id="42" name="txt-351"/>
          <p:cNvSpPr txBox="1"/>
          <p:nvPr/>
        </p:nvSpPr>
        <p:spPr>
          <a:xfrm>
            <a:off x="4828032"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32</a:t>
            </a:r>
            <a:endParaRPr lang="en-US" sz="1400" dirty="0"/>
          </a:p>
        </p:txBody>
      </p:sp>
      <p:sp>
        <p:nvSpPr>
          <p:cNvPr id="43" name="txt-352"/>
          <p:cNvSpPr txBox="1"/>
          <p:nvPr/>
        </p:nvSpPr>
        <p:spPr>
          <a:xfrm>
            <a:off x="2724912" y="1572768"/>
            <a:ext cx="182880" cy="566928"/>
          </a:xfrm>
          <a:prstGeom prst="rect">
            <a:avLst/>
          </a:prstGeom>
          <a:noFill/>
          <a:ln/>
        </p:spPr>
        <p:txBody>
          <a:bodyPr wrap="square" lIns="0" tIns="0" rIns="0" bIns="0" rtlCol="0" anchor="ctr"/>
          <a:lstStyle/>
          <a:p>
            <a:pPr algn="ctr" indent="0" marL="0">
              <a:buNone/>
            </a:pPr>
            <a:r>
              <a:rPr lang="en-US" sz="1800" dirty="0">
                <a:solidFill>
                  <a:schemeClr val="tx2"/>
                </a:solidFill>
              </a:rPr>
              <a:t>/</a:t>
            </a:r>
            <a:endParaRPr lang="en-US" sz="1800" dirty="0"/>
          </a:p>
        </p:txBody>
      </p:sp>
      <p:sp>
        <p:nvSpPr>
          <p:cNvPr id="44" name="txt-353"/>
          <p:cNvSpPr txBox="1"/>
          <p:nvPr/>
        </p:nvSpPr>
        <p:spPr>
          <a:xfrm>
            <a:off x="457200" y="2286000"/>
            <a:ext cx="3657600" cy="201168"/>
          </a:xfrm>
          <a:prstGeom prst="rect">
            <a:avLst/>
          </a:prstGeom>
          <a:noFill/>
          <a:ln/>
        </p:spPr>
        <p:txBody>
          <a:bodyPr wrap="square" lIns="0" tIns="0" rIns="0" bIns="0" rtlCol="0" anchor="ctr"/>
          <a:lstStyle/>
          <a:p>
            <a:pPr indent="0" marL="0">
              <a:buNone/>
            </a:pPr>
            <a:r>
              <a:rPr lang="en-US" sz="1100" b="1" spc="100" kern="0" dirty="0">
                <a:solidFill>
                  <a:schemeClr val="accent2"/>
                </a:solidFill>
              </a:rPr>
              <a:t>FIRST-HALF SHUFFLE · RUN 42</a:t>
            </a:r>
            <a:endParaRPr lang="en-US" sz="1100" dirty="0"/>
          </a:p>
        </p:txBody>
      </p:sp>
      <p:sp>
        <p:nvSpPr>
          <p:cNvPr id="45" name="tile-354"/>
          <p:cNvSpPr/>
          <p:nvPr/>
        </p:nvSpPr>
        <p:spPr>
          <a:xfrm>
            <a:off x="457200"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46" name="txt-355"/>
          <p:cNvSpPr txBox="1"/>
          <p:nvPr/>
        </p:nvSpPr>
        <p:spPr>
          <a:xfrm>
            <a:off x="457200"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e</a:t>
            </a:r>
            <a:endParaRPr lang="en-US" sz="1100" dirty="0"/>
          </a:p>
        </p:txBody>
      </p:sp>
      <p:sp>
        <p:nvSpPr>
          <p:cNvPr id="47" name="txt-356"/>
          <p:cNvSpPr txBox="1"/>
          <p:nvPr/>
        </p:nvSpPr>
        <p:spPr>
          <a:xfrm>
            <a:off x="457200"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48" name="tile-357"/>
          <p:cNvSpPr/>
          <p:nvPr/>
        </p:nvSpPr>
        <p:spPr>
          <a:xfrm>
            <a:off x="841248"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49" name="txt-358"/>
          <p:cNvSpPr txBox="1"/>
          <p:nvPr/>
        </p:nvSpPr>
        <p:spPr>
          <a:xfrm>
            <a:off x="841248"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b</a:t>
            </a:r>
            <a:endParaRPr lang="en-US" sz="1100" dirty="0"/>
          </a:p>
        </p:txBody>
      </p:sp>
      <p:sp>
        <p:nvSpPr>
          <p:cNvPr id="50" name="txt-359"/>
          <p:cNvSpPr txBox="1"/>
          <p:nvPr/>
        </p:nvSpPr>
        <p:spPr>
          <a:xfrm>
            <a:off x="841248"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51" name="tile-360"/>
          <p:cNvSpPr/>
          <p:nvPr/>
        </p:nvSpPr>
        <p:spPr>
          <a:xfrm>
            <a:off x="1225296"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52" name="txt-361"/>
          <p:cNvSpPr txBox="1"/>
          <p:nvPr/>
        </p:nvSpPr>
        <p:spPr>
          <a:xfrm>
            <a:off x="1225296"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d</a:t>
            </a:r>
            <a:endParaRPr lang="en-US" sz="1100" dirty="0"/>
          </a:p>
        </p:txBody>
      </p:sp>
      <p:sp>
        <p:nvSpPr>
          <p:cNvPr id="53" name="txt-362"/>
          <p:cNvSpPr txBox="1"/>
          <p:nvPr/>
        </p:nvSpPr>
        <p:spPr>
          <a:xfrm>
            <a:off x="1225296"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54" name="tile-363"/>
          <p:cNvSpPr/>
          <p:nvPr/>
        </p:nvSpPr>
        <p:spPr>
          <a:xfrm>
            <a:off x="1609344"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55" name="txt-364"/>
          <p:cNvSpPr txBox="1"/>
          <p:nvPr/>
        </p:nvSpPr>
        <p:spPr>
          <a:xfrm>
            <a:off x="1609344"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a</a:t>
            </a:r>
            <a:endParaRPr lang="en-US" sz="1100" dirty="0"/>
          </a:p>
        </p:txBody>
      </p:sp>
      <p:sp>
        <p:nvSpPr>
          <p:cNvPr id="56" name="txt-365"/>
          <p:cNvSpPr txBox="1"/>
          <p:nvPr/>
        </p:nvSpPr>
        <p:spPr>
          <a:xfrm>
            <a:off x="1609344"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57" name="tile-366"/>
          <p:cNvSpPr/>
          <p:nvPr/>
        </p:nvSpPr>
        <p:spPr>
          <a:xfrm>
            <a:off x="1993392"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58" name="txt-367"/>
          <p:cNvSpPr txBox="1"/>
          <p:nvPr/>
        </p:nvSpPr>
        <p:spPr>
          <a:xfrm>
            <a:off x="1993392"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c</a:t>
            </a:r>
            <a:endParaRPr lang="en-US" sz="1100" dirty="0"/>
          </a:p>
        </p:txBody>
      </p:sp>
      <p:sp>
        <p:nvSpPr>
          <p:cNvPr id="59" name="txt-368"/>
          <p:cNvSpPr txBox="1"/>
          <p:nvPr/>
        </p:nvSpPr>
        <p:spPr>
          <a:xfrm>
            <a:off x="1993392"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60" name="tile-369"/>
          <p:cNvSpPr/>
          <p:nvPr/>
        </p:nvSpPr>
        <p:spPr>
          <a:xfrm>
            <a:off x="2377440"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61" name="txt-370"/>
          <p:cNvSpPr txBox="1"/>
          <p:nvPr/>
        </p:nvSpPr>
        <p:spPr>
          <a:xfrm>
            <a:off x="2377440"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f</a:t>
            </a:r>
            <a:endParaRPr lang="en-US" sz="1100" dirty="0"/>
          </a:p>
        </p:txBody>
      </p:sp>
      <p:sp>
        <p:nvSpPr>
          <p:cNvPr id="62" name="txt-371"/>
          <p:cNvSpPr txBox="1"/>
          <p:nvPr/>
        </p:nvSpPr>
        <p:spPr>
          <a:xfrm>
            <a:off x="2377440"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63" name="tile-372"/>
          <p:cNvSpPr/>
          <p:nvPr/>
        </p:nvSpPr>
        <p:spPr>
          <a:xfrm>
            <a:off x="2907792"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64" name="txt-373"/>
          <p:cNvSpPr txBox="1"/>
          <p:nvPr/>
        </p:nvSpPr>
        <p:spPr>
          <a:xfrm>
            <a:off x="2907792"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g</a:t>
            </a:r>
            <a:endParaRPr lang="en-US" sz="1100" dirty="0"/>
          </a:p>
        </p:txBody>
      </p:sp>
      <p:sp>
        <p:nvSpPr>
          <p:cNvPr id="65" name="txt-374"/>
          <p:cNvSpPr txBox="1"/>
          <p:nvPr/>
        </p:nvSpPr>
        <p:spPr>
          <a:xfrm>
            <a:off x="2907792"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20</a:t>
            </a:r>
            <a:endParaRPr lang="en-US" sz="1400" dirty="0"/>
          </a:p>
        </p:txBody>
      </p:sp>
      <p:sp>
        <p:nvSpPr>
          <p:cNvPr id="66" name="tile-375"/>
          <p:cNvSpPr/>
          <p:nvPr/>
        </p:nvSpPr>
        <p:spPr>
          <a:xfrm>
            <a:off x="3291840"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67" name="txt-376"/>
          <p:cNvSpPr txBox="1"/>
          <p:nvPr/>
        </p:nvSpPr>
        <p:spPr>
          <a:xfrm>
            <a:off x="3291840"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h</a:t>
            </a:r>
            <a:endParaRPr lang="en-US" sz="1100" dirty="0"/>
          </a:p>
        </p:txBody>
      </p:sp>
      <p:sp>
        <p:nvSpPr>
          <p:cNvPr id="68" name="txt-377"/>
          <p:cNvSpPr txBox="1"/>
          <p:nvPr/>
        </p:nvSpPr>
        <p:spPr>
          <a:xfrm>
            <a:off x="3291840"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34</a:t>
            </a:r>
            <a:endParaRPr lang="en-US" sz="1400" dirty="0"/>
          </a:p>
        </p:txBody>
      </p:sp>
      <p:sp>
        <p:nvSpPr>
          <p:cNvPr id="69" name="tile-378"/>
          <p:cNvSpPr/>
          <p:nvPr/>
        </p:nvSpPr>
        <p:spPr>
          <a:xfrm>
            <a:off x="3675888"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70" name="txt-379"/>
          <p:cNvSpPr txBox="1"/>
          <p:nvPr/>
        </p:nvSpPr>
        <p:spPr>
          <a:xfrm>
            <a:off x="3675888"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i</a:t>
            </a:r>
            <a:endParaRPr lang="en-US" sz="1100" dirty="0"/>
          </a:p>
        </p:txBody>
      </p:sp>
      <p:sp>
        <p:nvSpPr>
          <p:cNvPr id="71" name="txt-380"/>
          <p:cNvSpPr txBox="1"/>
          <p:nvPr/>
        </p:nvSpPr>
        <p:spPr>
          <a:xfrm>
            <a:off x="3675888"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35</a:t>
            </a:r>
            <a:endParaRPr lang="en-US" sz="1400" dirty="0"/>
          </a:p>
        </p:txBody>
      </p:sp>
      <p:sp>
        <p:nvSpPr>
          <p:cNvPr id="72" name="tile-381"/>
          <p:cNvSpPr/>
          <p:nvPr/>
        </p:nvSpPr>
        <p:spPr>
          <a:xfrm>
            <a:off x="4059936"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73" name="txt-382"/>
          <p:cNvSpPr txBox="1"/>
          <p:nvPr/>
        </p:nvSpPr>
        <p:spPr>
          <a:xfrm>
            <a:off x="4059936"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j</a:t>
            </a:r>
            <a:endParaRPr lang="en-US" sz="1100" dirty="0"/>
          </a:p>
        </p:txBody>
      </p:sp>
      <p:sp>
        <p:nvSpPr>
          <p:cNvPr id="74" name="txt-383"/>
          <p:cNvSpPr txBox="1"/>
          <p:nvPr/>
        </p:nvSpPr>
        <p:spPr>
          <a:xfrm>
            <a:off x="4059936"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33</a:t>
            </a:r>
            <a:endParaRPr lang="en-US" sz="1400" dirty="0"/>
          </a:p>
        </p:txBody>
      </p:sp>
      <p:sp>
        <p:nvSpPr>
          <p:cNvPr id="75" name="tile-384"/>
          <p:cNvSpPr/>
          <p:nvPr/>
        </p:nvSpPr>
        <p:spPr>
          <a:xfrm>
            <a:off x="4443984"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76" name="txt-385"/>
          <p:cNvSpPr txBox="1"/>
          <p:nvPr/>
        </p:nvSpPr>
        <p:spPr>
          <a:xfrm>
            <a:off x="4443984"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k</a:t>
            </a:r>
            <a:endParaRPr lang="en-US" sz="1100" dirty="0"/>
          </a:p>
        </p:txBody>
      </p:sp>
      <p:sp>
        <p:nvSpPr>
          <p:cNvPr id="77" name="txt-386"/>
          <p:cNvSpPr txBox="1"/>
          <p:nvPr/>
        </p:nvSpPr>
        <p:spPr>
          <a:xfrm>
            <a:off x="4443984"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35</a:t>
            </a:r>
            <a:endParaRPr lang="en-US" sz="1400" dirty="0"/>
          </a:p>
        </p:txBody>
      </p:sp>
      <p:sp>
        <p:nvSpPr>
          <p:cNvPr id="78" name="tile-387"/>
          <p:cNvSpPr/>
          <p:nvPr/>
        </p:nvSpPr>
        <p:spPr>
          <a:xfrm>
            <a:off x="4828032"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79" name="txt-388"/>
          <p:cNvSpPr txBox="1"/>
          <p:nvPr/>
        </p:nvSpPr>
        <p:spPr>
          <a:xfrm>
            <a:off x="4828032"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l</a:t>
            </a:r>
            <a:endParaRPr lang="en-US" sz="1100" dirty="0"/>
          </a:p>
        </p:txBody>
      </p:sp>
      <p:sp>
        <p:nvSpPr>
          <p:cNvPr id="80" name="txt-389"/>
          <p:cNvSpPr txBox="1"/>
          <p:nvPr/>
        </p:nvSpPr>
        <p:spPr>
          <a:xfrm>
            <a:off x="4828032"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32</a:t>
            </a:r>
            <a:endParaRPr lang="en-US" sz="1400" dirty="0"/>
          </a:p>
        </p:txBody>
      </p:sp>
      <p:sp>
        <p:nvSpPr>
          <p:cNvPr id="81" name="txt-390"/>
          <p:cNvSpPr txBox="1"/>
          <p:nvPr/>
        </p:nvSpPr>
        <p:spPr>
          <a:xfrm>
            <a:off x="2724912" y="2532888"/>
            <a:ext cx="182880" cy="566928"/>
          </a:xfrm>
          <a:prstGeom prst="rect">
            <a:avLst/>
          </a:prstGeom>
          <a:noFill/>
          <a:ln/>
        </p:spPr>
        <p:txBody>
          <a:bodyPr wrap="square" lIns="0" tIns="0" rIns="0" bIns="0" rtlCol="0" anchor="ctr"/>
          <a:lstStyle/>
          <a:p>
            <a:pPr algn="ctr" indent="0" marL="0">
              <a:buNone/>
            </a:pPr>
            <a:r>
              <a:rPr lang="en-US" sz="1800" dirty="0">
                <a:solidFill>
                  <a:schemeClr val="tx2"/>
                </a:solidFill>
              </a:rPr>
              <a:t>/</a:t>
            </a:r>
            <a:endParaRPr lang="en-US" sz="1800" dirty="0"/>
          </a:p>
        </p:txBody>
      </p:sp>
      <p:sp>
        <p:nvSpPr>
          <p:cNvPr id="82" name="txt-391"/>
          <p:cNvSpPr txBox="1"/>
          <p:nvPr/>
        </p:nvSpPr>
        <p:spPr>
          <a:xfrm>
            <a:off x="457200" y="3200400"/>
            <a:ext cx="4754880" cy="411480"/>
          </a:xfrm>
          <a:prstGeom prst="rect">
            <a:avLst/>
          </a:prstGeom>
          <a:noFill/>
          <a:ln/>
        </p:spPr>
        <p:txBody>
          <a:bodyPr wrap="square" lIns="0" tIns="0" rIns="0" bIns="0" rtlCol="0" anchor="ctr"/>
          <a:lstStyle/>
          <a:p>
            <a:pPr indent="0" marL="0">
              <a:buNone/>
            </a:pPr>
            <a:r>
              <a:rPr lang="en-US" sz="1100" dirty="0">
                <a:solidFill>
                  <a:schemeClr val="tx2"/>
                </a:solidFill>
              </a:rPr>
              <a:t>Tiles keep their colour (teal = started in the first half, amber = second half), so you can follow each value.</a:t>
            </a:r>
            <a:endParaRPr lang="en-US" sz="1100" dirty="0"/>
          </a:p>
        </p:txBody>
      </p:sp>
      <p:graphicFrame>
        <p:nvGraphicFramePr>
          <p:cNvPr id="83" name="chart-truce-sf_half" descr=""/>
          <p:cNvGraphicFramePr/>
          <p:nvPr/>
        </p:nvGraphicFramePr>
        <p:xfrm>
          <a:off x="5440680" y="1261872"/>
          <a:ext cx="3246120" cy="2377440"/>
        </p:xfrm>
        <a:graphic xmlns:a="http://schemas.openxmlformats.org/drawingml/2006/main">
          <a:graphicData uri="http://schemas.openxmlformats.org/drawingml/2006/chart">
            <c:chart xmlns:c="http://schemas.openxmlformats.org/drawingml/2006/chart" r:id="rId1"/>
          </a:graphicData>
        </a:graphic>
      </p:graphicFrame>
      <p:sp>
        <p:nvSpPr>
          <p:cNvPr id="84" name="card-392"/>
          <p:cNvSpPr/>
          <p:nvPr/>
        </p:nvSpPr>
        <p:spPr>
          <a:xfrm>
            <a:off x="457200" y="3749040"/>
            <a:ext cx="2624328" cy="960120"/>
          </a:xfrm>
          <a:prstGeom prst="roundRect">
            <a:avLst>
              <a:gd name="adj" fmla="val 7619"/>
            </a:avLst>
          </a:prstGeom>
          <a:solidFill>
            <a:schemeClr val="bg2"/>
          </a:solidFill>
          <a:ln/>
        </p:spPr>
      </p:sp>
      <p:sp>
        <p:nvSpPr>
          <p:cNvPr id="85" name="txt-393"/>
          <p:cNvSpPr txBox="1"/>
          <p:nvPr/>
        </p:nvSpPr>
        <p:spPr>
          <a:xfrm>
            <a:off x="594360" y="3858768"/>
            <a:ext cx="2286000" cy="201168"/>
          </a:xfrm>
          <a:prstGeom prst="rect">
            <a:avLst/>
          </a:prstGeom>
          <a:noFill/>
          <a:ln/>
        </p:spPr>
        <p:txBody>
          <a:bodyPr wrap="square" lIns="0" tIns="0" rIns="0" bIns="0" rtlCol="0" anchor="ctr"/>
          <a:lstStyle/>
          <a:p>
            <a:pPr indent="0" marL="0">
              <a:buNone/>
            </a:pPr>
            <a:r>
              <a:rPr lang="en-US" sz="1100" b="1" spc="100" kern="0" dirty="0">
                <a:solidFill>
                  <a:schemeClr val="accent2"/>
                </a:solidFill>
              </a:rPr>
              <a:t>KEEPS</a:t>
            </a:r>
            <a:endParaRPr lang="en-US" sz="1100" dirty="0"/>
          </a:p>
        </p:txBody>
      </p:sp>
      <p:sp>
        <p:nvSpPr>
          <p:cNvPr id="86" name="txt-394"/>
          <p:cNvSpPr txBox="1"/>
          <p:nvPr/>
        </p:nvSpPr>
        <p:spPr>
          <a:xfrm>
            <a:off x="594360" y="4096512"/>
            <a:ext cx="2350008" cy="548640"/>
          </a:xfrm>
          <a:prstGeom prst="rect">
            <a:avLst/>
          </a:prstGeom>
          <a:noFill/>
          <a:ln/>
        </p:spPr>
        <p:txBody>
          <a:bodyPr wrap="square" lIns="0" tIns="0" rIns="0" bIns="0" rtlCol="0" anchor="t"/>
          <a:lstStyle/>
          <a:p>
            <a:pPr indent="0" marL="0">
              <a:buNone/>
            </a:pPr>
            <a:r>
              <a:rPr lang="en-US" sz="1400" dirty="0">
                <a:solidFill>
                  <a:schemeClr val="tx1"/>
                </a:solidFill>
              </a:rPr>
              <a:t>Steps 7–12 in place; each half keeps its own values</a:t>
            </a:r>
            <a:endParaRPr lang="en-US" sz="1400" dirty="0"/>
          </a:p>
        </p:txBody>
      </p:sp>
      <p:sp>
        <p:nvSpPr>
          <p:cNvPr id="87" name="card-395"/>
          <p:cNvSpPr/>
          <p:nvPr/>
        </p:nvSpPr>
        <p:spPr>
          <a:xfrm>
            <a:off x="3259836" y="3749040"/>
            <a:ext cx="2624328" cy="960120"/>
          </a:xfrm>
          <a:prstGeom prst="roundRect">
            <a:avLst>
              <a:gd name="adj" fmla="val 7619"/>
            </a:avLst>
          </a:prstGeom>
          <a:solidFill>
            <a:schemeClr val="bg2"/>
          </a:solidFill>
          <a:ln/>
        </p:spPr>
      </p:sp>
      <p:sp>
        <p:nvSpPr>
          <p:cNvPr id="88" name="txt-396"/>
          <p:cNvSpPr txBox="1"/>
          <p:nvPr/>
        </p:nvSpPr>
        <p:spPr>
          <a:xfrm>
            <a:off x="3396996" y="3858768"/>
            <a:ext cx="2286000" cy="201168"/>
          </a:xfrm>
          <a:prstGeom prst="rect">
            <a:avLst/>
          </a:prstGeom>
          <a:noFill/>
          <a:ln/>
        </p:spPr>
        <p:txBody>
          <a:bodyPr wrap="square" lIns="0" tIns="0" rIns="0" bIns="0" rtlCol="0" anchor="ctr"/>
          <a:lstStyle/>
          <a:p>
            <a:pPr indent="0" marL="0">
              <a:buNone/>
            </a:pPr>
            <a:r>
              <a:rPr lang="en-US" sz="1100" b="1" spc="100" kern="0" dirty="0">
                <a:solidFill>
                  <a:schemeClr val="accent5"/>
                </a:solidFill>
              </a:rPr>
              <a:t>DESTROYS</a:t>
            </a:r>
            <a:endParaRPr lang="en-US" sz="1100" dirty="0"/>
          </a:p>
        </p:txBody>
      </p:sp>
      <p:sp>
        <p:nvSpPr>
          <p:cNvPr id="89" name="txt-397"/>
          <p:cNvSpPr txBox="1"/>
          <p:nvPr/>
        </p:nvSpPr>
        <p:spPr>
          <a:xfrm>
            <a:off x="3396996" y="4096512"/>
            <a:ext cx="2350008" cy="548640"/>
          </a:xfrm>
          <a:prstGeom prst="rect">
            <a:avLst/>
          </a:prstGeom>
          <a:noFill/>
          <a:ln/>
        </p:spPr>
        <p:txBody>
          <a:bodyPr wrap="square" lIns="0" tIns="0" rIns="0" bIns="0" rtlCol="0" anchor="t"/>
          <a:lstStyle/>
          <a:p>
            <a:pPr indent="0" marL="0">
              <a:buNone/>
            </a:pPr>
            <a:r>
              <a:rPr lang="en-US" sz="1400" dirty="0">
                <a:solidFill>
                  <a:schemeClr val="tx1"/>
                </a:solidFill>
              </a:rPr>
              <a:t>Order inside steps 1–6 only (nearly flat here: 5 to 7)</a:t>
            </a:r>
            <a:endParaRPr lang="en-US" sz="1400" dirty="0"/>
          </a:p>
        </p:txBody>
      </p:sp>
      <p:sp>
        <p:nvSpPr>
          <p:cNvPr id="90" name="card-398"/>
          <p:cNvSpPr/>
          <p:nvPr/>
        </p:nvSpPr>
        <p:spPr>
          <a:xfrm>
            <a:off x="6062472" y="3749040"/>
            <a:ext cx="2624328" cy="960120"/>
          </a:xfrm>
          <a:prstGeom prst="roundRect">
            <a:avLst>
              <a:gd name="adj" fmla="val 7619"/>
            </a:avLst>
          </a:prstGeom>
          <a:solidFill>
            <a:schemeClr val="accent2">
              <a:alpha val="12000"/>
            </a:schemeClr>
          </a:solidFill>
          <a:ln/>
        </p:spPr>
      </p:sp>
      <p:sp>
        <p:nvSpPr>
          <p:cNvPr id="91" name="txt-399"/>
          <p:cNvSpPr txBox="1"/>
          <p:nvPr/>
        </p:nvSpPr>
        <p:spPr>
          <a:xfrm>
            <a:off x="6199632" y="3858768"/>
            <a:ext cx="2377440" cy="201168"/>
          </a:xfrm>
          <a:prstGeom prst="rect">
            <a:avLst/>
          </a:prstGeom>
          <a:noFill/>
          <a:ln/>
        </p:spPr>
        <p:txBody>
          <a:bodyPr wrap="square" lIns="0" tIns="0" rIns="0" bIns="0" rtlCol="0" anchor="ctr"/>
          <a:lstStyle/>
          <a:p>
            <a:pPr indent="0" marL="0">
              <a:buNone/>
            </a:pPr>
            <a:r>
              <a:rPr lang="en-US" sz="1100" b="1" spc="100" kern="0" dirty="0">
                <a:solidFill>
                  <a:schemeClr val="accent2"/>
                </a:solidFill>
              </a:rPr>
              <a:t>RANK OF “RISES A BIT…” · RUN 42</a:t>
            </a:r>
            <a:endParaRPr lang="en-US" sz="1100" dirty="0"/>
          </a:p>
        </p:txBody>
      </p:sp>
      <p:sp>
        <p:nvSpPr>
          <p:cNvPr id="92" name="txt-400"/>
          <p:cNvSpPr txBox="1"/>
          <p:nvPr/>
        </p:nvSpPr>
        <p:spPr>
          <a:xfrm>
            <a:off x="6199632" y="4078224"/>
            <a:ext cx="1097280" cy="457200"/>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1 → 1</a:t>
            </a:r>
            <a:endParaRPr lang="en-US" sz="2600" dirty="0"/>
          </a:p>
        </p:txBody>
      </p:sp>
      <p:sp>
        <p:nvSpPr>
          <p:cNvPr id="93" name="txt-401"/>
          <p:cNvSpPr txBox="1"/>
          <p:nvPr/>
        </p:nvSpPr>
        <p:spPr>
          <a:xfrm>
            <a:off x="7251192" y="4169664"/>
            <a:ext cx="1188720" cy="292608"/>
          </a:xfrm>
          <a:prstGeom prst="rect">
            <a:avLst/>
          </a:prstGeom>
          <a:noFill/>
          <a:ln/>
        </p:spPr>
        <p:txBody>
          <a:bodyPr wrap="square" lIns="0" tIns="0" rIns="0" bIns="0" rtlCol="0" anchor="ctr"/>
          <a:lstStyle/>
          <a:p>
            <a:pPr indent="0" marL="0">
              <a:buNone/>
            </a:pPr>
            <a:r>
              <a:rPr lang="en-US" sz="1200" dirty="0">
                <a:solidFill>
                  <a:schemeClr val="tx2"/>
                </a:solidFill>
              </a:rPr>
              <a:t>of 386</a:t>
            </a:r>
            <a:endParaRPr lang="en-US" sz="1200" dirty="0"/>
          </a:p>
        </p:txBody>
      </p:sp>
      <p:sp>
        <p:nvSpPr>
          <p:cNvPr id="94" name="txt-402"/>
          <p:cNvSpPr txBox="1"/>
          <p:nvPr/>
        </p:nvSpPr>
        <p:spPr>
          <a:xfrm>
            <a:off x="6199632" y="4480560"/>
            <a:ext cx="2395728" cy="201168"/>
          </a:xfrm>
          <a:prstGeom prst="rect">
            <a:avLst/>
          </a:prstGeom>
          <a:noFill/>
          <a:ln/>
        </p:spPr>
        <p:txBody>
          <a:bodyPr wrap="square" lIns="0" tIns="0" rIns="0" bIns="0" rtlCol="0" anchor="ctr"/>
          <a:lstStyle/>
          <a:p>
            <a:pPr indent="0" marL="0">
              <a:buNone/>
            </a:pPr>
            <a:r>
              <a:rPr lang="en-US" sz="1000" dirty="0">
                <a:solidFill>
                  <a:schemeClr val="tx2"/>
                </a:solidFill>
              </a:rPr>
              <a:t>runs 43, 44: 2, 2 · description still true</a:t>
            </a:r>
            <a:endParaRPr lang="en-US" sz="1000" dirty="0"/>
          </a:p>
        </p:txBody>
      </p:sp>
      <p:sp>
        <p:nvSpPr>
          <p:cNvPr id="25" name="Slide Number Placeholder 0"/>
          <p:cNvSpPr>
            <a:spLocks noGrp="1"/>
          </p:cNvSpPr>
          <p:nvPr>
            <p:ph type="sldNum" sz="quarter" idx="4294967295"/>
          </p:nvPr>
        </p:nvSpPr>
        <p:spPr>
          <a:xfrm>
            <a:off x="832104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566928"/>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Half exchange</a:t>
            </a:r>
            <a:endParaRPr lang="en-US" sz="3400" dirty="0"/>
          </a:p>
        </p:txBody>
      </p:sp>
      <p:sp>
        <p:nvSpPr>
          <p:cNvPr id="3" name="Text 0"/>
          <p:cNvSpPr/>
          <p:nvPr>
            <p:ph idx="101" type="body" hasCustomPrompt="1"/>
          </p:nvPr>
        </p:nvSpPr>
        <p:spPr>
          <a:xfrm>
            <a:off x="457200" y="822960"/>
            <a:ext cx="8229600" cy="365760"/>
          </a:xfrm>
          <a:prstGeom prst="rect">
            <a:avLst/>
          </a:prstGeom>
          <a:noFill/>
          <a:ln/>
        </p:spPr>
        <p:txBody>
          <a:bodyPr wrap="square" lIns="0" tIns="0" rIns="0" bIns="0" rtlCol="0" anchor="t"/>
          <a:lstStyle/>
          <a:p>
            <a:pPr algn="l" indent="0" marL="0">
              <a:buNone/>
            </a:pPr>
            <a:r>
              <a:rPr lang="en-US" sz="1500" dirty="0">
                <a:solidFill>
                  <a:schemeClr val="tx2"/>
                </a:solidFill>
              </a:rPr>
              <a:t>The two halves swap places; the order inside each half is kept</a:t>
            </a:r>
            <a:endParaRPr lang="en-US" sz="1500" dirty="0"/>
          </a:p>
        </p:txBody>
      </p:sp>
      <p:sp>
        <p:nvSpPr>
          <p:cNvPr id="4" name="pill-403"/>
          <p:cNvSpPr/>
          <p:nvPr/>
        </p:nvSpPr>
        <p:spPr>
          <a:xfrm>
            <a:off x="7589520" y="384048"/>
            <a:ext cx="1097280" cy="310896"/>
          </a:xfrm>
          <a:prstGeom prst="roundRect">
            <a:avLst>
              <a:gd name="adj" fmla="val 50000"/>
            </a:avLst>
          </a:prstGeom>
          <a:solidFill>
            <a:schemeClr val="accent3"/>
          </a:solidFill>
          <a:ln/>
        </p:spPr>
      </p:sp>
      <p:sp>
        <p:nvSpPr>
          <p:cNvPr id="5" name="txt-404"/>
          <p:cNvSpPr txBox="1"/>
          <p:nvPr/>
        </p:nvSpPr>
        <p:spPr>
          <a:xfrm>
            <a:off x="7589520" y="384048"/>
            <a:ext cx="1097280" cy="310896"/>
          </a:xfrm>
          <a:prstGeom prst="rect">
            <a:avLst/>
          </a:prstGeom>
          <a:noFill/>
          <a:ln/>
        </p:spPr>
        <p:txBody>
          <a:bodyPr wrap="square" lIns="0" tIns="0" rIns="0" bIns="0" rtlCol="0" anchor="ctr"/>
          <a:lstStyle/>
          <a:p>
            <a:pPr algn="ctr" indent="0" marL="0">
              <a:buNone/>
            </a:pPr>
            <a:r>
              <a:rPr lang="en-US" sz="1200" b="1" dirty="0">
                <a:solidFill>
                  <a:schemeClr val="bg1"/>
                </a:solidFill>
              </a:rPr>
              <a:t>ex-half</a:t>
            </a:r>
            <a:endParaRPr lang="en-US" sz="1200" dirty="0"/>
          </a:p>
        </p:txBody>
      </p:sp>
      <p:sp>
        <p:nvSpPr>
          <p:cNvPr id="6" name="txt-405"/>
          <p:cNvSpPr txBox="1"/>
          <p:nvPr/>
        </p:nvSpPr>
        <p:spPr>
          <a:xfrm>
            <a:off x="457200" y="1325880"/>
            <a:ext cx="2743200" cy="201168"/>
          </a:xfrm>
          <a:prstGeom prst="rect">
            <a:avLst/>
          </a:prstGeom>
          <a:noFill/>
          <a:ln/>
        </p:spPr>
        <p:txBody>
          <a:bodyPr wrap="square" lIns="0" tIns="0" rIns="0" bIns="0" rtlCol="0" anchor="ctr"/>
          <a:lstStyle/>
          <a:p>
            <a:pPr indent="0" marL="0">
              <a:buNone/>
            </a:pPr>
            <a:r>
              <a:rPr lang="en-US" sz="1100" b="1" spc="100" kern="0" dirty="0">
                <a:solidFill>
                  <a:schemeClr val="tx2"/>
                </a:solidFill>
              </a:rPr>
              <a:t>ORIGINAL</a:t>
            </a:r>
            <a:endParaRPr lang="en-US" sz="1100" dirty="0"/>
          </a:p>
        </p:txBody>
      </p:sp>
      <p:sp>
        <p:nvSpPr>
          <p:cNvPr id="7" name="tile-406"/>
          <p:cNvSpPr/>
          <p:nvPr/>
        </p:nvSpPr>
        <p:spPr>
          <a:xfrm>
            <a:off x="457200"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8" name="txt-407"/>
          <p:cNvSpPr txBox="1"/>
          <p:nvPr/>
        </p:nvSpPr>
        <p:spPr>
          <a:xfrm>
            <a:off x="457200"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a</a:t>
            </a:r>
            <a:endParaRPr lang="en-US" sz="1100" dirty="0"/>
          </a:p>
        </p:txBody>
      </p:sp>
      <p:sp>
        <p:nvSpPr>
          <p:cNvPr id="9" name="txt-408"/>
          <p:cNvSpPr txBox="1"/>
          <p:nvPr/>
        </p:nvSpPr>
        <p:spPr>
          <a:xfrm>
            <a:off x="457200"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10" name="tile-409"/>
          <p:cNvSpPr/>
          <p:nvPr/>
        </p:nvSpPr>
        <p:spPr>
          <a:xfrm>
            <a:off x="841248"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11" name="txt-410"/>
          <p:cNvSpPr txBox="1"/>
          <p:nvPr/>
        </p:nvSpPr>
        <p:spPr>
          <a:xfrm>
            <a:off x="841248"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b</a:t>
            </a:r>
            <a:endParaRPr lang="en-US" sz="1100" dirty="0"/>
          </a:p>
        </p:txBody>
      </p:sp>
      <p:sp>
        <p:nvSpPr>
          <p:cNvPr id="12" name="txt-411"/>
          <p:cNvSpPr txBox="1"/>
          <p:nvPr/>
        </p:nvSpPr>
        <p:spPr>
          <a:xfrm>
            <a:off x="841248"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13" name="tile-412"/>
          <p:cNvSpPr/>
          <p:nvPr/>
        </p:nvSpPr>
        <p:spPr>
          <a:xfrm>
            <a:off x="1225296"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14" name="txt-413"/>
          <p:cNvSpPr txBox="1"/>
          <p:nvPr/>
        </p:nvSpPr>
        <p:spPr>
          <a:xfrm>
            <a:off x="1225296"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c</a:t>
            </a:r>
            <a:endParaRPr lang="en-US" sz="1100" dirty="0"/>
          </a:p>
        </p:txBody>
      </p:sp>
      <p:sp>
        <p:nvSpPr>
          <p:cNvPr id="15" name="txt-414"/>
          <p:cNvSpPr txBox="1"/>
          <p:nvPr/>
        </p:nvSpPr>
        <p:spPr>
          <a:xfrm>
            <a:off x="1225296"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16" name="tile-415"/>
          <p:cNvSpPr/>
          <p:nvPr/>
        </p:nvSpPr>
        <p:spPr>
          <a:xfrm>
            <a:off x="1609344"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17" name="txt-416"/>
          <p:cNvSpPr txBox="1"/>
          <p:nvPr/>
        </p:nvSpPr>
        <p:spPr>
          <a:xfrm>
            <a:off x="1609344"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d</a:t>
            </a:r>
            <a:endParaRPr lang="en-US" sz="1100" dirty="0"/>
          </a:p>
        </p:txBody>
      </p:sp>
      <p:sp>
        <p:nvSpPr>
          <p:cNvPr id="18" name="txt-417"/>
          <p:cNvSpPr txBox="1"/>
          <p:nvPr/>
        </p:nvSpPr>
        <p:spPr>
          <a:xfrm>
            <a:off x="1609344"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19" name="tile-418"/>
          <p:cNvSpPr/>
          <p:nvPr/>
        </p:nvSpPr>
        <p:spPr>
          <a:xfrm>
            <a:off x="1993392"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20" name="txt-419"/>
          <p:cNvSpPr txBox="1"/>
          <p:nvPr/>
        </p:nvSpPr>
        <p:spPr>
          <a:xfrm>
            <a:off x="1993392"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e</a:t>
            </a:r>
            <a:endParaRPr lang="en-US" sz="1100" dirty="0"/>
          </a:p>
        </p:txBody>
      </p:sp>
      <p:sp>
        <p:nvSpPr>
          <p:cNvPr id="21" name="txt-420"/>
          <p:cNvSpPr txBox="1"/>
          <p:nvPr/>
        </p:nvSpPr>
        <p:spPr>
          <a:xfrm>
            <a:off x="1993392"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22" name="tile-421"/>
          <p:cNvSpPr/>
          <p:nvPr/>
        </p:nvSpPr>
        <p:spPr>
          <a:xfrm>
            <a:off x="2377440"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23" name="txt-422"/>
          <p:cNvSpPr txBox="1"/>
          <p:nvPr/>
        </p:nvSpPr>
        <p:spPr>
          <a:xfrm>
            <a:off x="2377440"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f</a:t>
            </a:r>
            <a:endParaRPr lang="en-US" sz="1100" dirty="0"/>
          </a:p>
        </p:txBody>
      </p:sp>
      <p:sp>
        <p:nvSpPr>
          <p:cNvPr id="24" name="txt-423"/>
          <p:cNvSpPr txBox="1"/>
          <p:nvPr/>
        </p:nvSpPr>
        <p:spPr>
          <a:xfrm>
            <a:off x="2377440"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25" name="tile-424"/>
          <p:cNvSpPr/>
          <p:nvPr/>
        </p:nvSpPr>
        <p:spPr>
          <a:xfrm>
            <a:off x="2907792"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26" name="txt-425"/>
          <p:cNvSpPr txBox="1"/>
          <p:nvPr/>
        </p:nvSpPr>
        <p:spPr>
          <a:xfrm>
            <a:off x="2907792"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g</a:t>
            </a:r>
            <a:endParaRPr lang="en-US" sz="1100" dirty="0"/>
          </a:p>
        </p:txBody>
      </p:sp>
      <p:sp>
        <p:nvSpPr>
          <p:cNvPr id="27" name="txt-426"/>
          <p:cNvSpPr txBox="1"/>
          <p:nvPr/>
        </p:nvSpPr>
        <p:spPr>
          <a:xfrm>
            <a:off x="2907792"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20</a:t>
            </a:r>
            <a:endParaRPr lang="en-US" sz="1400" dirty="0"/>
          </a:p>
        </p:txBody>
      </p:sp>
      <p:sp>
        <p:nvSpPr>
          <p:cNvPr id="28" name="tile-427"/>
          <p:cNvSpPr/>
          <p:nvPr/>
        </p:nvSpPr>
        <p:spPr>
          <a:xfrm>
            <a:off x="3291840"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29" name="txt-428"/>
          <p:cNvSpPr txBox="1"/>
          <p:nvPr/>
        </p:nvSpPr>
        <p:spPr>
          <a:xfrm>
            <a:off x="3291840"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h</a:t>
            </a:r>
            <a:endParaRPr lang="en-US" sz="1100" dirty="0"/>
          </a:p>
        </p:txBody>
      </p:sp>
      <p:sp>
        <p:nvSpPr>
          <p:cNvPr id="30" name="txt-429"/>
          <p:cNvSpPr txBox="1"/>
          <p:nvPr/>
        </p:nvSpPr>
        <p:spPr>
          <a:xfrm>
            <a:off x="3291840"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34</a:t>
            </a:r>
            <a:endParaRPr lang="en-US" sz="1400" dirty="0"/>
          </a:p>
        </p:txBody>
      </p:sp>
      <p:sp>
        <p:nvSpPr>
          <p:cNvPr id="31" name="tile-430"/>
          <p:cNvSpPr/>
          <p:nvPr/>
        </p:nvSpPr>
        <p:spPr>
          <a:xfrm>
            <a:off x="3675888"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32" name="txt-431"/>
          <p:cNvSpPr txBox="1"/>
          <p:nvPr/>
        </p:nvSpPr>
        <p:spPr>
          <a:xfrm>
            <a:off x="3675888"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i</a:t>
            </a:r>
            <a:endParaRPr lang="en-US" sz="1100" dirty="0"/>
          </a:p>
        </p:txBody>
      </p:sp>
      <p:sp>
        <p:nvSpPr>
          <p:cNvPr id="33" name="txt-432"/>
          <p:cNvSpPr txBox="1"/>
          <p:nvPr/>
        </p:nvSpPr>
        <p:spPr>
          <a:xfrm>
            <a:off x="3675888"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35</a:t>
            </a:r>
            <a:endParaRPr lang="en-US" sz="1400" dirty="0"/>
          </a:p>
        </p:txBody>
      </p:sp>
      <p:sp>
        <p:nvSpPr>
          <p:cNvPr id="34" name="tile-433"/>
          <p:cNvSpPr/>
          <p:nvPr/>
        </p:nvSpPr>
        <p:spPr>
          <a:xfrm>
            <a:off x="4059936"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35" name="txt-434"/>
          <p:cNvSpPr txBox="1"/>
          <p:nvPr/>
        </p:nvSpPr>
        <p:spPr>
          <a:xfrm>
            <a:off x="4059936"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j</a:t>
            </a:r>
            <a:endParaRPr lang="en-US" sz="1100" dirty="0"/>
          </a:p>
        </p:txBody>
      </p:sp>
      <p:sp>
        <p:nvSpPr>
          <p:cNvPr id="36" name="txt-435"/>
          <p:cNvSpPr txBox="1"/>
          <p:nvPr/>
        </p:nvSpPr>
        <p:spPr>
          <a:xfrm>
            <a:off x="4059936"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33</a:t>
            </a:r>
            <a:endParaRPr lang="en-US" sz="1400" dirty="0"/>
          </a:p>
        </p:txBody>
      </p:sp>
      <p:sp>
        <p:nvSpPr>
          <p:cNvPr id="37" name="tile-436"/>
          <p:cNvSpPr/>
          <p:nvPr/>
        </p:nvSpPr>
        <p:spPr>
          <a:xfrm>
            <a:off x="4443984"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38" name="txt-437"/>
          <p:cNvSpPr txBox="1"/>
          <p:nvPr/>
        </p:nvSpPr>
        <p:spPr>
          <a:xfrm>
            <a:off x="4443984"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k</a:t>
            </a:r>
            <a:endParaRPr lang="en-US" sz="1100" dirty="0"/>
          </a:p>
        </p:txBody>
      </p:sp>
      <p:sp>
        <p:nvSpPr>
          <p:cNvPr id="39" name="txt-438"/>
          <p:cNvSpPr txBox="1"/>
          <p:nvPr/>
        </p:nvSpPr>
        <p:spPr>
          <a:xfrm>
            <a:off x="4443984"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35</a:t>
            </a:r>
            <a:endParaRPr lang="en-US" sz="1400" dirty="0"/>
          </a:p>
        </p:txBody>
      </p:sp>
      <p:sp>
        <p:nvSpPr>
          <p:cNvPr id="40" name="tile-439"/>
          <p:cNvSpPr/>
          <p:nvPr/>
        </p:nvSpPr>
        <p:spPr>
          <a:xfrm>
            <a:off x="4828032"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41" name="txt-440"/>
          <p:cNvSpPr txBox="1"/>
          <p:nvPr/>
        </p:nvSpPr>
        <p:spPr>
          <a:xfrm>
            <a:off x="4828032"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l</a:t>
            </a:r>
            <a:endParaRPr lang="en-US" sz="1100" dirty="0"/>
          </a:p>
        </p:txBody>
      </p:sp>
      <p:sp>
        <p:nvSpPr>
          <p:cNvPr id="42" name="txt-441"/>
          <p:cNvSpPr txBox="1"/>
          <p:nvPr/>
        </p:nvSpPr>
        <p:spPr>
          <a:xfrm>
            <a:off x="4828032"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32</a:t>
            </a:r>
            <a:endParaRPr lang="en-US" sz="1400" dirty="0"/>
          </a:p>
        </p:txBody>
      </p:sp>
      <p:sp>
        <p:nvSpPr>
          <p:cNvPr id="43" name="txt-442"/>
          <p:cNvSpPr txBox="1"/>
          <p:nvPr/>
        </p:nvSpPr>
        <p:spPr>
          <a:xfrm>
            <a:off x="2724912" y="1572768"/>
            <a:ext cx="182880" cy="566928"/>
          </a:xfrm>
          <a:prstGeom prst="rect">
            <a:avLst/>
          </a:prstGeom>
          <a:noFill/>
          <a:ln/>
        </p:spPr>
        <p:txBody>
          <a:bodyPr wrap="square" lIns="0" tIns="0" rIns="0" bIns="0" rtlCol="0" anchor="ctr"/>
          <a:lstStyle/>
          <a:p>
            <a:pPr algn="ctr" indent="0" marL="0">
              <a:buNone/>
            </a:pPr>
            <a:r>
              <a:rPr lang="en-US" sz="1800" dirty="0">
                <a:solidFill>
                  <a:schemeClr val="tx2"/>
                </a:solidFill>
              </a:rPr>
              <a:t>/</a:t>
            </a:r>
            <a:endParaRPr lang="en-US" sz="1800" dirty="0"/>
          </a:p>
        </p:txBody>
      </p:sp>
      <p:sp>
        <p:nvSpPr>
          <p:cNvPr id="44" name="txt-443"/>
          <p:cNvSpPr txBox="1"/>
          <p:nvPr/>
        </p:nvSpPr>
        <p:spPr>
          <a:xfrm>
            <a:off x="457200" y="2286000"/>
            <a:ext cx="3657600" cy="201168"/>
          </a:xfrm>
          <a:prstGeom prst="rect">
            <a:avLst/>
          </a:prstGeom>
          <a:noFill/>
          <a:ln/>
        </p:spPr>
        <p:txBody>
          <a:bodyPr wrap="square" lIns="0" tIns="0" rIns="0" bIns="0" rtlCol="0" anchor="ctr"/>
          <a:lstStyle/>
          <a:p>
            <a:pPr indent="0" marL="0">
              <a:buNone/>
            </a:pPr>
            <a:r>
              <a:rPr lang="en-US" sz="1100" b="1" spc="100" kern="0" dirty="0">
                <a:solidFill>
                  <a:schemeClr val="accent3"/>
                </a:solidFill>
              </a:rPr>
              <a:t>HALF EXCHANGE · RUN 42</a:t>
            </a:r>
            <a:endParaRPr lang="en-US" sz="1100" dirty="0"/>
          </a:p>
        </p:txBody>
      </p:sp>
      <p:sp>
        <p:nvSpPr>
          <p:cNvPr id="45" name="tile-444"/>
          <p:cNvSpPr/>
          <p:nvPr/>
        </p:nvSpPr>
        <p:spPr>
          <a:xfrm>
            <a:off x="457200"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46" name="txt-445"/>
          <p:cNvSpPr txBox="1"/>
          <p:nvPr/>
        </p:nvSpPr>
        <p:spPr>
          <a:xfrm>
            <a:off x="457200"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g</a:t>
            </a:r>
            <a:endParaRPr lang="en-US" sz="1100" dirty="0"/>
          </a:p>
        </p:txBody>
      </p:sp>
      <p:sp>
        <p:nvSpPr>
          <p:cNvPr id="47" name="txt-446"/>
          <p:cNvSpPr txBox="1"/>
          <p:nvPr/>
        </p:nvSpPr>
        <p:spPr>
          <a:xfrm>
            <a:off x="457200"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20</a:t>
            </a:r>
            <a:endParaRPr lang="en-US" sz="1400" dirty="0"/>
          </a:p>
        </p:txBody>
      </p:sp>
      <p:sp>
        <p:nvSpPr>
          <p:cNvPr id="48" name="tile-447"/>
          <p:cNvSpPr/>
          <p:nvPr/>
        </p:nvSpPr>
        <p:spPr>
          <a:xfrm>
            <a:off x="841248"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49" name="txt-448"/>
          <p:cNvSpPr txBox="1"/>
          <p:nvPr/>
        </p:nvSpPr>
        <p:spPr>
          <a:xfrm>
            <a:off x="841248"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h</a:t>
            </a:r>
            <a:endParaRPr lang="en-US" sz="1100" dirty="0"/>
          </a:p>
        </p:txBody>
      </p:sp>
      <p:sp>
        <p:nvSpPr>
          <p:cNvPr id="50" name="txt-449"/>
          <p:cNvSpPr txBox="1"/>
          <p:nvPr/>
        </p:nvSpPr>
        <p:spPr>
          <a:xfrm>
            <a:off x="841248"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34</a:t>
            </a:r>
            <a:endParaRPr lang="en-US" sz="1400" dirty="0"/>
          </a:p>
        </p:txBody>
      </p:sp>
      <p:sp>
        <p:nvSpPr>
          <p:cNvPr id="51" name="tile-450"/>
          <p:cNvSpPr/>
          <p:nvPr/>
        </p:nvSpPr>
        <p:spPr>
          <a:xfrm>
            <a:off x="1225296"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52" name="txt-451"/>
          <p:cNvSpPr txBox="1"/>
          <p:nvPr/>
        </p:nvSpPr>
        <p:spPr>
          <a:xfrm>
            <a:off x="1225296"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i</a:t>
            </a:r>
            <a:endParaRPr lang="en-US" sz="1100" dirty="0"/>
          </a:p>
        </p:txBody>
      </p:sp>
      <p:sp>
        <p:nvSpPr>
          <p:cNvPr id="53" name="txt-452"/>
          <p:cNvSpPr txBox="1"/>
          <p:nvPr/>
        </p:nvSpPr>
        <p:spPr>
          <a:xfrm>
            <a:off x="1225296"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35</a:t>
            </a:r>
            <a:endParaRPr lang="en-US" sz="1400" dirty="0"/>
          </a:p>
        </p:txBody>
      </p:sp>
      <p:sp>
        <p:nvSpPr>
          <p:cNvPr id="54" name="tile-453"/>
          <p:cNvSpPr/>
          <p:nvPr/>
        </p:nvSpPr>
        <p:spPr>
          <a:xfrm>
            <a:off x="1609344"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55" name="txt-454"/>
          <p:cNvSpPr txBox="1"/>
          <p:nvPr/>
        </p:nvSpPr>
        <p:spPr>
          <a:xfrm>
            <a:off x="1609344"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j</a:t>
            </a:r>
            <a:endParaRPr lang="en-US" sz="1100" dirty="0"/>
          </a:p>
        </p:txBody>
      </p:sp>
      <p:sp>
        <p:nvSpPr>
          <p:cNvPr id="56" name="txt-455"/>
          <p:cNvSpPr txBox="1"/>
          <p:nvPr/>
        </p:nvSpPr>
        <p:spPr>
          <a:xfrm>
            <a:off x="1609344"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33</a:t>
            </a:r>
            <a:endParaRPr lang="en-US" sz="1400" dirty="0"/>
          </a:p>
        </p:txBody>
      </p:sp>
      <p:sp>
        <p:nvSpPr>
          <p:cNvPr id="57" name="tile-456"/>
          <p:cNvSpPr/>
          <p:nvPr/>
        </p:nvSpPr>
        <p:spPr>
          <a:xfrm>
            <a:off x="1993392"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58" name="txt-457"/>
          <p:cNvSpPr txBox="1"/>
          <p:nvPr/>
        </p:nvSpPr>
        <p:spPr>
          <a:xfrm>
            <a:off x="1993392"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k</a:t>
            </a:r>
            <a:endParaRPr lang="en-US" sz="1100" dirty="0"/>
          </a:p>
        </p:txBody>
      </p:sp>
      <p:sp>
        <p:nvSpPr>
          <p:cNvPr id="59" name="txt-458"/>
          <p:cNvSpPr txBox="1"/>
          <p:nvPr/>
        </p:nvSpPr>
        <p:spPr>
          <a:xfrm>
            <a:off x="1993392"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35</a:t>
            </a:r>
            <a:endParaRPr lang="en-US" sz="1400" dirty="0"/>
          </a:p>
        </p:txBody>
      </p:sp>
      <p:sp>
        <p:nvSpPr>
          <p:cNvPr id="60" name="tile-459"/>
          <p:cNvSpPr/>
          <p:nvPr/>
        </p:nvSpPr>
        <p:spPr>
          <a:xfrm>
            <a:off x="2377440"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61" name="txt-460"/>
          <p:cNvSpPr txBox="1"/>
          <p:nvPr/>
        </p:nvSpPr>
        <p:spPr>
          <a:xfrm>
            <a:off x="2377440"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l</a:t>
            </a:r>
            <a:endParaRPr lang="en-US" sz="1100" dirty="0"/>
          </a:p>
        </p:txBody>
      </p:sp>
      <p:sp>
        <p:nvSpPr>
          <p:cNvPr id="62" name="txt-461"/>
          <p:cNvSpPr txBox="1"/>
          <p:nvPr/>
        </p:nvSpPr>
        <p:spPr>
          <a:xfrm>
            <a:off x="2377440"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32</a:t>
            </a:r>
            <a:endParaRPr lang="en-US" sz="1400" dirty="0"/>
          </a:p>
        </p:txBody>
      </p:sp>
      <p:sp>
        <p:nvSpPr>
          <p:cNvPr id="63" name="tile-462"/>
          <p:cNvSpPr/>
          <p:nvPr/>
        </p:nvSpPr>
        <p:spPr>
          <a:xfrm>
            <a:off x="2907792"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64" name="txt-463"/>
          <p:cNvSpPr txBox="1"/>
          <p:nvPr/>
        </p:nvSpPr>
        <p:spPr>
          <a:xfrm>
            <a:off x="2907792"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a</a:t>
            </a:r>
            <a:endParaRPr lang="en-US" sz="1100" dirty="0"/>
          </a:p>
        </p:txBody>
      </p:sp>
      <p:sp>
        <p:nvSpPr>
          <p:cNvPr id="65" name="txt-464"/>
          <p:cNvSpPr txBox="1"/>
          <p:nvPr/>
        </p:nvSpPr>
        <p:spPr>
          <a:xfrm>
            <a:off x="2907792"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66" name="tile-465"/>
          <p:cNvSpPr/>
          <p:nvPr/>
        </p:nvSpPr>
        <p:spPr>
          <a:xfrm>
            <a:off x="3291840"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67" name="txt-466"/>
          <p:cNvSpPr txBox="1"/>
          <p:nvPr/>
        </p:nvSpPr>
        <p:spPr>
          <a:xfrm>
            <a:off x="3291840"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b</a:t>
            </a:r>
            <a:endParaRPr lang="en-US" sz="1100" dirty="0"/>
          </a:p>
        </p:txBody>
      </p:sp>
      <p:sp>
        <p:nvSpPr>
          <p:cNvPr id="68" name="txt-467"/>
          <p:cNvSpPr txBox="1"/>
          <p:nvPr/>
        </p:nvSpPr>
        <p:spPr>
          <a:xfrm>
            <a:off x="3291840"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69" name="tile-468"/>
          <p:cNvSpPr/>
          <p:nvPr/>
        </p:nvSpPr>
        <p:spPr>
          <a:xfrm>
            <a:off x="3675888"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70" name="txt-469"/>
          <p:cNvSpPr txBox="1"/>
          <p:nvPr/>
        </p:nvSpPr>
        <p:spPr>
          <a:xfrm>
            <a:off x="3675888"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c</a:t>
            </a:r>
            <a:endParaRPr lang="en-US" sz="1100" dirty="0"/>
          </a:p>
        </p:txBody>
      </p:sp>
      <p:sp>
        <p:nvSpPr>
          <p:cNvPr id="71" name="txt-470"/>
          <p:cNvSpPr txBox="1"/>
          <p:nvPr/>
        </p:nvSpPr>
        <p:spPr>
          <a:xfrm>
            <a:off x="3675888"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72" name="tile-471"/>
          <p:cNvSpPr/>
          <p:nvPr/>
        </p:nvSpPr>
        <p:spPr>
          <a:xfrm>
            <a:off x="4059936"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73" name="txt-472"/>
          <p:cNvSpPr txBox="1"/>
          <p:nvPr/>
        </p:nvSpPr>
        <p:spPr>
          <a:xfrm>
            <a:off x="4059936"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d</a:t>
            </a:r>
            <a:endParaRPr lang="en-US" sz="1100" dirty="0"/>
          </a:p>
        </p:txBody>
      </p:sp>
      <p:sp>
        <p:nvSpPr>
          <p:cNvPr id="74" name="txt-473"/>
          <p:cNvSpPr txBox="1"/>
          <p:nvPr/>
        </p:nvSpPr>
        <p:spPr>
          <a:xfrm>
            <a:off x="4059936"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75" name="tile-474"/>
          <p:cNvSpPr/>
          <p:nvPr/>
        </p:nvSpPr>
        <p:spPr>
          <a:xfrm>
            <a:off x="4443984"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76" name="txt-475"/>
          <p:cNvSpPr txBox="1"/>
          <p:nvPr/>
        </p:nvSpPr>
        <p:spPr>
          <a:xfrm>
            <a:off x="4443984"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e</a:t>
            </a:r>
            <a:endParaRPr lang="en-US" sz="1100" dirty="0"/>
          </a:p>
        </p:txBody>
      </p:sp>
      <p:sp>
        <p:nvSpPr>
          <p:cNvPr id="77" name="txt-476"/>
          <p:cNvSpPr txBox="1"/>
          <p:nvPr/>
        </p:nvSpPr>
        <p:spPr>
          <a:xfrm>
            <a:off x="4443984"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78" name="tile-477"/>
          <p:cNvSpPr/>
          <p:nvPr/>
        </p:nvSpPr>
        <p:spPr>
          <a:xfrm>
            <a:off x="4828032"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79" name="txt-478"/>
          <p:cNvSpPr txBox="1"/>
          <p:nvPr/>
        </p:nvSpPr>
        <p:spPr>
          <a:xfrm>
            <a:off x="4828032"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f</a:t>
            </a:r>
            <a:endParaRPr lang="en-US" sz="1100" dirty="0"/>
          </a:p>
        </p:txBody>
      </p:sp>
      <p:sp>
        <p:nvSpPr>
          <p:cNvPr id="80" name="txt-479"/>
          <p:cNvSpPr txBox="1"/>
          <p:nvPr/>
        </p:nvSpPr>
        <p:spPr>
          <a:xfrm>
            <a:off x="4828032"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81" name="txt-480"/>
          <p:cNvSpPr txBox="1"/>
          <p:nvPr/>
        </p:nvSpPr>
        <p:spPr>
          <a:xfrm>
            <a:off x="2724912" y="2532888"/>
            <a:ext cx="182880" cy="566928"/>
          </a:xfrm>
          <a:prstGeom prst="rect">
            <a:avLst/>
          </a:prstGeom>
          <a:noFill/>
          <a:ln/>
        </p:spPr>
        <p:txBody>
          <a:bodyPr wrap="square" lIns="0" tIns="0" rIns="0" bIns="0" rtlCol="0" anchor="ctr"/>
          <a:lstStyle/>
          <a:p>
            <a:pPr algn="ctr" indent="0" marL="0">
              <a:buNone/>
            </a:pPr>
            <a:r>
              <a:rPr lang="en-US" sz="1800" dirty="0">
                <a:solidFill>
                  <a:schemeClr val="tx2"/>
                </a:solidFill>
              </a:rPr>
              <a:t>/</a:t>
            </a:r>
            <a:endParaRPr lang="en-US" sz="1800" dirty="0"/>
          </a:p>
        </p:txBody>
      </p:sp>
      <p:sp>
        <p:nvSpPr>
          <p:cNvPr id="82" name="txt-481"/>
          <p:cNvSpPr txBox="1"/>
          <p:nvPr/>
        </p:nvSpPr>
        <p:spPr>
          <a:xfrm>
            <a:off x="457200" y="3200400"/>
            <a:ext cx="4754880" cy="411480"/>
          </a:xfrm>
          <a:prstGeom prst="rect">
            <a:avLst/>
          </a:prstGeom>
          <a:noFill/>
          <a:ln/>
        </p:spPr>
        <p:txBody>
          <a:bodyPr wrap="square" lIns="0" tIns="0" rIns="0" bIns="0" rtlCol="0" anchor="ctr"/>
          <a:lstStyle/>
          <a:p>
            <a:pPr indent="0" marL="0">
              <a:buNone/>
            </a:pPr>
            <a:r>
              <a:rPr lang="en-US" sz="1100" dirty="0">
                <a:solidFill>
                  <a:schemeClr val="tx2"/>
                </a:solidFill>
              </a:rPr>
              <a:t>Tiles keep their colour (teal = started in the first half, amber = second half), so you can follow each value.</a:t>
            </a:r>
            <a:endParaRPr lang="en-US" sz="1100" dirty="0"/>
          </a:p>
        </p:txBody>
      </p:sp>
      <p:graphicFrame>
        <p:nvGraphicFramePr>
          <p:cNvPr id="83" name="chart-truce-ex_half" descr=""/>
          <p:cNvGraphicFramePr/>
          <p:nvPr/>
        </p:nvGraphicFramePr>
        <p:xfrm>
          <a:off x="5440680" y="1261872"/>
          <a:ext cx="3246120" cy="2377440"/>
        </p:xfrm>
        <a:graphic xmlns:a="http://schemas.openxmlformats.org/drawingml/2006/main">
          <a:graphicData uri="http://schemas.openxmlformats.org/drawingml/2006/chart">
            <c:chart xmlns:c="http://schemas.openxmlformats.org/drawingml/2006/chart" r:id="rId1"/>
          </a:graphicData>
        </a:graphic>
      </p:graphicFrame>
      <p:sp>
        <p:nvSpPr>
          <p:cNvPr id="84" name="card-482"/>
          <p:cNvSpPr/>
          <p:nvPr/>
        </p:nvSpPr>
        <p:spPr>
          <a:xfrm>
            <a:off x="457200" y="3749040"/>
            <a:ext cx="2624328" cy="960120"/>
          </a:xfrm>
          <a:prstGeom prst="roundRect">
            <a:avLst>
              <a:gd name="adj" fmla="val 7619"/>
            </a:avLst>
          </a:prstGeom>
          <a:solidFill>
            <a:schemeClr val="bg2"/>
          </a:solidFill>
          <a:ln/>
        </p:spPr>
      </p:sp>
      <p:sp>
        <p:nvSpPr>
          <p:cNvPr id="85" name="txt-483"/>
          <p:cNvSpPr txBox="1"/>
          <p:nvPr/>
        </p:nvSpPr>
        <p:spPr>
          <a:xfrm>
            <a:off x="594360" y="3858768"/>
            <a:ext cx="2286000" cy="201168"/>
          </a:xfrm>
          <a:prstGeom prst="rect">
            <a:avLst/>
          </a:prstGeom>
          <a:noFill/>
          <a:ln/>
        </p:spPr>
        <p:txBody>
          <a:bodyPr wrap="square" lIns="0" tIns="0" rIns="0" bIns="0" rtlCol="0" anchor="ctr"/>
          <a:lstStyle/>
          <a:p>
            <a:pPr indent="0" marL="0">
              <a:buNone/>
            </a:pPr>
            <a:r>
              <a:rPr lang="en-US" sz="1100" b="1" spc="100" kern="0" dirty="0">
                <a:solidFill>
                  <a:schemeClr val="accent2"/>
                </a:solidFill>
              </a:rPr>
              <a:t>KEEPS</a:t>
            </a:r>
            <a:endParaRPr lang="en-US" sz="1100" dirty="0"/>
          </a:p>
        </p:txBody>
      </p:sp>
      <p:sp>
        <p:nvSpPr>
          <p:cNvPr id="86" name="txt-484"/>
          <p:cNvSpPr txBox="1"/>
          <p:nvPr/>
        </p:nvSpPr>
        <p:spPr>
          <a:xfrm>
            <a:off x="594360" y="4096512"/>
            <a:ext cx="2350008" cy="548640"/>
          </a:xfrm>
          <a:prstGeom prst="rect">
            <a:avLst/>
          </a:prstGeom>
          <a:noFill/>
          <a:ln/>
        </p:spPr>
        <p:txBody>
          <a:bodyPr wrap="square" lIns="0" tIns="0" rIns="0" bIns="0" rtlCol="0" anchor="t"/>
          <a:lstStyle/>
          <a:p>
            <a:pPr indent="0" marL="0">
              <a:buNone/>
            </a:pPr>
            <a:r>
              <a:rPr lang="en-US" sz="1400" dirty="0">
                <a:solidFill>
                  <a:schemeClr val="tx1"/>
                </a:solidFill>
              </a:rPr>
              <a:t>All values, and the shape inside each half</a:t>
            </a:r>
            <a:endParaRPr lang="en-US" sz="1400" dirty="0"/>
          </a:p>
        </p:txBody>
      </p:sp>
      <p:sp>
        <p:nvSpPr>
          <p:cNvPr id="87" name="card-485"/>
          <p:cNvSpPr/>
          <p:nvPr/>
        </p:nvSpPr>
        <p:spPr>
          <a:xfrm>
            <a:off x="3259836" y="3749040"/>
            <a:ext cx="2624328" cy="960120"/>
          </a:xfrm>
          <a:prstGeom prst="roundRect">
            <a:avLst>
              <a:gd name="adj" fmla="val 7619"/>
            </a:avLst>
          </a:prstGeom>
          <a:solidFill>
            <a:schemeClr val="bg2"/>
          </a:solidFill>
          <a:ln/>
        </p:spPr>
      </p:sp>
      <p:sp>
        <p:nvSpPr>
          <p:cNvPr id="88" name="txt-486"/>
          <p:cNvSpPr txBox="1"/>
          <p:nvPr/>
        </p:nvSpPr>
        <p:spPr>
          <a:xfrm>
            <a:off x="3396996" y="3858768"/>
            <a:ext cx="2286000" cy="201168"/>
          </a:xfrm>
          <a:prstGeom prst="rect">
            <a:avLst/>
          </a:prstGeom>
          <a:noFill/>
          <a:ln/>
        </p:spPr>
        <p:txBody>
          <a:bodyPr wrap="square" lIns="0" tIns="0" rIns="0" bIns="0" rtlCol="0" anchor="ctr"/>
          <a:lstStyle/>
          <a:p>
            <a:pPr indent="0" marL="0">
              <a:buNone/>
            </a:pPr>
            <a:r>
              <a:rPr lang="en-US" sz="1100" b="1" spc="100" kern="0" dirty="0">
                <a:solidFill>
                  <a:schemeClr val="accent5"/>
                </a:solidFill>
              </a:rPr>
              <a:t>DESTROYS</a:t>
            </a:r>
            <a:endParaRPr lang="en-US" sz="1100" dirty="0"/>
          </a:p>
        </p:txBody>
      </p:sp>
      <p:sp>
        <p:nvSpPr>
          <p:cNvPr id="89" name="txt-487"/>
          <p:cNvSpPr txBox="1"/>
          <p:nvPr/>
        </p:nvSpPr>
        <p:spPr>
          <a:xfrm>
            <a:off x="3396996" y="4096512"/>
            <a:ext cx="2350008" cy="548640"/>
          </a:xfrm>
          <a:prstGeom prst="rect">
            <a:avLst/>
          </a:prstGeom>
          <a:noFill/>
          <a:ln/>
        </p:spPr>
        <p:txBody>
          <a:bodyPr wrap="square" lIns="0" tIns="0" rIns="0" bIns="0" rtlCol="0" anchor="t"/>
          <a:lstStyle/>
          <a:p>
            <a:pPr indent="0" marL="0">
              <a:buNone/>
            </a:pPr>
            <a:r>
              <a:rPr lang="en-US" sz="1400" dirty="0">
                <a:solidFill>
                  <a:schemeClr val="tx1"/>
                </a:solidFill>
              </a:rPr>
              <a:t>Where things happen: the rise at the middle becomes a drop</a:t>
            </a:r>
            <a:endParaRPr lang="en-US" sz="1400" dirty="0"/>
          </a:p>
        </p:txBody>
      </p:sp>
      <p:sp>
        <p:nvSpPr>
          <p:cNvPr id="90" name="card-488"/>
          <p:cNvSpPr/>
          <p:nvPr/>
        </p:nvSpPr>
        <p:spPr>
          <a:xfrm>
            <a:off x="6062472" y="3749040"/>
            <a:ext cx="2624328" cy="960120"/>
          </a:xfrm>
          <a:prstGeom prst="roundRect">
            <a:avLst>
              <a:gd name="adj" fmla="val 7619"/>
            </a:avLst>
          </a:prstGeom>
          <a:solidFill>
            <a:schemeClr val="accent3">
              <a:alpha val="12000"/>
            </a:schemeClr>
          </a:solidFill>
          <a:ln/>
        </p:spPr>
      </p:sp>
      <p:sp>
        <p:nvSpPr>
          <p:cNvPr id="91" name="txt-489"/>
          <p:cNvSpPr txBox="1"/>
          <p:nvPr/>
        </p:nvSpPr>
        <p:spPr>
          <a:xfrm>
            <a:off x="6199632" y="3858768"/>
            <a:ext cx="2377440" cy="201168"/>
          </a:xfrm>
          <a:prstGeom prst="rect">
            <a:avLst/>
          </a:prstGeom>
          <a:noFill/>
          <a:ln/>
        </p:spPr>
        <p:txBody>
          <a:bodyPr wrap="square" lIns="0" tIns="0" rIns="0" bIns="0" rtlCol="0" anchor="ctr"/>
          <a:lstStyle/>
          <a:p>
            <a:pPr indent="0" marL="0">
              <a:buNone/>
            </a:pPr>
            <a:r>
              <a:rPr lang="en-US" sz="1100" b="1" spc="100" kern="0" dirty="0">
                <a:solidFill>
                  <a:schemeClr val="accent3"/>
                </a:solidFill>
              </a:rPr>
              <a:t>RANK OF “RISES A BIT…” · RUN 42</a:t>
            </a:r>
            <a:endParaRPr lang="en-US" sz="1100" dirty="0"/>
          </a:p>
        </p:txBody>
      </p:sp>
      <p:sp>
        <p:nvSpPr>
          <p:cNvPr id="92" name="txt-490"/>
          <p:cNvSpPr txBox="1"/>
          <p:nvPr/>
        </p:nvSpPr>
        <p:spPr>
          <a:xfrm>
            <a:off x="6199632" y="4078224"/>
            <a:ext cx="1097280" cy="457200"/>
          </a:xfrm>
          <a:prstGeom prst="rect">
            <a:avLst/>
          </a:prstGeom>
          <a:noFill/>
          <a:ln/>
        </p:spPr>
        <p:txBody>
          <a:bodyPr wrap="square" lIns="0" tIns="0" rIns="0" bIns="0" rtlCol="0" anchor="ctr"/>
          <a:lstStyle/>
          <a:p>
            <a:pPr indent="0" marL="0">
              <a:buNone/>
            </a:pPr>
            <a:r>
              <a:rPr lang="en-US" sz="2600" b="1" dirty="0">
                <a:solidFill>
                  <a:schemeClr val="accent3"/>
                </a:solidFill>
                <a:latin typeface="Cambria" pitchFamily="34" charset="0"/>
                <a:ea typeface="Cambria" pitchFamily="34" charset="-122"/>
                <a:cs typeface="Cambria" pitchFamily="34" charset="-120"/>
              </a:rPr>
              <a:t>1 → 62</a:t>
            </a:r>
            <a:endParaRPr lang="en-US" sz="2600" dirty="0"/>
          </a:p>
        </p:txBody>
      </p:sp>
      <p:sp>
        <p:nvSpPr>
          <p:cNvPr id="93" name="txt-491"/>
          <p:cNvSpPr txBox="1"/>
          <p:nvPr/>
        </p:nvSpPr>
        <p:spPr>
          <a:xfrm>
            <a:off x="7251192" y="4169664"/>
            <a:ext cx="1188720" cy="292608"/>
          </a:xfrm>
          <a:prstGeom prst="rect">
            <a:avLst/>
          </a:prstGeom>
          <a:noFill/>
          <a:ln/>
        </p:spPr>
        <p:txBody>
          <a:bodyPr wrap="square" lIns="0" tIns="0" rIns="0" bIns="0" rtlCol="0" anchor="ctr"/>
          <a:lstStyle/>
          <a:p>
            <a:pPr indent="0" marL="0">
              <a:buNone/>
            </a:pPr>
            <a:r>
              <a:rPr lang="en-US" sz="1200" dirty="0">
                <a:solidFill>
                  <a:schemeClr val="tx2"/>
                </a:solidFill>
              </a:rPr>
              <a:t>of 386</a:t>
            </a:r>
            <a:endParaRPr lang="en-US" sz="1200" dirty="0"/>
          </a:p>
        </p:txBody>
      </p:sp>
      <p:sp>
        <p:nvSpPr>
          <p:cNvPr id="94" name="txt-492"/>
          <p:cNvSpPr txBox="1"/>
          <p:nvPr/>
        </p:nvSpPr>
        <p:spPr>
          <a:xfrm>
            <a:off x="6199632" y="4480560"/>
            <a:ext cx="2395728" cy="201168"/>
          </a:xfrm>
          <a:prstGeom prst="rect">
            <a:avLst/>
          </a:prstGeom>
          <a:noFill/>
          <a:ln/>
        </p:spPr>
        <p:txBody>
          <a:bodyPr wrap="square" lIns="0" tIns="0" rIns="0" bIns="0" rtlCol="0" anchor="ctr"/>
          <a:lstStyle/>
          <a:p>
            <a:pPr indent="0" marL="0">
              <a:buNone/>
            </a:pPr>
            <a:r>
              <a:rPr lang="en-US" sz="1000" dirty="0">
                <a:solidFill>
                  <a:schemeClr val="tx2"/>
                </a:solidFill>
              </a:rPr>
              <a:t>same swap in every run · runs 43, 44: 85, 102</a:t>
            </a:r>
            <a:endParaRPr lang="en-US" sz="1000" dirty="0"/>
          </a:p>
        </p:txBody>
      </p:sp>
      <p:sp>
        <p:nvSpPr>
          <p:cNvPr id="25" name="Slide Number Placeholder 0"/>
          <p:cNvSpPr>
            <a:spLocks noGrp="1"/>
          </p:cNvSpPr>
          <p:nvPr>
            <p:ph type="sldNum" sz="quarter" idx="4294967295"/>
          </p:nvPr>
        </p:nvSpPr>
        <p:spPr>
          <a:xfrm>
            <a:off x="832104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566928"/>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Masking</a:t>
            </a:r>
            <a:endParaRPr lang="en-US" sz="3400" dirty="0"/>
          </a:p>
        </p:txBody>
      </p:sp>
      <p:sp>
        <p:nvSpPr>
          <p:cNvPr id="3" name="Text 0"/>
          <p:cNvSpPr/>
          <p:nvPr>
            <p:ph idx="101" type="body" hasCustomPrompt="1"/>
          </p:nvPr>
        </p:nvSpPr>
        <p:spPr>
          <a:xfrm>
            <a:off x="457200" y="822960"/>
            <a:ext cx="8229600" cy="365760"/>
          </a:xfrm>
          <a:prstGeom prst="rect">
            <a:avLst/>
          </a:prstGeom>
          <a:noFill/>
          <a:ln/>
        </p:spPr>
        <p:txBody>
          <a:bodyPr wrap="square" lIns="0" tIns="0" rIns="0" bIns="0" rtlCol="0" anchor="t"/>
          <a:lstStyle/>
          <a:p>
            <a:pPr algn="l" indent="0" marL="0">
              <a:buNone/>
            </a:pPr>
            <a:r>
              <a:rPr lang="en-US" sz="1500" dirty="0">
                <a:solidFill>
                  <a:schemeClr val="tx2"/>
                </a:solidFill>
              </a:rPr>
              <a:t>⌊0.2 × 12⌋ = 2 random steps are set to 0 after z-normalisation, i.e. to the series mean</a:t>
            </a:r>
            <a:endParaRPr lang="en-US" sz="1500" dirty="0"/>
          </a:p>
        </p:txBody>
      </p:sp>
      <p:sp>
        <p:nvSpPr>
          <p:cNvPr id="4" name="pill-493"/>
          <p:cNvSpPr/>
          <p:nvPr/>
        </p:nvSpPr>
        <p:spPr>
          <a:xfrm>
            <a:off x="7589520" y="384048"/>
            <a:ext cx="1097280" cy="310896"/>
          </a:xfrm>
          <a:prstGeom prst="roundRect">
            <a:avLst>
              <a:gd name="adj" fmla="val 50000"/>
            </a:avLst>
          </a:prstGeom>
          <a:solidFill>
            <a:schemeClr val="accent4"/>
          </a:solidFill>
          <a:ln/>
        </p:spPr>
      </p:sp>
      <p:sp>
        <p:nvSpPr>
          <p:cNvPr id="5" name="txt-494"/>
          <p:cNvSpPr txBox="1"/>
          <p:nvPr/>
        </p:nvSpPr>
        <p:spPr>
          <a:xfrm>
            <a:off x="7589520" y="384048"/>
            <a:ext cx="1097280" cy="310896"/>
          </a:xfrm>
          <a:prstGeom prst="rect">
            <a:avLst/>
          </a:prstGeom>
          <a:noFill/>
          <a:ln/>
        </p:spPr>
        <p:txBody>
          <a:bodyPr wrap="square" lIns="0" tIns="0" rIns="0" bIns="0" rtlCol="0" anchor="ctr"/>
          <a:lstStyle/>
          <a:p>
            <a:pPr algn="ctr" indent="0" marL="0">
              <a:buNone/>
            </a:pPr>
            <a:r>
              <a:rPr lang="en-US" sz="1200" b="1" dirty="0">
                <a:solidFill>
                  <a:schemeClr val="bg1"/>
                </a:solidFill>
              </a:rPr>
              <a:t>mask 0.2</a:t>
            </a:r>
            <a:endParaRPr lang="en-US" sz="1200" dirty="0"/>
          </a:p>
        </p:txBody>
      </p:sp>
      <p:sp>
        <p:nvSpPr>
          <p:cNvPr id="6" name="txt-495"/>
          <p:cNvSpPr txBox="1"/>
          <p:nvPr/>
        </p:nvSpPr>
        <p:spPr>
          <a:xfrm>
            <a:off x="457200" y="1325880"/>
            <a:ext cx="2743200" cy="201168"/>
          </a:xfrm>
          <a:prstGeom prst="rect">
            <a:avLst/>
          </a:prstGeom>
          <a:noFill/>
          <a:ln/>
        </p:spPr>
        <p:txBody>
          <a:bodyPr wrap="square" lIns="0" tIns="0" rIns="0" bIns="0" rtlCol="0" anchor="ctr"/>
          <a:lstStyle/>
          <a:p>
            <a:pPr indent="0" marL="0">
              <a:buNone/>
            </a:pPr>
            <a:r>
              <a:rPr lang="en-US" sz="1100" b="1" spc="100" kern="0" dirty="0">
                <a:solidFill>
                  <a:schemeClr val="tx2"/>
                </a:solidFill>
              </a:rPr>
              <a:t>ORIGINAL</a:t>
            </a:r>
            <a:endParaRPr lang="en-US" sz="1100" dirty="0"/>
          </a:p>
        </p:txBody>
      </p:sp>
      <p:sp>
        <p:nvSpPr>
          <p:cNvPr id="7" name="tile-496"/>
          <p:cNvSpPr/>
          <p:nvPr/>
        </p:nvSpPr>
        <p:spPr>
          <a:xfrm>
            <a:off x="457200"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8" name="txt-497"/>
          <p:cNvSpPr txBox="1"/>
          <p:nvPr/>
        </p:nvSpPr>
        <p:spPr>
          <a:xfrm>
            <a:off x="457200"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a</a:t>
            </a:r>
            <a:endParaRPr lang="en-US" sz="1100" dirty="0"/>
          </a:p>
        </p:txBody>
      </p:sp>
      <p:sp>
        <p:nvSpPr>
          <p:cNvPr id="9" name="txt-498"/>
          <p:cNvSpPr txBox="1"/>
          <p:nvPr/>
        </p:nvSpPr>
        <p:spPr>
          <a:xfrm>
            <a:off x="457200"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10" name="tile-499"/>
          <p:cNvSpPr/>
          <p:nvPr/>
        </p:nvSpPr>
        <p:spPr>
          <a:xfrm>
            <a:off x="841248"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11" name="txt-500"/>
          <p:cNvSpPr txBox="1"/>
          <p:nvPr/>
        </p:nvSpPr>
        <p:spPr>
          <a:xfrm>
            <a:off x="841248"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b</a:t>
            </a:r>
            <a:endParaRPr lang="en-US" sz="1100" dirty="0"/>
          </a:p>
        </p:txBody>
      </p:sp>
      <p:sp>
        <p:nvSpPr>
          <p:cNvPr id="12" name="txt-501"/>
          <p:cNvSpPr txBox="1"/>
          <p:nvPr/>
        </p:nvSpPr>
        <p:spPr>
          <a:xfrm>
            <a:off x="841248"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13" name="tile-502"/>
          <p:cNvSpPr/>
          <p:nvPr/>
        </p:nvSpPr>
        <p:spPr>
          <a:xfrm>
            <a:off x="1225296"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14" name="txt-503"/>
          <p:cNvSpPr txBox="1"/>
          <p:nvPr/>
        </p:nvSpPr>
        <p:spPr>
          <a:xfrm>
            <a:off x="1225296"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c</a:t>
            </a:r>
            <a:endParaRPr lang="en-US" sz="1100" dirty="0"/>
          </a:p>
        </p:txBody>
      </p:sp>
      <p:sp>
        <p:nvSpPr>
          <p:cNvPr id="15" name="txt-504"/>
          <p:cNvSpPr txBox="1"/>
          <p:nvPr/>
        </p:nvSpPr>
        <p:spPr>
          <a:xfrm>
            <a:off x="1225296"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16" name="tile-505"/>
          <p:cNvSpPr/>
          <p:nvPr/>
        </p:nvSpPr>
        <p:spPr>
          <a:xfrm>
            <a:off x="1609344"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17" name="txt-506"/>
          <p:cNvSpPr txBox="1"/>
          <p:nvPr/>
        </p:nvSpPr>
        <p:spPr>
          <a:xfrm>
            <a:off x="1609344"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d</a:t>
            </a:r>
            <a:endParaRPr lang="en-US" sz="1100" dirty="0"/>
          </a:p>
        </p:txBody>
      </p:sp>
      <p:sp>
        <p:nvSpPr>
          <p:cNvPr id="18" name="txt-507"/>
          <p:cNvSpPr txBox="1"/>
          <p:nvPr/>
        </p:nvSpPr>
        <p:spPr>
          <a:xfrm>
            <a:off x="1609344"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19" name="tile-508"/>
          <p:cNvSpPr/>
          <p:nvPr/>
        </p:nvSpPr>
        <p:spPr>
          <a:xfrm>
            <a:off x="1993392"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20" name="txt-509"/>
          <p:cNvSpPr txBox="1"/>
          <p:nvPr/>
        </p:nvSpPr>
        <p:spPr>
          <a:xfrm>
            <a:off x="1993392"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e</a:t>
            </a:r>
            <a:endParaRPr lang="en-US" sz="1100" dirty="0"/>
          </a:p>
        </p:txBody>
      </p:sp>
      <p:sp>
        <p:nvSpPr>
          <p:cNvPr id="21" name="txt-510"/>
          <p:cNvSpPr txBox="1"/>
          <p:nvPr/>
        </p:nvSpPr>
        <p:spPr>
          <a:xfrm>
            <a:off x="1993392"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22" name="tile-511"/>
          <p:cNvSpPr/>
          <p:nvPr/>
        </p:nvSpPr>
        <p:spPr>
          <a:xfrm>
            <a:off x="2377440" y="157276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23" name="txt-512"/>
          <p:cNvSpPr txBox="1"/>
          <p:nvPr/>
        </p:nvSpPr>
        <p:spPr>
          <a:xfrm>
            <a:off x="2377440"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f</a:t>
            </a:r>
            <a:endParaRPr lang="en-US" sz="1100" dirty="0"/>
          </a:p>
        </p:txBody>
      </p:sp>
      <p:sp>
        <p:nvSpPr>
          <p:cNvPr id="24" name="txt-513"/>
          <p:cNvSpPr txBox="1"/>
          <p:nvPr/>
        </p:nvSpPr>
        <p:spPr>
          <a:xfrm>
            <a:off x="2377440"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25" name="tile-514"/>
          <p:cNvSpPr/>
          <p:nvPr/>
        </p:nvSpPr>
        <p:spPr>
          <a:xfrm>
            <a:off x="2907792"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26" name="txt-515"/>
          <p:cNvSpPr txBox="1"/>
          <p:nvPr/>
        </p:nvSpPr>
        <p:spPr>
          <a:xfrm>
            <a:off x="2907792"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g</a:t>
            </a:r>
            <a:endParaRPr lang="en-US" sz="1100" dirty="0"/>
          </a:p>
        </p:txBody>
      </p:sp>
      <p:sp>
        <p:nvSpPr>
          <p:cNvPr id="27" name="txt-516"/>
          <p:cNvSpPr txBox="1"/>
          <p:nvPr/>
        </p:nvSpPr>
        <p:spPr>
          <a:xfrm>
            <a:off x="2907792"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20</a:t>
            </a:r>
            <a:endParaRPr lang="en-US" sz="1400" dirty="0"/>
          </a:p>
        </p:txBody>
      </p:sp>
      <p:sp>
        <p:nvSpPr>
          <p:cNvPr id="28" name="tile-517"/>
          <p:cNvSpPr/>
          <p:nvPr/>
        </p:nvSpPr>
        <p:spPr>
          <a:xfrm>
            <a:off x="3291840"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29" name="txt-518"/>
          <p:cNvSpPr txBox="1"/>
          <p:nvPr/>
        </p:nvSpPr>
        <p:spPr>
          <a:xfrm>
            <a:off x="3291840"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h</a:t>
            </a:r>
            <a:endParaRPr lang="en-US" sz="1100" dirty="0"/>
          </a:p>
        </p:txBody>
      </p:sp>
      <p:sp>
        <p:nvSpPr>
          <p:cNvPr id="30" name="txt-519"/>
          <p:cNvSpPr txBox="1"/>
          <p:nvPr/>
        </p:nvSpPr>
        <p:spPr>
          <a:xfrm>
            <a:off x="3291840"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34</a:t>
            </a:r>
            <a:endParaRPr lang="en-US" sz="1400" dirty="0"/>
          </a:p>
        </p:txBody>
      </p:sp>
      <p:sp>
        <p:nvSpPr>
          <p:cNvPr id="31" name="tile-520"/>
          <p:cNvSpPr/>
          <p:nvPr/>
        </p:nvSpPr>
        <p:spPr>
          <a:xfrm>
            <a:off x="3675888"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32" name="txt-521"/>
          <p:cNvSpPr txBox="1"/>
          <p:nvPr/>
        </p:nvSpPr>
        <p:spPr>
          <a:xfrm>
            <a:off x="3675888"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i</a:t>
            </a:r>
            <a:endParaRPr lang="en-US" sz="1100" dirty="0"/>
          </a:p>
        </p:txBody>
      </p:sp>
      <p:sp>
        <p:nvSpPr>
          <p:cNvPr id="33" name="txt-522"/>
          <p:cNvSpPr txBox="1"/>
          <p:nvPr/>
        </p:nvSpPr>
        <p:spPr>
          <a:xfrm>
            <a:off x="3675888"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35</a:t>
            </a:r>
            <a:endParaRPr lang="en-US" sz="1400" dirty="0"/>
          </a:p>
        </p:txBody>
      </p:sp>
      <p:sp>
        <p:nvSpPr>
          <p:cNvPr id="34" name="tile-523"/>
          <p:cNvSpPr/>
          <p:nvPr/>
        </p:nvSpPr>
        <p:spPr>
          <a:xfrm>
            <a:off x="4059936"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35" name="txt-524"/>
          <p:cNvSpPr txBox="1"/>
          <p:nvPr/>
        </p:nvSpPr>
        <p:spPr>
          <a:xfrm>
            <a:off x="4059936"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j</a:t>
            </a:r>
            <a:endParaRPr lang="en-US" sz="1100" dirty="0"/>
          </a:p>
        </p:txBody>
      </p:sp>
      <p:sp>
        <p:nvSpPr>
          <p:cNvPr id="36" name="txt-525"/>
          <p:cNvSpPr txBox="1"/>
          <p:nvPr/>
        </p:nvSpPr>
        <p:spPr>
          <a:xfrm>
            <a:off x="4059936"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33</a:t>
            </a:r>
            <a:endParaRPr lang="en-US" sz="1400" dirty="0"/>
          </a:p>
        </p:txBody>
      </p:sp>
      <p:sp>
        <p:nvSpPr>
          <p:cNvPr id="37" name="tile-526"/>
          <p:cNvSpPr/>
          <p:nvPr/>
        </p:nvSpPr>
        <p:spPr>
          <a:xfrm>
            <a:off x="4443984"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38" name="txt-527"/>
          <p:cNvSpPr txBox="1"/>
          <p:nvPr/>
        </p:nvSpPr>
        <p:spPr>
          <a:xfrm>
            <a:off x="4443984"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k</a:t>
            </a:r>
            <a:endParaRPr lang="en-US" sz="1100" dirty="0"/>
          </a:p>
        </p:txBody>
      </p:sp>
      <p:sp>
        <p:nvSpPr>
          <p:cNvPr id="39" name="txt-528"/>
          <p:cNvSpPr txBox="1"/>
          <p:nvPr/>
        </p:nvSpPr>
        <p:spPr>
          <a:xfrm>
            <a:off x="4443984"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35</a:t>
            </a:r>
            <a:endParaRPr lang="en-US" sz="1400" dirty="0"/>
          </a:p>
        </p:txBody>
      </p:sp>
      <p:sp>
        <p:nvSpPr>
          <p:cNvPr id="40" name="tile-529"/>
          <p:cNvSpPr/>
          <p:nvPr/>
        </p:nvSpPr>
        <p:spPr>
          <a:xfrm>
            <a:off x="4828032" y="157276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41" name="txt-530"/>
          <p:cNvSpPr txBox="1"/>
          <p:nvPr/>
        </p:nvSpPr>
        <p:spPr>
          <a:xfrm>
            <a:off x="4828032" y="160934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l</a:t>
            </a:r>
            <a:endParaRPr lang="en-US" sz="1100" dirty="0"/>
          </a:p>
        </p:txBody>
      </p:sp>
      <p:sp>
        <p:nvSpPr>
          <p:cNvPr id="42" name="txt-531"/>
          <p:cNvSpPr txBox="1"/>
          <p:nvPr/>
        </p:nvSpPr>
        <p:spPr>
          <a:xfrm>
            <a:off x="4828032" y="181087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32</a:t>
            </a:r>
            <a:endParaRPr lang="en-US" sz="1400" dirty="0"/>
          </a:p>
        </p:txBody>
      </p:sp>
      <p:sp>
        <p:nvSpPr>
          <p:cNvPr id="43" name="txt-532"/>
          <p:cNvSpPr txBox="1"/>
          <p:nvPr/>
        </p:nvSpPr>
        <p:spPr>
          <a:xfrm>
            <a:off x="2724912" y="1572768"/>
            <a:ext cx="182880" cy="566928"/>
          </a:xfrm>
          <a:prstGeom prst="rect">
            <a:avLst/>
          </a:prstGeom>
          <a:noFill/>
          <a:ln/>
        </p:spPr>
        <p:txBody>
          <a:bodyPr wrap="square" lIns="0" tIns="0" rIns="0" bIns="0" rtlCol="0" anchor="ctr"/>
          <a:lstStyle/>
          <a:p>
            <a:pPr algn="ctr" indent="0" marL="0">
              <a:buNone/>
            </a:pPr>
            <a:r>
              <a:rPr lang="en-US" sz="1800" dirty="0">
                <a:solidFill>
                  <a:schemeClr val="tx2"/>
                </a:solidFill>
              </a:rPr>
              <a:t>/</a:t>
            </a:r>
            <a:endParaRPr lang="en-US" sz="1800" dirty="0"/>
          </a:p>
        </p:txBody>
      </p:sp>
      <p:sp>
        <p:nvSpPr>
          <p:cNvPr id="44" name="txt-533"/>
          <p:cNvSpPr txBox="1"/>
          <p:nvPr/>
        </p:nvSpPr>
        <p:spPr>
          <a:xfrm>
            <a:off x="457200" y="2286000"/>
            <a:ext cx="3657600" cy="201168"/>
          </a:xfrm>
          <a:prstGeom prst="rect">
            <a:avLst/>
          </a:prstGeom>
          <a:noFill/>
          <a:ln/>
        </p:spPr>
        <p:txBody>
          <a:bodyPr wrap="square" lIns="0" tIns="0" rIns="0" bIns="0" rtlCol="0" anchor="ctr"/>
          <a:lstStyle/>
          <a:p>
            <a:pPr indent="0" marL="0">
              <a:buNone/>
            </a:pPr>
            <a:r>
              <a:rPr lang="en-US" sz="1100" b="1" spc="100" kern="0" dirty="0">
                <a:solidFill>
                  <a:schemeClr val="accent4"/>
                </a:solidFill>
              </a:rPr>
              <a:t>MASKING · RUN 42</a:t>
            </a:r>
            <a:endParaRPr lang="en-US" sz="1100" dirty="0"/>
          </a:p>
        </p:txBody>
      </p:sp>
      <p:sp>
        <p:nvSpPr>
          <p:cNvPr id="45" name="tile-534"/>
          <p:cNvSpPr/>
          <p:nvPr/>
        </p:nvSpPr>
        <p:spPr>
          <a:xfrm>
            <a:off x="457200" y="2532888"/>
            <a:ext cx="347472" cy="566928"/>
          </a:xfrm>
          <a:prstGeom prst="roundRect">
            <a:avLst>
              <a:gd name="adj" fmla="val 15789"/>
            </a:avLst>
          </a:prstGeom>
          <a:solidFill>
            <a:schemeClr val="accent4">
              <a:alpha val="22000"/>
            </a:schemeClr>
          </a:solidFill>
          <a:ln w="12700">
            <a:solidFill>
              <a:schemeClr val="accent4"/>
            </a:solidFill>
            <a:prstDash val="dash"/>
          </a:ln>
        </p:spPr>
      </p:sp>
      <p:sp>
        <p:nvSpPr>
          <p:cNvPr id="46" name="txt-535"/>
          <p:cNvSpPr txBox="1"/>
          <p:nvPr/>
        </p:nvSpPr>
        <p:spPr>
          <a:xfrm>
            <a:off x="457200"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m</a:t>
            </a:r>
            <a:endParaRPr lang="en-US" sz="1100" dirty="0"/>
          </a:p>
        </p:txBody>
      </p:sp>
      <p:sp>
        <p:nvSpPr>
          <p:cNvPr id="47" name="txt-536"/>
          <p:cNvSpPr txBox="1"/>
          <p:nvPr/>
        </p:nvSpPr>
        <p:spPr>
          <a:xfrm>
            <a:off x="457200" y="2770998"/>
            <a:ext cx="347472" cy="283464"/>
          </a:xfrm>
          <a:prstGeom prst="rect">
            <a:avLst/>
          </a:prstGeom>
          <a:noFill/>
          <a:ln/>
        </p:spPr>
        <p:txBody>
          <a:bodyPr wrap="square" lIns="0" tIns="0" rIns="0" bIns="0" rtlCol="0" anchor="ctr"/>
          <a:lstStyle/>
          <a:p>
            <a:pPr algn="ctr" indent="0" marL="0">
              <a:buNone/>
            </a:pPr>
            <a:r>
              <a:rPr lang="en-US" sz="1200" i="1" dirty="0">
                <a:solidFill>
                  <a:schemeClr val="tx1"/>
                </a:solidFill>
              </a:rPr>
              <a:t>18.9</a:t>
            </a:r>
            <a:endParaRPr lang="en-US" sz="1200" dirty="0"/>
          </a:p>
        </p:txBody>
      </p:sp>
      <p:sp>
        <p:nvSpPr>
          <p:cNvPr id="48" name="tile-537"/>
          <p:cNvSpPr/>
          <p:nvPr/>
        </p:nvSpPr>
        <p:spPr>
          <a:xfrm>
            <a:off x="841248"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49" name="txt-538"/>
          <p:cNvSpPr txBox="1"/>
          <p:nvPr/>
        </p:nvSpPr>
        <p:spPr>
          <a:xfrm>
            <a:off x="841248"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b</a:t>
            </a:r>
            <a:endParaRPr lang="en-US" sz="1100" dirty="0"/>
          </a:p>
        </p:txBody>
      </p:sp>
      <p:sp>
        <p:nvSpPr>
          <p:cNvPr id="50" name="txt-539"/>
          <p:cNvSpPr txBox="1"/>
          <p:nvPr/>
        </p:nvSpPr>
        <p:spPr>
          <a:xfrm>
            <a:off x="841248"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51" name="tile-540"/>
          <p:cNvSpPr/>
          <p:nvPr/>
        </p:nvSpPr>
        <p:spPr>
          <a:xfrm>
            <a:off x="1225296"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52" name="txt-541"/>
          <p:cNvSpPr txBox="1"/>
          <p:nvPr/>
        </p:nvSpPr>
        <p:spPr>
          <a:xfrm>
            <a:off x="1225296"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c</a:t>
            </a:r>
            <a:endParaRPr lang="en-US" sz="1100" dirty="0"/>
          </a:p>
        </p:txBody>
      </p:sp>
      <p:sp>
        <p:nvSpPr>
          <p:cNvPr id="53" name="txt-542"/>
          <p:cNvSpPr txBox="1"/>
          <p:nvPr/>
        </p:nvSpPr>
        <p:spPr>
          <a:xfrm>
            <a:off x="1225296"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54" name="tile-543"/>
          <p:cNvSpPr/>
          <p:nvPr/>
        </p:nvSpPr>
        <p:spPr>
          <a:xfrm>
            <a:off x="1609344"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55" name="txt-544"/>
          <p:cNvSpPr txBox="1"/>
          <p:nvPr/>
        </p:nvSpPr>
        <p:spPr>
          <a:xfrm>
            <a:off x="1609344"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d</a:t>
            </a:r>
            <a:endParaRPr lang="en-US" sz="1100" dirty="0"/>
          </a:p>
        </p:txBody>
      </p:sp>
      <p:sp>
        <p:nvSpPr>
          <p:cNvPr id="56" name="txt-545"/>
          <p:cNvSpPr txBox="1"/>
          <p:nvPr/>
        </p:nvSpPr>
        <p:spPr>
          <a:xfrm>
            <a:off x="1609344"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57" name="tile-546"/>
          <p:cNvSpPr/>
          <p:nvPr/>
        </p:nvSpPr>
        <p:spPr>
          <a:xfrm>
            <a:off x="1993392"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58" name="txt-547"/>
          <p:cNvSpPr txBox="1"/>
          <p:nvPr/>
        </p:nvSpPr>
        <p:spPr>
          <a:xfrm>
            <a:off x="1993392"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e</a:t>
            </a:r>
            <a:endParaRPr lang="en-US" sz="1100" dirty="0"/>
          </a:p>
        </p:txBody>
      </p:sp>
      <p:sp>
        <p:nvSpPr>
          <p:cNvPr id="59" name="txt-548"/>
          <p:cNvSpPr txBox="1"/>
          <p:nvPr/>
        </p:nvSpPr>
        <p:spPr>
          <a:xfrm>
            <a:off x="1993392"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60" name="tile-549"/>
          <p:cNvSpPr/>
          <p:nvPr/>
        </p:nvSpPr>
        <p:spPr>
          <a:xfrm>
            <a:off x="2377440" y="2532888"/>
            <a:ext cx="347472" cy="566928"/>
          </a:xfrm>
          <a:prstGeom prst="roundRect">
            <a:avLst>
              <a:gd name="adj" fmla="val 15789"/>
            </a:avLst>
          </a:prstGeom>
          <a:solidFill>
            <a:schemeClr val="accent2">
              <a:alpha val="24000"/>
            </a:schemeClr>
          </a:solidFill>
          <a:ln w="9525">
            <a:solidFill>
              <a:schemeClr val="accent2"/>
            </a:solidFill>
            <a:prstDash val="solid"/>
          </a:ln>
        </p:spPr>
      </p:sp>
      <p:sp>
        <p:nvSpPr>
          <p:cNvPr id="61" name="txt-550"/>
          <p:cNvSpPr txBox="1"/>
          <p:nvPr/>
        </p:nvSpPr>
        <p:spPr>
          <a:xfrm>
            <a:off x="2377440"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f</a:t>
            </a:r>
            <a:endParaRPr lang="en-US" sz="1100" dirty="0"/>
          </a:p>
        </p:txBody>
      </p:sp>
      <p:sp>
        <p:nvSpPr>
          <p:cNvPr id="62" name="txt-551"/>
          <p:cNvSpPr txBox="1"/>
          <p:nvPr/>
        </p:nvSpPr>
        <p:spPr>
          <a:xfrm>
            <a:off x="2377440"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63" name="tile-552"/>
          <p:cNvSpPr/>
          <p:nvPr/>
        </p:nvSpPr>
        <p:spPr>
          <a:xfrm>
            <a:off x="2907792"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64" name="txt-553"/>
          <p:cNvSpPr txBox="1"/>
          <p:nvPr/>
        </p:nvSpPr>
        <p:spPr>
          <a:xfrm>
            <a:off x="2907792"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g</a:t>
            </a:r>
            <a:endParaRPr lang="en-US" sz="1100" dirty="0"/>
          </a:p>
        </p:txBody>
      </p:sp>
      <p:sp>
        <p:nvSpPr>
          <p:cNvPr id="65" name="txt-554"/>
          <p:cNvSpPr txBox="1"/>
          <p:nvPr/>
        </p:nvSpPr>
        <p:spPr>
          <a:xfrm>
            <a:off x="2907792"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20</a:t>
            </a:r>
            <a:endParaRPr lang="en-US" sz="1400" dirty="0"/>
          </a:p>
        </p:txBody>
      </p:sp>
      <p:sp>
        <p:nvSpPr>
          <p:cNvPr id="66" name="tile-555"/>
          <p:cNvSpPr/>
          <p:nvPr/>
        </p:nvSpPr>
        <p:spPr>
          <a:xfrm>
            <a:off x="3291840"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67" name="txt-556"/>
          <p:cNvSpPr txBox="1"/>
          <p:nvPr/>
        </p:nvSpPr>
        <p:spPr>
          <a:xfrm>
            <a:off x="3291840"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h</a:t>
            </a:r>
            <a:endParaRPr lang="en-US" sz="1100" dirty="0"/>
          </a:p>
        </p:txBody>
      </p:sp>
      <p:sp>
        <p:nvSpPr>
          <p:cNvPr id="68" name="txt-557"/>
          <p:cNvSpPr txBox="1"/>
          <p:nvPr/>
        </p:nvSpPr>
        <p:spPr>
          <a:xfrm>
            <a:off x="3291840"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34</a:t>
            </a:r>
            <a:endParaRPr lang="en-US" sz="1400" dirty="0"/>
          </a:p>
        </p:txBody>
      </p:sp>
      <p:sp>
        <p:nvSpPr>
          <p:cNvPr id="69" name="tile-558"/>
          <p:cNvSpPr/>
          <p:nvPr/>
        </p:nvSpPr>
        <p:spPr>
          <a:xfrm>
            <a:off x="3675888"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70" name="txt-559"/>
          <p:cNvSpPr txBox="1"/>
          <p:nvPr/>
        </p:nvSpPr>
        <p:spPr>
          <a:xfrm>
            <a:off x="3675888"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i</a:t>
            </a:r>
            <a:endParaRPr lang="en-US" sz="1100" dirty="0"/>
          </a:p>
        </p:txBody>
      </p:sp>
      <p:sp>
        <p:nvSpPr>
          <p:cNvPr id="71" name="txt-560"/>
          <p:cNvSpPr txBox="1"/>
          <p:nvPr/>
        </p:nvSpPr>
        <p:spPr>
          <a:xfrm>
            <a:off x="3675888"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35</a:t>
            </a:r>
            <a:endParaRPr lang="en-US" sz="1400" dirty="0"/>
          </a:p>
        </p:txBody>
      </p:sp>
      <p:sp>
        <p:nvSpPr>
          <p:cNvPr id="72" name="tile-561"/>
          <p:cNvSpPr/>
          <p:nvPr/>
        </p:nvSpPr>
        <p:spPr>
          <a:xfrm>
            <a:off x="4059936"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73" name="txt-562"/>
          <p:cNvSpPr txBox="1"/>
          <p:nvPr/>
        </p:nvSpPr>
        <p:spPr>
          <a:xfrm>
            <a:off x="4059936"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j</a:t>
            </a:r>
            <a:endParaRPr lang="en-US" sz="1100" dirty="0"/>
          </a:p>
        </p:txBody>
      </p:sp>
      <p:sp>
        <p:nvSpPr>
          <p:cNvPr id="74" name="txt-563"/>
          <p:cNvSpPr txBox="1"/>
          <p:nvPr/>
        </p:nvSpPr>
        <p:spPr>
          <a:xfrm>
            <a:off x="4059936"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33</a:t>
            </a:r>
            <a:endParaRPr lang="en-US" sz="1400" dirty="0"/>
          </a:p>
        </p:txBody>
      </p:sp>
      <p:sp>
        <p:nvSpPr>
          <p:cNvPr id="75" name="tile-564"/>
          <p:cNvSpPr/>
          <p:nvPr/>
        </p:nvSpPr>
        <p:spPr>
          <a:xfrm>
            <a:off x="4443984" y="2532888"/>
            <a:ext cx="347472" cy="566928"/>
          </a:xfrm>
          <a:prstGeom prst="roundRect">
            <a:avLst>
              <a:gd name="adj" fmla="val 15789"/>
            </a:avLst>
          </a:prstGeom>
          <a:solidFill>
            <a:schemeClr val="accent3">
              <a:alpha val="24000"/>
            </a:schemeClr>
          </a:solidFill>
          <a:ln w="9525">
            <a:solidFill>
              <a:schemeClr val="accent3"/>
            </a:solidFill>
            <a:prstDash val="solid"/>
          </a:ln>
        </p:spPr>
      </p:sp>
      <p:sp>
        <p:nvSpPr>
          <p:cNvPr id="76" name="txt-565"/>
          <p:cNvSpPr txBox="1"/>
          <p:nvPr/>
        </p:nvSpPr>
        <p:spPr>
          <a:xfrm>
            <a:off x="4443984"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k</a:t>
            </a:r>
            <a:endParaRPr lang="en-US" sz="1100" dirty="0"/>
          </a:p>
        </p:txBody>
      </p:sp>
      <p:sp>
        <p:nvSpPr>
          <p:cNvPr id="77" name="txt-566"/>
          <p:cNvSpPr txBox="1"/>
          <p:nvPr/>
        </p:nvSpPr>
        <p:spPr>
          <a:xfrm>
            <a:off x="4443984" y="2770998"/>
            <a:ext cx="347472" cy="283464"/>
          </a:xfrm>
          <a:prstGeom prst="rect">
            <a:avLst/>
          </a:prstGeom>
          <a:noFill/>
          <a:ln/>
        </p:spPr>
        <p:txBody>
          <a:bodyPr wrap="square" lIns="0" tIns="0" rIns="0" bIns="0" rtlCol="0" anchor="ctr"/>
          <a:lstStyle/>
          <a:p>
            <a:pPr algn="ctr" indent="0" marL="0">
              <a:buNone/>
            </a:pPr>
            <a:r>
              <a:rPr lang="en-US" sz="1400" b="1" dirty="0">
                <a:solidFill>
                  <a:schemeClr val="tx1"/>
                </a:solidFill>
              </a:rPr>
              <a:t>35</a:t>
            </a:r>
            <a:endParaRPr lang="en-US" sz="1400" dirty="0"/>
          </a:p>
        </p:txBody>
      </p:sp>
      <p:sp>
        <p:nvSpPr>
          <p:cNvPr id="78" name="tile-567"/>
          <p:cNvSpPr/>
          <p:nvPr/>
        </p:nvSpPr>
        <p:spPr>
          <a:xfrm>
            <a:off x="4828032" y="2532888"/>
            <a:ext cx="347472" cy="566928"/>
          </a:xfrm>
          <a:prstGeom prst="roundRect">
            <a:avLst>
              <a:gd name="adj" fmla="val 15789"/>
            </a:avLst>
          </a:prstGeom>
          <a:solidFill>
            <a:schemeClr val="accent4">
              <a:alpha val="22000"/>
            </a:schemeClr>
          </a:solidFill>
          <a:ln w="12700">
            <a:solidFill>
              <a:schemeClr val="accent4"/>
            </a:solidFill>
            <a:prstDash val="dash"/>
          </a:ln>
        </p:spPr>
      </p:sp>
      <p:sp>
        <p:nvSpPr>
          <p:cNvPr id="79" name="txt-568"/>
          <p:cNvSpPr txBox="1"/>
          <p:nvPr/>
        </p:nvSpPr>
        <p:spPr>
          <a:xfrm>
            <a:off x="4828032" y="2569464"/>
            <a:ext cx="347472" cy="201168"/>
          </a:xfrm>
          <a:prstGeom prst="rect">
            <a:avLst/>
          </a:prstGeom>
          <a:noFill/>
          <a:ln/>
        </p:spPr>
        <p:txBody>
          <a:bodyPr wrap="square" lIns="0" tIns="0" rIns="0" bIns="0" rtlCol="0" anchor="ctr"/>
          <a:lstStyle/>
          <a:p>
            <a:pPr algn="ctr" indent="0" marL="0">
              <a:buNone/>
            </a:pPr>
            <a:r>
              <a:rPr lang="en-US" sz="1100" dirty="0">
                <a:solidFill>
                  <a:schemeClr val="tx2"/>
                </a:solidFill>
              </a:rPr>
              <a:t>m</a:t>
            </a:r>
            <a:endParaRPr lang="en-US" sz="1100" dirty="0"/>
          </a:p>
        </p:txBody>
      </p:sp>
      <p:sp>
        <p:nvSpPr>
          <p:cNvPr id="80" name="txt-569"/>
          <p:cNvSpPr txBox="1"/>
          <p:nvPr/>
        </p:nvSpPr>
        <p:spPr>
          <a:xfrm>
            <a:off x="4828032" y="2770998"/>
            <a:ext cx="347472" cy="283464"/>
          </a:xfrm>
          <a:prstGeom prst="rect">
            <a:avLst/>
          </a:prstGeom>
          <a:noFill/>
          <a:ln/>
        </p:spPr>
        <p:txBody>
          <a:bodyPr wrap="square" lIns="0" tIns="0" rIns="0" bIns="0" rtlCol="0" anchor="ctr"/>
          <a:lstStyle/>
          <a:p>
            <a:pPr algn="ctr" indent="0" marL="0">
              <a:buNone/>
            </a:pPr>
            <a:r>
              <a:rPr lang="en-US" sz="1200" i="1" dirty="0">
                <a:solidFill>
                  <a:schemeClr val="tx1"/>
                </a:solidFill>
              </a:rPr>
              <a:t>18.9</a:t>
            </a:r>
            <a:endParaRPr lang="en-US" sz="1200" dirty="0"/>
          </a:p>
        </p:txBody>
      </p:sp>
      <p:sp>
        <p:nvSpPr>
          <p:cNvPr id="81" name="txt-570"/>
          <p:cNvSpPr txBox="1"/>
          <p:nvPr/>
        </p:nvSpPr>
        <p:spPr>
          <a:xfrm>
            <a:off x="2724912" y="2532888"/>
            <a:ext cx="182880" cy="566928"/>
          </a:xfrm>
          <a:prstGeom prst="rect">
            <a:avLst/>
          </a:prstGeom>
          <a:noFill/>
          <a:ln/>
        </p:spPr>
        <p:txBody>
          <a:bodyPr wrap="square" lIns="0" tIns="0" rIns="0" bIns="0" rtlCol="0" anchor="ctr"/>
          <a:lstStyle/>
          <a:p>
            <a:pPr algn="ctr" indent="0" marL="0">
              <a:buNone/>
            </a:pPr>
            <a:r>
              <a:rPr lang="en-US" sz="1800" dirty="0">
                <a:solidFill>
                  <a:schemeClr val="tx2"/>
                </a:solidFill>
              </a:rPr>
              <a:t>/</a:t>
            </a:r>
            <a:endParaRPr lang="en-US" sz="1800" dirty="0"/>
          </a:p>
        </p:txBody>
      </p:sp>
      <p:sp>
        <p:nvSpPr>
          <p:cNvPr id="82" name="txt-571"/>
          <p:cNvSpPr txBox="1"/>
          <p:nvPr/>
        </p:nvSpPr>
        <p:spPr>
          <a:xfrm>
            <a:off x="457200" y="3200400"/>
            <a:ext cx="4754880" cy="411480"/>
          </a:xfrm>
          <a:prstGeom prst="rect">
            <a:avLst/>
          </a:prstGeom>
          <a:noFill/>
          <a:ln/>
        </p:spPr>
        <p:txBody>
          <a:bodyPr wrap="square" lIns="0" tIns="0" rIns="0" bIns="0" rtlCol="0" anchor="ctr"/>
          <a:lstStyle/>
          <a:p>
            <a:pPr indent="0" marL="0">
              <a:buNone/>
            </a:pPr>
            <a:r>
              <a:rPr lang="en-US" sz="1100" dirty="0">
                <a:solidFill>
                  <a:schemeClr val="tx2"/>
                </a:solidFill>
              </a:rPr>
              <a:t>Tiles keep their colour (teal = started in the first half, amber = second half), so you can follow each value.</a:t>
            </a:r>
            <a:endParaRPr lang="en-US" sz="1100" dirty="0"/>
          </a:p>
        </p:txBody>
      </p:sp>
      <p:graphicFrame>
        <p:nvGraphicFramePr>
          <p:cNvPr id="83" name="chart-truce-masking" descr=""/>
          <p:cNvGraphicFramePr/>
          <p:nvPr/>
        </p:nvGraphicFramePr>
        <p:xfrm>
          <a:off x="5440680" y="1261872"/>
          <a:ext cx="3246120" cy="2377440"/>
        </p:xfrm>
        <a:graphic xmlns:a="http://schemas.openxmlformats.org/drawingml/2006/main">
          <a:graphicData uri="http://schemas.openxmlformats.org/drawingml/2006/chart">
            <c:chart xmlns:c="http://schemas.openxmlformats.org/drawingml/2006/chart" r:id="rId1"/>
          </a:graphicData>
        </a:graphic>
      </p:graphicFrame>
      <p:sp>
        <p:nvSpPr>
          <p:cNvPr id="84" name="card-572"/>
          <p:cNvSpPr/>
          <p:nvPr/>
        </p:nvSpPr>
        <p:spPr>
          <a:xfrm>
            <a:off x="457200" y="3749040"/>
            <a:ext cx="2624328" cy="960120"/>
          </a:xfrm>
          <a:prstGeom prst="roundRect">
            <a:avLst>
              <a:gd name="adj" fmla="val 7619"/>
            </a:avLst>
          </a:prstGeom>
          <a:solidFill>
            <a:schemeClr val="bg2"/>
          </a:solidFill>
          <a:ln/>
        </p:spPr>
      </p:sp>
      <p:sp>
        <p:nvSpPr>
          <p:cNvPr id="85" name="txt-573"/>
          <p:cNvSpPr txBox="1"/>
          <p:nvPr/>
        </p:nvSpPr>
        <p:spPr>
          <a:xfrm>
            <a:off x="594360" y="3858768"/>
            <a:ext cx="2286000" cy="201168"/>
          </a:xfrm>
          <a:prstGeom prst="rect">
            <a:avLst/>
          </a:prstGeom>
          <a:noFill/>
          <a:ln/>
        </p:spPr>
        <p:txBody>
          <a:bodyPr wrap="square" lIns="0" tIns="0" rIns="0" bIns="0" rtlCol="0" anchor="ctr"/>
          <a:lstStyle/>
          <a:p>
            <a:pPr indent="0" marL="0">
              <a:buNone/>
            </a:pPr>
            <a:r>
              <a:rPr lang="en-US" sz="1100" b="1" spc="100" kern="0" dirty="0">
                <a:solidFill>
                  <a:schemeClr val="accent2"/>
                </a:solidFill>
              </a:rPr>
              <a:t>KEEPS</a:t>
            </a:r>
            <a:endParaRPr lang="en-US" sz="1100" dirty="0"/>
          </a:p>
        </p:txBody>
      </p:sp>
      <p:sp>
        <p:nvSpPr>
          <p:cNvPr id="86" name="txt-574"/>
          <p:cNvSpPr txBox="1"/>
          <p:nvPr/>
        </p:nvSpPr>
        <p:spPr>
          <a:xfrm>
            <a:off x="594360" y="4096512"/>
            <a:ext cx="2350008" cy="548640"/>
          </a:xfrm>
          <a:prstGeom prst="rect">
            <a:avLst/>
          </a:prstGeom>
          <a:noFill/>
          <a:ln/>
        </p:spPr>
        <p:txBody>
          <a:bodyPr wrap="square" lIns="0" tIns="0" rIns="0" bIns="0" rtlCol="0" anchor="t"/>
          <a:lstStyle/>
          <a:p>
            <a:pPr indent="0" marL="0">
              <a:buNone/>
            </a:pPr>
            <a:r>
              <a:rPr lang="en-US" sz="1400" dirty="0">
                <a:solidFill>
                  <a:schemeClr val="tx1"/>
                </a:solidFill>
              </a:rPr>
              <a:t>The order of every step; 10 of the 12 values</a:t>
            </a:r>
            <a:endParaRPr lang="en-US" sz="1400" dirty="0"/>
          </a:p>
        </p:txBody>
      </p:sp>
      <p:sp>
        <p:nvSpPr>
          <p:cNvPr id="87" name="card-575"/>
          <p:cNvSpPr/>
          <p:nvPr/>
        </p:nvSpPr>
        <p:spPr>
          <a:xfrm>
            <a:off x="3259836" y="3749040"/>
            <a:ext cx="2624328" cy="960120"/>
          </a:xfrm>
          <a:prstGeom prst="roundRect">
            <a:avLst>
              <a:gd name="adj" fmla="val 7619"/>
            </a:avLst>
          </a:prstGeom>
          <a:solidFill>
            <a:schemeClr val="bg2"/>
          </a:solidFill>
          <a:ln/>
        </p:spPr>
      </p:sp>
      <p:sp>
        <p:nvSpPr>
          <p:cNvPr id="88" name="txt-576"/>
          <p:cNvSpPr txBox="1"/>
          <p:nvPr/>
        </p:nvSpPr>
        <p:spPr>
          <a:xfrm>
            <a:off x="3396996" y="3858768"/>
            <a:ext cx="2286000" cy="201168"/>
          </a:xfrm>
          <a:prstGeom prst="rect">
            <a:avLst/>
          </a:prstGeom>
          <a:noFill/>
          <a:ln/>
        </p:spPr>
        <p:txBody>
          <a:bodyPr wrap="square" lIns="0" tIns="0" rIns="0" bIns="0" rtlCol="0" anchor="ctr"/>
          <a:lstStyle/>
          <a:p>
            <a:pPr indent="0" marL="0">
              <a:buNone/>
            </a:pPr>
            <a:r>
              <a:rPr lang="en-US" sz="1100" b="1" spc="100" kern="0" dirty="0">
                <a:solidFill>
                  <a:schemeClr val="accent5"/>
                </a:solidFill>
              </a:rPr>
              <a:t>DESTROYS</a:t>
            </a:r>
            <a:endParaRPr lang="en-US" sz="1100" dirty="0"/>
          </a:p>
        </p:txBody>
      </p:sp>
      <p:sp>
        <p:nvSpPr>
          <p:cNvPr id="89" name="txt-577"/>
          <p:cNvSpPr txBox="1"/>
          <p:nvPr/>
        </p:nvSpPr>
        <p:spPr>
          <a:xfrm>
            <a:off x="3396996" y="4096512"/>
            <a:ext cx="2350008" cy="548640"/>
          </a:xfrm>
          <a:prstGeom prst="rect">
            <a:avLst/>
          </a:prstGeom>
          <a:noFill/>
          <a:ln/>
        </p:spPr>
        <p:txBody>
          <a:bodyPr wrap="square" lIns="0" tIns="0" rIns="0" bIns="0" rtlCol="0" anchor="t"/>
          <a:lstStyle/>
          <a:p>
            <a:pPr indent="0" marL="0">
              <a:buNone/>
            </a:pPr>
            <a:r>
              <a:rPr lang="en-US" sz="1400" dirty="0">
                <a:solidFill>
                  <a:schemeClr val="tx1"/>
                </a:solidFill>
              </a:rPr>
              <a:t>Values at steps 1 and 12, now the mean 18.9</a:t>
            </a:r>
            <a:endParaRPr lang="en-US" sz="1400" dirty="0"/>
          </a:p>
        </p:txBody>
      </p:sp>
      <p:sp>
        <p:nvSpPr>
          <p:cNvPr id="90" name="card-578"/>
          <p:cNvSpPr/>
          <p:nvPr/>
        </p:nvSpPr>
        <p:spPr>
          <a:xfrm>
            <a:off x="6062472" y="3749040"/>
            <a:ext cx="2624328" cy="960120"/>
          </a:xfrm>
          <a:prstGeom prst="roundRect">
            <a:avLst>
              <a:gd name="adj" fmla="val 7619"/>
            </a:avLst>
          </a:prstGeom>
          <a:solidFill>
            <a:schemeClr val="accent4">
              <a:alpha val="12000"/>
            </a:schemeClr>
          </a:solidFill>
          <a:ln/>
        </p:spPr>
      </p:sp>
      <p:sp>
        <p:nvSpPr>
          <p:cNvPr id="91" name="txt-579"/>
          <p:cNvSpPr txBox="1"/>
          <p:nvPr/>
        </p:nvSpPr>
        <p:spPr>
          <a:xfrm>
            <a:off x="6199632" y="3858768"/>
            <a:ext cx="2377440" cy="201168"/>
          </a:xfrm>
          <a:prstGeom prst="rect">
            <a:avLst/>
          </a:prstGeom>
          <a:noFill/>
          <a:ln/>
        </p:spPr>
        <p:txBody>
          <a:bodyPr wrap="square" lIns="0" tIns="0" rIns="0" bIns="0" rtlCol="0" anchor="ctr"/>
          <a:lstStyle/>
          <a:p>
            <a:pPr indent="0" marL="0">
              <a:buNone/>
            </a:pPr>
            <a:r>
              <a:rPr lang="en-US" sz="1100" b="1" spc="100" kern="0" dirty="0">
                <a:solidFill>
                  <a:schemeClr val="accent4"/>
                </a:solidFill>
              </a:rPr>
              <a:t>RANK OF “RISES A BIT…” · RUN 42</a:t>
            </a:r>
            <a:endParaRPr lang="en-US" sz="1100" dirty="0"/>
          </a:p>
        </p:txBody>
      </p:sp>
      <p:sp>
        <p:nvSpPr>
          <p:cNvPr id="92" name="txt-580"/>
          <p:cNvSpPr txBox="1"/>
          <p:nvPr/>
        </p:nvSpPr>
        <p:spPr>
          <a:xfrm>
            <a:off x="6199632" y="4078224"/>
            <a:ext cx="1097280" cy="4572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1 → 35</a:t>
            </a:r>
            <a:endParaRPr lang="en-US" sz="2600" dirty="0"/>
          </a:p>
        </p:txBody>
      </p:sp>
      <p:sp>
        <p:nvSpPr>
          <p:cNvPr id="93" name="txt-581"/>
          <p:cNvSpPr txBox="1"/>
          <p:nvPr/>
        </p:nvSpPr>
        <p:spPr>
          <a:xfrm>
            <a:off x="7251192" y="4169664"/>
            <a:ext cx="1188720" cy="292608"/>
          </a:xfrm>
          <a:prstGeom prst="rect">
            <a:avLst/>
          </a:prstGeom>
          <a:noFill/>
          <a:ln/>
        </p:spPr>
        <p:txBody>
          <a:bodyPr wrap="square" lIns="0" tIns="0" rIns="0" bIns="0" rtlCol="0" anchor="ctr"/>
          <a:lstStyle/>
          <a:p>
            <a:pPr indent="0" marL="0">
              <a:buNone/>
            </a:pPr>
            <a:r>
              <a:rPr lang="en-US" sz="1200" dirty="0">
                <a:solidFill>
                  <a:schemeClr val="tx2"/>
                </a:solidFill>
              </a:rPr>
              <a:t>of 386</a:t>
            </a:r>
            <a:endParaRPr lang="en-US" sz="1200" dirty="0"/>
          </a:p>
        </p:txBody>
      </p:sp>
      <p:sp>
        <p:nvSpPr>
          <p:cNvPr id="94" name="txt-582"/>
          <p:cNvSpPr txBox="1"/>
          <p:nvPr/>
        </p:nvSpPr>
        <p:spPr>
          <a:xfrm>
            <a:off x="6199632" y="4480560"/>
            <a:ext cx="2395728" cy="201168"/>
          </a:xfrm>
          <a:prstGeom prst="rect">
            <a:avLst/>
          </a:prstGeom>
          <a:noFill/>
          <a:ln/>
        </p:spPr>
        <p:txBody>
          <a:bodyPr wrap="square" lIns="0" tIns="0" rIns="0" bIns="0" rtlCol="0" anchor="ctr"/>
          <a:lstStyle/>
          <a:p>
            <a:pPr indent="0" marL="0">
              <a:buNone/>
            </a:pPr>
            <a:r>
              <a:rPr lang="en-US" sz="1000" dirty="0">
                <a:solidFill>
                  <a:schemeClr val="tx2"/>
                </a:solidFill>
              </a:rPr>
              <a:t>runs 43, 44 (other steps masked): 7, 9</a:t>
            </a:r>
            <a:endParaRPr lang="en-US" sz="1000" dirty="0"/>
          </a:p>
        </p:txBody>
      </p:sp>
      <p:sp>
        <p:nvSpPr>
          <p:cNvPr id="25" name="Slide Number Placeholder 0"/>
          <p:cNvSpPr>
            <a:spLocks noGrp="1"/>
          </p:cNvSpPr>
          <p:nvPr>
            <p:ph type="sldNum" sz="quarter" idx="4294967295"/>
          </p:nvPr>
        </p:nvSpPr>
        <p:spPr>
          <a:xfrm>
            <a:off x="832104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566928"/>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At scale: a weather record</a:t>
            </a:r>
            <a:endParaRPr lang="en-US" sz="3400" dirty="0"/>
          </a:p>
        </p:txBody>
      </p:sp>
      <p:sp>
        <p:nvSpPr>
          <p:cNvPr id="3" name="Text 0"/>
          <p:cNvSpPr/>
          <p:nvPr>
            <p:ph idx="101" type="body" hasCustomPrompt="1"/>
          </p:nvPr>
        </p:nvSpPr>
        <p:spPr>
          <a:xfrm>
            <a:off x="457200" y="822960"/>
            <a:ext cx="8229600" cy="365760"/>
          </a:xfrm>
          <a:prstGeom prst="rect">
            <a:avLst/>
          </a:prstGeom>
          <a:noFill/>
          <a:ln/>
        </p:spPr>
        <p:txBody>
          <a:bodyPr wrap="square" lIns="0" tIns="0" rIns="0" bIns="0" rtlCol="0" anchor="t"/>
          <a:lstStyle/>
          <a:p>
            <a:pPr algn="l" indent="0" marL="0">
              <a:buNone/>
            </a:pPr>
            <a:r>
              <a:rPr lang="en-US" sz="1500" dirty="0">
                <a:solidFill>
                  <a:schemeClr val="tx2"/>
                </a:solidFill>
              </a:rPr>
              <a:t>NOAA test record 206 · Mariposa, CA, Jul–Dec 2022 · 180 days × 7 channels · TRACE draw 13</a:t>
            </a:r>
            <a:endParaRPr lang="en-US" sz="1500" dirty="0"/>
          </a:p>
        </p:txBody>
      </p:sp>
      <p:graphicFrame>
        <p:nvGraphicFramePr>
          <p:cNvPr id="4" name="chart-trace-sf_all" descr=""/>
          <p:cNvGraphicFramePr/>
          <p:nvPr/>
        </p:nvGraphicFramePr>
        <p:xfrm>
          <a:off x="457200" y="1298448"/>
          <a:ext cx="2834640" cy="1627632"/>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trace-sf_half" descr=""/>
          <p:cNvGraphicFramePr/>
          <p:nvPr/>
        </p:nvGraphicFramePr>
        <p:xfrm>
          <a:off x="3429000" y="1298448"/>
          <a:ext cx="2834640" cy="1627632"/>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chart-trace-ex_half" descr=""/>
          <p:cNvGraphicFramePr/>
          <p:nvPr/>
        </p:nvGraphicFramePr>
        <p:xfrm>
          <a:off x="457200" y="3054096"/>
          <a:ext cx="2834640" cy="1627632"/>
        </p:xfrm>
        <a:graphic xmlns:a="http://schemas.openxmlformats.org/drawingml/2006/main">
          <a:graphicData uri="http://schemas.openxmlformats.org/drawingml/2006/chart">
            <c:chart xmlns:c="http://schemas.openxmlformats.org/drawingml/2006/chart" r:id="rId3"/>
          </a:graphicData>
        </a:graphic>
      </p:graphicFrame>
      <p:graphicFrame>
        <p:nvGraphicFramePr>
          <p:cNvPr id="7" name="chart-trace-masking" descr=""/>
          <p:cNvGraphicFramePr/>
          <p:nvPr/>
        </p:nvGraphicFramePr>
        <p:xfrm>
          <a:off x="3429000" y="3054096"/>
          <a:ext cx="2834640" cy="1627632"/>
        </p:xfrm>
        <a:graphic xmlns:a="http://schemas.openxmlformats.org/drawingml/2006/main">
          <a:graphicData uri="http://schemas.openxmlformats.org/drawingml/2006/chart">
            <c:chart xmlns:c="http://schemas.openxmlformats.org/drawingml/2006/chart" r:id="rId4"/>
          </a:graphicData>
        </a:graphic>
      </p:graphicFrame>
      <p:sp>
        <p:nvSpPr>
          <p:cNvPr id="8" name="txt-583"/>
          <p:cNvSpPr txBox="1"/>
          <p:nvPr/>
        </p:nvSpPr>
        <p:spPr>
          <a:xfrm>
            <a:off x="6355080" y="1325880"/>
            <a:ext cx="2331720" cy="201168"/>
          </a:xfrm>
          <a:prstGeom prst="rect">
            <a:avLst/>
          </a:prstGeom>
          <a:noFill/>
          <a:ln/>
        </p:spPr>
        <p:txBody>
          <a:bodyPr wrap="square" lIns="0" tIns="0" rIns="0" bIns="0" rtlCol="0" anchor="ctr"/>
          <a:lstStyle/>
          <a:p>
            <a:pPr indent="0" marL="0">
              <a:buNone/>
            </a:pPr>
            <a:r>
              <a:rPr lang="en-US" sz="1100" b="1" spc="100" kern="0" dirty="0">
                <a:solidFill>
                  <a:schemeClr val="tx2"/>
                </a:solidFill>
              </a:rPr>
              <a:t>THE DESCRIPTION SAYS</a:t>
            </a:r>
            <a:endParaRPr lang="en-US" sz="1100" dirty="0"/>
          </a:p>
        </p:txBody>
      </p:sp>
      <p:sp>
        <p:nvSpPr>
          <p:cNvPr id="9" name="txt-584"/>
          <p:cNvSpPr txBox="1"/>
          <p:nvPr/>
        </p:nvSpPr>
        <p:spPr>
          <a:xfrm>
            <a:off x="6355080" y="1581912"/>
            <a:ext cx="2331720" cy="1508760"/>
          </a:xfrm>
          <a:prstGeom prst="rect">
            <a:avLst/>
          </a:prstGeom>
          <a:noFill/>
          <a:ln/>
        </p:spPr>
        <p:txBody>
          <a:bodyPr wrap="square" lIns="0" tIns="0" rIns="0" bIns="0" rtlCol="0" anchor="t"/>
          <a:lstStyle/>
          <a:p>
            <a:pPr indent="0" marL="0">
              <a:buNone/>
            </a:pPr>
            <a:r>
              <a:rPr lang="en-US" sz="1300" i="1" dirty="0">
                <a:solidFill>
                  <a:schemeClr val="tx1"/>
                </a:solidFill>
              </a:rPr>
              <a:t>“The temperature showed a noticeable trend of rising during the summer months, peaking in August…, followed by a gradual decline into colder temperatures in December.”</a:t>
            </a:r>
            <a:endParaRPr lang="en-US" sz="1300" dirty="0"/>
          </a:p>
        </p:txBody>
      </p:sp>
      <p:sp>
        <p:nvSpPr>
          <p:cNvPr id="10" name="txt-585"/>
          <p:cNvSpPr txBox="1"/>
          <p:nvPr/>
        </p:nvSpPr>
        <p:spPr>
          <a:xfrm>
            <a:off x="6355080" y="3154680"/>
            <a:ext cx="2331720" cy="201168"/>
          </a:xfrm>
          <a:prstGeom prst="rect">
            <a:avLst/>
          </a:prstGeom>
          <a:noFill/>
          <a:ln/>
        </p:spPr>
        <p:txBody>
          <a:bodyPr wrap="square" lIns="0" tIns="0" rIns="0" bIns="0" rtlCol="0" anchor="ctr"/>
          <a:lstStyle/>
          <a:p>
            <a:pPr indent="0" marL="0">
              <a:buNone/>
            </a:pPr>
            <a:r>
              <a:rPr lang="en-US" sz="1100" b="1" spc="100" kern="0" dirty="0">
                <a:solidFill>
                  <a:schemeClr val="tx2"/>
                </a:solidFill>
              </a:rPr>
              <a:t>READING THE PANELS</a:t>
            </a:r>
            <a:endParaRPr lang="en-US" sz="1100" dirty="0"/>
          </a:p>
        </p:txBody>
      </p:sp>
      <p:sp>
        <p:nvSpPr>
          <p:cNvPr id="11" name="txt-586"/>
          <p:cNvSpPr txBox="1"/>
          <p:nvPr/>
        </p:nvSpPr>
        <p:spPr>
          <a:xfrm>
            <a:off x="6355080" y="3410712"/>
            <a:ext cx="2331720" cy="1325880"/>
          </a:xfrm>
          <a:prstGeom prst="rect">
            <a:avLst/>
          </a:prstGeom>
          <a:noFill/>
          <a:ln/>
        </p:spPr>
        <p:txBody>
          <a:bodyPr wrap="square" lIns="0" tIns="0" rIns="0" bIns="0" rtlCol="0" anchor="t"/>
          <a:lstStyle/>
          <a:p>
            <a:pPr indent="0" marL="0">
              <a:spcAft>
                <a:spcPts val="400"/>
              </a:spcAft>
              <a:buNone/>
            </a:pPr>
            <a:r>
              <a:rPr lang="en-US" sz="1200" dirty="0">
                <a:solidFill>
                  <a:schemeClr val="tx2"/>
                </a:solidFill>
              </a:rPr>
              <a:t>Temperature in °C; grey = original. Rank among 2,006 test records.</a:t>
            </a:r>
            <a:endParaRPr lang="en-US" sz="1200" dirty="0"/>
          </a:p>
          <a:p>
            <a:pPr indent="0" marL="0">
              <a:spcAft>
                <a:spcPts val="400"/>
              </a:spcAft>
              <a:buNone/>
            </a:pPr>
            <a:r>
              <a:rPr lang="en-US" sz="1200" dirty="0">
                <a:solidFill>
                  <a:schemeClr val="tx2"/>
                </a:solidFill>
              </a:rPr>
              <a:t>All 7 channels share one permutation, so each day’s readings stay together. Masking hits 36 of 180 days.</a:t>
            </a:r>
            <a:endParaRPr lang="en-US" sz="1200" dirty="0"/>
          </a:p>
        </p:txBody>
      </p:sp>
      <p:sp>
        <p:nvSpPr>
          <p:cNvPr id="25" name="Slide Number Placeholder 0"/>
          <p:cNvSpPr>
            <a:spLocks noGrp="1"/>
          </p:cNvSpPr>
          <p:nvPr>
            <p:ph type="sldNum" sz="quarter" idx="4294967295"/>
          </p:nvPr>
        </p:nvSpPr>
        <p:spPr>
          <a:xfrm>
            <a:off x="832104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566928"/>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One recipe, adapted per dataset</a:t>
            </a:r>
            <a:endParaRPr lang="en-US" sz="3400" dirty="0"/>
          </a:p>
        </p:txBody>
      </p:sp>
      <p:sp>
        <p:nvSpPr>
          <p:cNvPr id="3" name="Text 0"/>
          <p:cNvSpPr/>
          <p:nvPr>
            <p:ph idx="101" type="body" hasCustomPrompt="1"/>
          </p:nvPr>
        </p:nvSpPr>
        <p:spPr>
          <a:xfrm>
            <a:off x="457200" y="822960"/>
            <a:ext cx="8229600" cy="365760"/>
          </a:xfrm>
          <a:prstGeom prst="rect">
            <a:avLst/>
          </a:prstGeom>
          <a:noFill/>
          <a:ln/>
        </p:spPr>
        <p:txBody>
          <a:bodyPr wrap="square" lIns="0" tIns="0" rIns="0" bIns="0" rtlCol="0" anchor="t"/>
          <a:lstStyle/>
          <a:p>
            <a:pPr algn="l" indent="0" marL="0">
              <a:buNone/>
            </a:pPr>
            <a:r>
              <a:rPr lang="en-US" sz="1500" dirty="0">
                <a:solidFill>
                  <a:schemeClr val="tx2"/>
                </a:solidFill>
              </a:rPr>
              <a:t>Halves and mask sizes follow each series’ real length; every draw is seeded per series, condition and run</a:t>
            </a:r>
            <a:endParaRPr lang="en-US" sz="1500" dirty="0"/>
          </a:p>
        </p:txBody>
      </p:sp>
      <p:graphicFrame>
        <p:nvGraphicFramePr>
          <p:cNvPr id="10" name="table-mechanics"/>
          <p:cNvGraphicFramePr>
            <a:graphicFrameLocks noGrp="1"/>
          </p:cNvGraphicFramePr>
          <p:nvPr>
            <p:extLst>
              <p:ext uri="{D42A27DB-BD31-4B8C-83A1-F6EECF244321}">
                <p14:modId xmlns:p14="http://schemas.microsoft.com/office/powerpoint/2010/main" val="1579011935"/>
              </p:ext>
            </p:extLst>
          </p:nvPr>
        </p:nvGraphicFramePr>
        <p:xfrm>
          <a:off x="457200" y="1353312"/>
          <a:ext cx="5440680" cy="914400"/>
        </p:xfrm>
        <a:graphic>
          <a:graphicData uri="http://schemas.openxmlformats.org/drawingml/2006/table">
            <a:tbl>
              <a:tblPr/>
              <a:tblGrid>
                <a:gridCol w="1600200"/>
                <a:gridCol w="868680"/>
                <a:gridCol w="594360"/>
                <a:gridCol w="960120"/>
                <a:gridCol w="1417320"/>
              </a:tblGrid>
              <a:tr h="329184">
                <a:tc>
                  <a:txBody>
                    <a:bodyPr/>
                    <a:lstStyle/>
                    <a:p>
                      <a:pPr indent="0" marL="0">
                        <a:buNone/>
                      </a:pPr>
                      <a:r>
                        <a:rPr lang="en-US" sz="1200" b="1" dirty="0">
                          <a:solidFill>
                            <a:schemeClr val="bg1"/>
                          </a:solidFill>
                        </a:rPr>
                        <a:t>Dataset (models)</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Length L</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Half</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Masked</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Applied to</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tx1"/>
                    </a:solidFill>
                  </a:tcPr>
                </a:tc>
              </a:tr>
              <a:tr h="457200">
                <a:tc>
                  <a:txBody>
                    <a:bodyPr/>
                    <a:lstStyle/>
                    <a:p>
                      <a:pPr indent="0" marL="0">
                        <a:buNone/>
                      </a:pPr>
                      <a:r>
                        <a:rPr lang="en-US" sz="1200" b="1" dirty="0">
                          <a:solidFill>
                            <a:schemeClr val="tx1"/>
                          </a:solidFill>
                        </a:rPr>
                        <a:t>SUSHI (CLaSP, TE-3L, ChatTS)</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2,048</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1,024</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409</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z-normalised input</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bg1"/>
                    </a:solidFill>
                  </a:tcPr>
                </a:tc>
              </a:tr>
              <a:tr h="457200">
                <a:tc>
                  <a:txBody>
                    <a:bodyPr/>
                    <a:lstStyle/>
                    <a:p>
                      <a:pPr indent="0" marL="0">
                        <a:buNone/>
                      </a:pPr>
                      <a:r>
                        <a:rPr lang="en-US" sz="1200" b="1" dirty="0">
                          <a:solidFill>
                            <a:schemeClr val="tx1"/>
                          </a:solidFill>
                        </a:rPr>
                        <a:t>TRUCE (CLaSP, TE-3L, ChatTS)</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12</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6</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 (16.7%)</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z-normalised input</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bg1"/>
                    </a:solidFill>
                  </a:tcPr>
                </a:tc>
              </a:tr>
              <a:tr h="566928">
                <a:tc>
                  <a:txBody>
                    <a:bodyPr/>
                    <a:lstStyle/>
                    <a:p>
                      <a:pPr indent="0" marL="0">
                        <a:buNone/>
                      </a:pPr>
                      <a:r>
                        <a:rPr lang="en-US" sz="1200" b="1" dirty="0">
                          <a:solidFill>
                            <a:schemeClr val="tx1"/>
                          </a:solidFill>
                        </a:rPr>
                        <a:t>NOAA (TRACE)</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102–180 valid</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⌊V/2⌋</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⌊0.2V⌋ (19.8%)</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valid steps only, then TRACE’s own 30% mask</a:t>
                      </a:r>
                      <a:endParaRPr lang="en-US" sz="1200" dirty="0"/>
                    </a:p>
                  </a:txBody>
                  <a:tcPr marL="73152" marR="73152" marT="45720" marB="45720" anchor="ctr">
                    <a:lnL w="9525" cap="flat" cmpd="sng" algn="ctr">
                      <a:solidFill>
                        <a:srgbClr val="B9C2CF"/>
                      </a:solidFill>
                      <a:prstDash val="solid"/>
                      <a:round/>
                      <a:headEnd type="none" w="med" len="med"/>
                      <a:tailEnd type="none" w="med" len="med"/>
                    </a:lnL>
                    <a:lnR w="9525" cap="flat" cmpd="sng" algn="ctr">
                      <a:solidFill>
                        <a:srgbClr val="B9C2CF"/>
                      </a:solidFill>
                      <a:prstDash val="solid"/>
                      <a:round/>
                      <a:headEnd type="none" w="med" len="med"/>
                      <a:tailEnd type="none" w="med" len="med"/>
                    </a:lnR>
                    <a:lnT w="9525" cap="flat" cmpd="sng" algn="ctr">
                      <a:solidFill>
                        <a:srgbClr val="B9C2CF"/>
                      </a:solidFill>
                      <a:prstDash val="solid"/>
                      <a:round/>
                      <a:headEnd type="none" w="med" len="med"/>
                      <a:tailEnd type="none" w="med" len="med"/>
                    </a:lnT>
                    <a:lnB w="9525" cap="flat" cmpd="sng" algn="ctr">
                      <a:solidFill>
                        <a:srgbClr val="B9C2CF"/>
                      </a:solidFill>
                      <a:prstDash val="solid"/>
                      <a:round/>
                      <a:headEnd type="none" w="med" len="med"/>
                      <a:tailEnd type="none" w="med" len="med"/>
                    </a:lnB>
                    <a:solidFill>
                      <a:schemeClr val="bg1"/>
                    </a:solidFill>
                  </a:tcPr>
                </a:tc>
              </a:tr>
            </a:tbl>
          </a:graphicData>
        </a:graphic>
      </p:graphicFrame>
      <p:sp>
        <p:nvSpPr>
          <p:cNvPr id="5" name="card-587"/>
          <p:cNvSpPr/>
          <p:nvPr/>
        </p:nvSpPr>
        <p:spPr>
          <a:xfrm>
            <a:off x="457200" y="3429000"/>
            <a:ext cx="5440680" cy="1234440"/>
          </a:xfrm>
          <a:prstGeom prst="roundRect">
            <a:avLst>
              <a:gd name="adj" fmla="val 5926"/>
            </a:avLst>
          </a:prstGeom>
          <a:solidFill>
            <a:schemeClr val="bg2"/>
          </a:solidFill>
          <a:ln/>
        </p:spPr>
      </p:sp>
      <p:sp>
        <p:nvSpPr>
          <p:cNvPr id="6" name="txt-588"/>
          <p:cNvSpPr txBox="1"/>
          <p:nvPr/>
        </p:nvSpPr>
        <p:spPr>
          <a:xfrm>
            <a:off x="594360" y="3538728"/>
            <a:ext cx="5029200" cy="201168"/>
          </a:xfrm>
          <a:prstGeom prst="rect">
            <a:avLst/>
          </a:prstGeom>
          <a:noFill/>
          <a:ln/>
        </p:spPr>
        <p:txBody>
          <a:bodyPr wrap="square" lIns="0" tIns="0" rIns="0" bIns="0" rtlCol="0" anchor="ctr"/>
          <a:lstStyle/>
          <a:p>
            <a:pPr indent="0" marL="0">
              <a:buNone/>
            </a:pPr>
            <a:r>
              <a:rPr lang="en-US" sz="1100" b="1" spc="100" kern="0" dirty="0">
                <a:solidFill>
                  <a:schemeClr val="accent2"/>
                </a:solidFill>
              </a:rPr>
              <a:t>CHATTS DIFFERENCES</a:t>
            </a:r>
            <a:endParaRPr lang="en-US" sz="1100" dirty="0"/>
          </a:p>
        </p:txBody>
      </p:sp>
      <p:sp>
        <p:nvSpPr>
          <p:cNvPr id="7" name="txt-589"/>
          <p:cNvSpPr txBox="1"/>
          <p:nvPr/>
        </p:nvSpPr>
        <p:spPr>
          <a:xfrm>
            <a:off x="594360" y="3776472"/>
            <a:ext cx="5166360" cy="841248"/>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Masked points take the mean of the remaining points, which becomes 0 once ChatTS centres the series.</a:t>
            </a:r>
            <a:endParaRPr lang="en-US" sz="1300" dirty="0"/>
          </a:p>
          <a:p>
            <a:pPr marL="342900" indent="-342900">
              <a:spcAft>
                <a:spcPts val="300"/>
              </a:spcAft>
              <a:buSzPct val="100000"/>
              <a:buChar char="•"/>
            </a:pPr>
            <a:r>
              <a:rPr lang="en-US" sz="1300" dirty="0">
                <a:solidFill>
                  <a:schemeClr val="tx1"/>
                </a:solidFill>
              </a:rPr>
              <a:t>Two extra SUSHI-only shuffles act on its 128 patches of 16 points: within-patch and patch-order.</a:t>
            </a:r>
            <a:endParaRPr lang="en-US" sz="1300" dirty="0"/>
          </a:p>
        </p:txBody>
      </p:sp>
      <p:sp>
        <p:nvSpPr>
          <p:cNvPr id="8" name="txt-590"/>
          <p:cNvSpPr txBox="1"/>
          <p:nvPr/>
        </p:nvSpPr>
        <p:spPr>
          <a:xfrm>
            <a:off x="6263640" y="1353312"/>
            <a:ext cx="2468880" cy="201168"/>
          </a:xfrm>
          <a:prstGeom prst="rect">
            <a:avLst/>
          </a:prstGeom>
          <a:noFill/>
          <a:ln/>
        </p:spPr>
        <p:txBody>
          <a:bodyPr wrap="square" lIns="0" tIns="0" rIns="0" bIns="0" rtlCol="0" anchor="ctr"/>
          <a:lstStyle/>
          <a:p>
            <a:pPr indent="0" marL="0">
              <a:buNone/>
            </a:pPr>
            <a:r>
              <a:rPr lang="en-US" sz="1100" b="1" spc="100" kern="0" dirty="0">
                <a:solidFill>
                  <a:schemeClr val="tx2"/>
                </a:solidFill>
              </a:rPr>
              <a:t>PADDING STAYS PUT (TRACE)</a:t>
            </a:r>
            <a:endParaRPr lang="en-US" sz="1100" dirty="0"/>
          </a:p>
        </p:txBody>
      </p:sp>
      <p:sp>
        <p:nvSpPr>
          <p:cNvPr id="9" name="tile-591"/>
          <p:cNvSpPr/>
          <p:nvPr/>
        </p:nvSpPr>
        <p:spPr>
          <a:xfrm>
            <a:off x="6263640" y="1627632"/>
            <a:ext cx="256032" cy="310896"/>
          </a:xfrm>
          <a:prstGeom prst="roundRect">
            <a:avLst>
              <a:gd name="adj" fmla="val 21429"/>
            </a:avLst>
          </a:prstGeom>
          <a:solidFill>
            <a:schemeClr val="bg2"/>
          </a:solidFill>
          <a:ln w="9525">
            <a:solidFill>
              <a:schemeClr val="accent6"/>
            </a:solidFill>
            <a:prstDash val="solid"/>
          </a:ln>
        </p:spPr>
      </p:sp>
      <p:sp>
        <p:nvSpPr>
          <p:cNvPr id="10" name="txt-592"/>
          <p:cNvSpPr txBox="1"/>
          <p:nvPr/>
        </p:nvSpPr>
        <p:spPr>
          <a:xfrm>
            <a:off x="6263640" y="1627632"/>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a:t>
            </a:r>
            <a:endParaRPr lang="en-US" sz="1300" dirty="0"/>
          </a:p>
        </p:txBody>
      </p:sp>
      <p:sp>
        <p:nvSpPr>
          <p:cNvPr id="11" name="tile-593"/>
          <p:cNvSpPr/>
          <p:nvPr/>
        </p:nvSpPr>
        <p:spPr>
          <a:xfrm>
            <a:off x="6565392" y="1627632"/>
            <a:ext cx="256032" cy="310896"/>
          </a:xfrm>
          <a:prstGeom prst="roundRect">
            <a:avLst>
              <a:gd name="adj" fmla="val 21429"/>
            </a:avLst>
          </a:prstGeom>
          <a:solidFill>
            <a:schemeClr val="bg2"/>
          </a:solidFill>
          <a:ln w="9525">
            <a:solidFill>
              <a:schemeClr val="accent6"/>
            </a:solidFill>
            <a:prstDash val="solid"/>
          </a:ln>
        </p:spPr>
      </p:sp>
      <p:sp>
        <p:nvSpPr>
          <p:cNvPr id="12" name="txt-594"/>
          <p:cNvSpPr txBox="1"/>
          <p:nvPr/>
        </p:nvSpPr>
        <p:spPr>
          <a:xfrm>
            <a:off x="6565392" y="1627632"/>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a:t>
            </a:r>
            <a:endParaRPr lang="en-US" sz="1300" dirty="0"/>
          </a:p>
        </p:txBody>
      </p:sp>
      <p:sp>
        <p:nvSpPr>
          <p:cNvPr id="13" name="tile-595"/>
          <p:cNvSpPr/>
          <p:nvPr/>
        </p:nvSpPr>
        <p:spPr>
          <a:xfrm>
            <a:off x="6867144" y="1627632"/>
            <a:ext cx="256032" cy="310896"/>
          </a:xfrm>
          <a:prstGeom prst="roundRect">
            <a:avLst>
              <a:gd name="adj" fmla="val 21429"/>
            </a:avLst>
          </a:prstGeom>
          <a:solidFill>
            <a:schemeClr val="accent2">
              <a:alpha val="24000"/>
            </a:schemeClr>
          </a:solidFill>
          <a:ln w="9525">
            <a:solidFill>
              <a:schemeClr val="accent2"/>
            </a:solidFill>
            <a:prstDash val="solid"/>
          </a:ln>
        </p:spPr>
      </p:sp>
      <p:sp>
        <p:nvSpPr>
          <p:cNvPr id="14" name="txt-596"/>
          <p:cNvSpPr txBox="1"/>
          <p:nvPr/>
        </p:nvSpPr>
        <p:spPr>
          <a:xfrm>
            <a:off x="6867144" y="1627632"/>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a</a:t>
            </a:r>
            <a:endParaRPr lang="en-US" sz="1300" dirty="0"/>
          </a:p>
        </p:txBody>
      </p:sp>
      <p:sp>
        <p:nvSpPr>
          <p:cNvPr id="15" name="tile-597"/>
          <p:cNvSpPr/>
          <p:nvPr/>
        </p:nvSpPr>
        <p:spPr>
          <a:xfrm>
            <a:off x="7168896" y="1627632"/>
            <a:ext cx="256032" cy="310896"/>
          </a:xfrm>
          <a:prstGeom prst="roundRect">
            <a:avLst>
              <a:gd name="adj" fmla="val 21429"/>
            </a:avLst>
          </a:prstGeom>
          <a:solidFill>
            <a:schemeClr val="accent2">
              <a:alpha val="24000"/>
            </a:schemeClr>
          </a:solidFill>
          <a:ln w="9525">
            <a:solidFill>
              <a:schemeClr val="accent2"/>
            </a:solidFill>
            <a:prstDash val="solid"/>
          </a:ln>
        </p:spPr>
      </p:sp>
      <p:sp>
        <p:nvSpPr>
          <p:cNvPr id="16" name="txt-598"/>
          <p:cNvSpPr txBox="1"/>
          <p:nvPr/>
        </p:nvSpPr>
        <p:spPr>
          <a:xfrm>
            <a:off x="7168896" y="1627632"/>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b</a:t>
            </a:r>
            <a:endParaRPr lang="en-US" sz="1300" dirty="0"/>
          </a:p>
        </p:txBody>
      </p:sp>
      <p:sp>
        <p:nvSpPr>
          <p:cNvPr id="17" name="tile-599"/>
          <p:cNvSpPr/>
          <p:nvPr/>
        </p:nvSpPr>
        <p:spPr>
          <a:xfrm>
            <a:off x="7470648" y="1627632"/>
            <a:ext cx="256032" cy="310896"/>
          </a:xfrm>
          <a:prstGeom prst="roundRect">
            <a:avLst>
              <a:gd name="adj" fmla="val 21429"/>
            </a:avLst>
          </a:prstGeom>
          <a:solidFill>
            <a:schemeClr val="accent2">
              <a:alpha val="24000"/>
            </a:schemeClr>
          </a:solidFill>
          <a:ln w="9525">
            <a:solidFill>
              <a:schemeClr val="accent2"/>
            </a:solidFill>
            <a:prstDash val="solid"/>
          </a:ln>
        </p:spPr>
      </p:sp>
      <p:sp>
        <p:nvSpPr>
          <p:cNvPr id="18" name="txt-600"/>
          <p:cNvSpPr txBox="1"/>
          <p:nvPr/>
        </p:nvSpPr>
        <p:spPr>
          <a:xfrm>
            <a:off x="7470648" y="1627632"/>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c</a:t>
            </a:r>
            <a:endParaRPr lang="en-US" sz="1300" dirty="0"/>
          </a:p>
        </p:txBody>
      </p:sp>
      <p:sp>
        <p:nvSpPr>
          <p:cNvPr id="19" name="tile-601"/>
          <p:cNvSpPr/>
          <p:nvPr/>
        </p:nvSpPr>
        <p:spPr>
          <a:xfrm>
            <a:off x="7772400" y="1627632"/>
            <a:ext cx="256032" cy="310896"/>
          </a:xfrm>
          <a:prstGeom prst="roundRect">
            <a:avLst>
              <a:gd name="adj" fmla="val 21429"/>
            </a:avLst>
          </a:prstGeom>
          <a:solidFill>
            <a:schemeClr val="accent3">
              <a:alpha val="24000"/>
            </a:schemeClr>
          </a:solidFill>
          <a:ln w="9525">
            <a:solidFill>
              <a:schemeClr val="accent3"/>
            </a:solidFill>
            <a:prstDash val="solid"/>
          </a:ln>
        </p:spPr>
      </p:sp>
      <p:sp>
        <p:nvSpPr>
          <p:cNvPr id="20" name="txt-602"/>
          <p:cNvSpPr txBox="1"/>
          <p:nvPr/>
        </p:nvSpPr>
        <p:spPr>
          <a:xfrm>
            <a:off x="7772400" y="1627632"/>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d</a:t>
            </a:r>
            <a:endParaRPr lang="en-US" sz="1300" dirty="0"/>
          </a:p>
        </p:txBody>
      </p:sp>
      <p:sp>
        <p:nvSpPr>
          <p:cNvPr id="21" name="tile-603"/>
          <p:cNvSpPr/>
          <p:nvPr/>
        </p:nvSpPr>
        <p:spPr>
          <a:xfrm>
            <a:off x="8074152" y="1627632"/>
            <a:ext cx="256032" cy="310896"/>
          </a:xfrm>
          <a:prstGeom prst="roundRect">
            <a:avLst>
              <a:gd name="adj" fmla="val 21429"/>
            </a:avLst>
          </a:prstGeom>
          <a:solidFill>
            <a:schemeClr val="accent3">
              <a:alpha val="24000"/>
            </a:schemeClr>
          </a:solidFill>
          <a:ln w="9525">
            <a:solidFill>
              <a:schemeClr val="accent3"/>
            </a:solidFill>
            <a:prstDash val="solid"/>
          </a:ln>
        </p:spPr>
      </p:sp>
      <p:sp>
        <p:nvSpPr>
          <p:cNvPr id="22" name="txt-604"/>
          <p:cNvSpPr txBox="1"/>
          <p:nvPr/>
        </p:nvSpPr>
        <p:spPr>
          <a:xfrm>
            <a:off x="8074152" y="1627632"/>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e</a:t>
            </a:r>
            <a:endParaRPr lang="en-US" sz="1300" dirty="0"/>
          </a:p>
        </p:txBody>
      </p:sp>
      <p:sp>
        <p:nvSpPr>
          <p:cNvPr id="23" name="tile-605"/>
          <p:cNvSpPr/>
          <p:nvPr/>
        </p:nvSpPr>
        <p:spPr>
          <a:xfrm>
            <a:off x="8375904" y="1627632"/>
            <a:ext cx="256032" cy="310896"/>
          </a:xfrm>
          <a:prstGeom prst="roundRect">
            <a:avLst>
              <a:gd name="adj" fmla="val 21429"/>
            </a:avLst>
          </a:prstGeom>
          <a:solidFill>
            <a:schemeClr val="accent3">
              <a:alpha val="24000"/>
            </a:schemeClr>
          </a:solidFill>
          <a:ln w="9525">
            <a:solidFill>
              <a:schemeClr val="accent3"/>
            </a:solidFill>
            <a:prstDash val="solid"/>
          </a:ln>
        </p:spPr>
      </p:sp>
      <p:sp>
        <p:nvSpPr>
          <p:cNvPr id="24" name="txt-606"/>
          <p:cNvSpPr txBox="1"/>
          <p:nvPr/>
        </p:nvSpPr>
        <p:spPr>
          <a:xfrm>
            <a:off x="8375904" y="1627632"/>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f</a:t>
            </a:r>
            <a:endParaRPr lang="en-US" sz="1300" dirty="0"/>
          </a:p>
        </p:txBody>
      </p:sp>
      <p:sp>
        <p:nvSpPr>
          <p:cNvPr id="25" name="tile-607"/>
          <p:cNvSpPr/>
          <p:nvPr/>
        </p:nvSpPr>
        <p:spPr>
          <a:xfrm>
            <a:off x="6263640" y="1993392"/>
            <a:ext cx="256032" cy="310896"/>
          </a:xfrm>
          <a:prstGeom prst="roundRect">
            <a:avLst>
              <a:gd name="adj" fmla="val 21429"/>
            </a:avLst>
          </a:prstGeom>
          <a:solidFill>
            <a:schemeClr val="bg2"/>
          </a:solidFill>
          <a:ln w="9525">
            <a:solidFill>
              <a:schemeClr val="accent6"/>
            </a:solidFill>
            <a:prstDash val="solid"/>
          </a:ln>
        </p:spPr>
      </p:sp>
      <p:sp>
        <p:nvSpPr>
          <p:cNvPr id="26" name="txt-608"/>
          <p:cNvSpPr txBox="1"/>
          <p:nvPr/>
        </p:nvSpPr>
        <p:spPr>
          <a:xfrm>
            <a:off x="6263640" y="1993392"/>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a:t>
            </a:r>
            <a:endParaRPr lang="en-US" sz="1300" dirty="0"/>
          </a:p>
        </p:txBody>
      </p:sp>
      <p:sp>
        <p:nvSpPr>
          <p:cNvPr id="27" name="tile-609"/>
          <p:cNvSpPr/>
          <p:nvPr/>
        </p:nvSpPr>
        <p:spPr>
          <a:xfrm>
            <a:off x="6565392" y="1993392"/>
            <a:ext cx="256032" cy="310896"/>
          </a:xfrm>
          <a:prstGeom prst="roundRect">
            <a:avLst>
              <a:gd name="adj" fmla="val 21429"/>
            </a:avLst>
          </a:prstGeom>
          <a:solidFill>
            <a:schemeClr val="bg2"/>
          </a:solidFill>
          <a:ln w="9525">
            <a:solidFill>
              <a:schemeClr val="accent6"/>
            </a:solidFill>
            <a:prstDash val="solid"/>
          </a:ln>
        </p:spPr>
      </p:sp>
      <p:sp>
        <p:nvSpPr>
          <p:cNvPr id="28" name="txt-610"/>
          <p:cNvSpPr txBox="1"/>
          <p:nvPr/>
        </p:nvSpPr>
        <p:spPr>
          <a:xfrm>
            <a:off x="6565392" y="1993392"/>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a:t>
            </a:r>
            <a:endParaRPr lang="en-US" sz="1300" dirty="0"/>
          </a:p>
        </p:txBody>
      </p:sp>
      <p:sp>
        <p:nvSpPr>
          <p:cNvPr id="29" name="tile-611"/>
          <p:cNvSpPr/>
          <p:nvPr/>
        </p:nvSpPr>
        <p:spPr>
          <a:xfrm>
            <a:off x="6867144" y="1993392"/>
            <a:ext cx="256032" cy="310896"/>
          </a:xfrm>
          <a:prstGeom prst="roundRect">
            <a:avLst>
              <a:gd name="adj" fmla="val 21429"/>
            </a:avLst>
          </a:prstGeom>
          <a:solidFill>
            <a:schemeClr val="accent3">
              <a:alpha val="24000"/>
            </a:schemeClr>
          </a:solidFill>
          <a:ln w="9525">
            <a:solidFill>
              <a:schemeClr val="accent3"/>
            </a:solidFill>
            <a:prstDash val="solid"/>
          </a:ln>
        </p:spPr>
      </p:sp>
      <p:sp>
        <p:nvSpPr>
          <p:cNvPr id="30" name="txt-612"/>
          <p:cNvSpPr txBox="1"/>
          <p:nvPr/>
        </p:nvSpPr>
        <p:spPr>
          <a:xfrm>
            <a:off x="6867144" y="1993392"/>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d</a:t>
            </a:r>
            <a:endParaRPr lang="en-US" sz="1300" dirty="0"/>
          </a:p>
        </p:txBody>
      </p:sp>
      <p:sp>
        <p:nvSpPr>
          <p:cNvPr id="31" name="tile-613"/>
          <p:cNvSpPr/>
          <p:nvPr/>
        </p:nvSpPr>
        <p:spPr>
          <a:xfrm>
            <a:off x="7168896" y="1993392"/>
            <a:ext cx="256032" cy="310896"/>
          </a:xfrm>
          <a:prstGeom prst="roundRect">
            <a:avLst>
              <a:gd name="adj" fmla="val 21429"/>
            </a:avLst>
          </a:prstGeom>
          <a:solidFill>
            <a:schemeClr val="accent2">
              <a:alpha val="24000"/>
            </a:schemeClr>
          </a:solidFill>
          <a:ln w="9525">
            <a:solidFill>
              <a:schemeClr val="accent2"/>
            </a:solidFill>
            <a:prstDash val="solid"/>
          </a:ln>
        </p:spPr>
      </p:sp>
      <p:sp>
        <p:nvSpPr>
          <p:cNvPr id="32" name="txt-614"/>
          <p:cNvSpPr txBox="1"/>
          <p:nvPr/>
        </p:nvSpPr>
        <p:spPr>
          <a:xfrm>
            <a:off x="7168896" y="1993392"/>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a</a:t>
            </a:r>
            <a:endParaRPr lang="en-US" sz="1300" dirty="0"/>
          </a:p>
        </p:txBody>
      </p:sp>
      <p:sp>
        <p:nvSpPr>
          <p:cNvPr id="33" name="tile-615"/>
          <p:cNvSpPr/>
          <p:nvPr/>
        </p:nvSpPr>
        <p:spPr>
          <a:xfrm>
            <a:off x="7470648" y="1993392"/>
            <a:ext cx="256032" cy="310896"/>
          </a:xfrm>
          <a:prstGeom prst="roundRect">
            <a:avLst>
              <a:gd name="adj" fmla="val 21429"/>
            </a:avLst>
          </a:prstGeom>
          <a:solidFill>
            <a:schemeClr val="accent3">
              <a:alpha val="24000"/>
            </a:schemeClr>
          </a:solidFill>
          <a:ln w="9525">
            <a:solidFill>
              <a:schemeClr val="accent3"/>
            </a:solidFill>
            <a:prstDash val="solid"/>
          </a:ln>
        </p:spPr>
      </p:sp>
      <p:sp>
        <p:nvSpPr>
          <p:cNvPr id="34" name="txt-616"/>
          <p:cNvSpPr txBox="1"/>
          <p:nvPr/>
        </p:nvSpPr>
        <p:spPr>
          <a:xfrm>
            <a:off x="7470648" y="1993392"/>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f</a:t>
            </a:r>
            <a:endParaRPr lang="en-US" sz="1300" dirty="0"/>
          </a:p>
        </p:txBody>
      </p:sp>
      <p:sp>
        <p:nvSpPr>
          <p:cNvPr id="35" name="tile-617"/>
          <p:cNvSpPr/>
          <p:nvPr/>
        </p:nvSpPr>
        <p:spPr>
          <a:xfrm>
            <a:off x="7772400" y="1993392"/>
            <a:ext cx="256032" cy="310896"/>
          </a:xfrm>
          <a:prstGeom prst="roundRect">
            <a:avLst>
              <a:gd name="adj" fmla="val 21429"/>
            </a:avLst>
          </a:prstGeom>
          <a:solidFill>
            <a:schemeClr val="accent2">
              <a:alpha val="24000"/>
            </a:schemeClr>
          </a:solidFill>
          <a:ln w="9525">
            <a:solidFill>
              <a:schemeClr val="accent2"/>
            </a:solidFill>
            <a:prstDash val="solid"/>
          </a:ln>
        </p:spPr>
      </p:sp>
      <p:sp>
        <p:nvSpPr>
          <p:cNvPr id="36" name="txt-618"/>
          <p:cNvSpPr txBox="1"/>
          <p:nvPr/>
        </p:nvSpPr>
        <p:spPr>
          <a:xfrm>
            <a:off x="7772400" y="1993392"/>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c</a:t>
            </a:r>
            <a:endParaRPr lang="en-US" sz="1300" dirty="0"/>
          </a:p>
        </p:txBody>
      </p:sp>
      <p:sp>
        <p:nvSpPr>
          <p:cNvPr id="37" name="tile-619"/>
          <p:cNvSpPr/>
          <p:nvPr/>
        </p:nvSpPr>
        <p:spPr>
          <a:xfrm>
            <a:off x="8074152" y="1993392"/>
            <a:ext cx="256032" cy="310896"/>
          </a:xfrm>
          <a:prstGeom prst="roundRect">
            <a:avLst>
              <a:gd name="adj" fmla="val 21429"/>
            </a:avLst>
          </a:prstGeom>
          <a:solidFill>
            <a:schemeClr val="accent2">
              <a:alpha val="24000"/>
            </a:schemeClr>
          </a:solidFill>
          <a:ln w="9525">
            <a:solidFill>
              <a:schemeClr val="accent2"/>
            </a:solidFill>
            <a:prstDash val="solid"/>
          </a:ln>
        </p:spPr>
      </p:sp>
      <p:sp>
        <p:nvSpPr>
          <p:cNvPr id="38" name="txt-620"/>
          <p:cNvSpPr txBox="1"/>
          <p:nvPr/>
        </p:nvSpPr>
        <p:spPr>
          <a:xfrm>
            <a:off x="8074152" y="1993392"/>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b</a:t>
            </a:r>
            <a:endParaRPr lang="en-US" sz="1300" dirty="0"/>
          </a:p>
        </p:txBody>
      </p:sp>
      <p:sp>
        <p:nvSpPr>
          <p:cNvPr id="39" name="tile-621"/>
          <p:cNvSpPr/>
          <p:nvPr/>
        </p:nvSpPr>
        <p:spPr>
          <a:xfrm>
            <a:off x="8375904" y="1993392"/>
            <a:ext cx="256032" cy="310896"/>
          </a:xfrm>
          <a:prstGeom prst="roundRect">
            <a:avLst>
              <a:gd name="adj" fmla="val 21429"/>
            </a:avLst>
          </a:prstGeom>
          <a:solidFill>
            <a:schemeClr val="accent3">
              <a:alpha val="24000"/>
            </a:schemeClr>
          </a:solidFill>
          <a:ln w="9525">
            <a:solidFill>
              <a:schemeClr val="accent3"/>
            </a:solidFill>
            <a:prstDash val="solid"/>
          </a:ln>
        </p:spPr>
      </p:sp>
      <p:sp>
        <p:nvSpPr>
          <p:cNvPr id="40" name="txt-622"/>
          <p:cNvSpPr txBox="1"/>
          <p:nvPr/>
        </p:nvSpPr>
        <p:spPr>
          <a:xfrm>
            <a:off x="8375904" y="1993392"/>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e</a:t>
            </a:r>
            <a:endParaRPr lang="en-US" sz="1300" dirty="0"/>
          </a:p>
        </p:txBody>
      </p:sp>
      <p:sp>
        <p:nvSpPr>
          <p:cNvPr id="41" name="txt-623"/>
          <p:cNvSpPr txBox="1"/>
          <p:nvPr/>
        </p:nvSpPr>
        <p:spPr>
          <a:xfrm>
            <a:off x="6263640" y="2340864"/>
            <a:ext cx="2468880" cy="201168"/>
          </a:xfrm>
          <a:prstGeom prst="rect">
            <a:avLst/>
          </a:prstGeom>
          <a:noFill/>
          <a:ln/>
        </p:spPr>
        <p:txBody>
          <a:bodyPr wrap="square" lIns="0" tIns="0" rIns="0" bIns="0" rtlCol="0" anchor="ctr"/>
          <a:lstStyle/>
          <a:p>
            <a:pPr indent="0" marL="0">
              <a:buNone/>
            </a:pPr>
            <a:r>
              <a:rPr lang="en-US" sz="1000" dirty="0">
                <a:solidFill>
                  <a:schemeClr val="tx2"/>
                </a:solidFill>
              </a:rPr>
              <a:t>full shuffle of the valid steps only</a:t>
            </a:r>
            <a:endParaRPr lang="en-US" sz="1000" dirty="0"/>
          </a:p>
        </p:txBody>
      </p:sp>
      <p:sp>
        <p:nvSpPr>
          <p:cNvPr id="42" name="txt-624"/>
          <p:cNvSpPr txBox="1"/>
          <p:nvPr/>
        </p:nvSpPr>
        <p:spPr>
          <a:xfrm>
            <a:off x="6263640" y="2743200"/>
            <a:ext cx="2468880" cy="201168"/>
          </a:xfrm>
          <a:prstGeom prst="rect">
            <a:avLst/>
          </a:prstGeom>
          <a:noFill/>
          <a:ln/>
        </p:spPr>
        <p:txBody>
          <a:bodyPr wrap="square" lIns="0" tIns="0" rIns="0" bIns="0" rtlCol="0" anchor="ctr"/>
          <a:lstStyle/>
          <a:p>
            <a:pPr indent="0" marL="0">
              <a:buNone/>
            </a:pPr>
            <a:r>
              <a:rPr lang="en-US" sz="1100" b="1" spc="100" kern="0" dirty="0">
                <a:solidFill>
                  <a:schemeClr val="tx2"/>
                </a:solidFill>
              </a:rPr>
              <a:t>CHANNELS MOVE TOGETHER</a:t>
            </a:r>
            <a:endParaRPr lang="en-US" sz="1100" dirty="0"/>
          </a:p>
        </p:txBody>
      </p:sp>
      <p:sp>
        <p:nvSpPr>
          <p:cNvPr id="43" name="txt-625"/>
          <p:cNvSpPr txBox="1"/>
          <p:nvPr/>
        </p:nvSpPr>
        <p:spPr>
          <a:xfrm>
            <a:off x="6263640" y="3017520"/>
            <a:ext cx="548640" cy="310896"/>
          </a:xfrm>
          <a:prstGeom prst="rect">
            <a:avLst/>
          </a:prstGeom>
          <a:noFill/>
          <a:ln/>
        </p:spPr>
        <p:txBody>
          <a:bodyPr wrap="square" lIns="0" tIns="0" rIns="0" bIns="0" rtlCol="0" anchor="ctr"/>
          <a:lstStyle/>
          <a:p>
            <a:pPr indent="0" marL="0">
              <a:buNone/>
            </a:pPr>
            <a:r>
              <a:rPr lang="en-US" sz="1000" dirty="0">
                <a:solidFill>
                  <a:schemeClr val="tx2"/>
                </a:solidFill>
              </a:rPr>
              <a:t>temp</a:t>
            </a:r>
            <a:endParaRPr lang="en-US" sz="1000" dirty="0"/>
          </a:p>
        </p:txBody>
      </p:sp>
      <p:sp>
        <p:nvSpPr>
          <p:cNvPr id="44" name="tile-626"/>
          <p:cNvSpPr/>
          <p:nvPr/>
        </p:nvSpPr>
        <p:spPr>
          <a:xfrm>
            <a:off x="6830568" y="3017520"/>
            <a:ext cx="256032" cy="310896"/>
          </a:xfrm>
          <a:prstGeom prst="roundRect">
            <a:avLst>
              <a:gd name="adj" fmla="val 21429"/>
            </a:avLst>
          </a:prstGeom>
          <a:solidFill>
            <a:schemeClr val="accent2">
              <a:alpha val="24000"/>
            </a:schemeClr>
          </a:solidFill>
          <a:ln w="9525">
            <a:solidFill>
              <a:schemeClr val="accent2"/>
            </a:solidFill>
            <a:prstDash val="solid"/>
          </a:ln>
        </p:spPr>
      </p:sp>
      <p:sp>
        <p:nvSpPr>
          <p:cNvPr id="45" name="txt-627"/>
          <p:cNvSpPr txBox="1"/>
          <p:nvPr/>
        </p:nvSpPr>
        <p:spPr>
          <a:xfrm>
            <a:off x="6830568" y="3017520"/>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a</a:t>
            </a:r>
            <a:endParaRPr lang="en-US" sz="1300" dirty="0"/>
          </a:p>
        </p:txBody>
      </p:sp>
      <p:sp>
        <p:nvSpPr>
          <p:cNvPr id="46" name="tile-628"/>
          <p:cNvSpPr/>
          <p:nvPr/>
        </p:nvSpPr>
        <p:spPr>
          <a:xfrm>
            <a:off x="7132320" y="3017520"/>
            <a:ext cx="256032" cy="310896"/>
          </a:xfrm>
          <a:prstGeom prst="roundRect">
            <a:avLst>
              <a:gd name="adj" fmla="val 21429"/>
            </a:avLst>
          </a:prstGeom>
          <a:solidFill>
            <a:schemeClr val="accent2">
              <a:alpha val="24000"/>
            </a:schemeClr>
          </a:solidFill>
          <a:ln w="9525">
            <a:solidFill>
              <a:schemeClr val="accent2"/>
            </a:solidFill>
            <a:prstDash val="solid"/>
          </a:ln>
        </p:spPr>
      </p:sp>
      <p:sp>
        <p:nvSpPr>
          <p:cNvPr id="47" name="txt-629"/>
          <p:cNvSpPr txBox="1"/>
          <p:nvPr/>
        </p:nvSpPr>
        <p:spPr>
          <a:xfrm>
            <a:off x="7132320" y="3017520"/>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b</a:t>
            </a:r>
            <a:endParaRPr lang="en-US" sz="1300" dirty="0"/>
          </a:p>
        </p:txBody>
      </p:sp>
      <p:sp>
        <p:nvSpPr>
          <p:cNvPr id="48" name="tile-630"/>
          <p:cNvSpPr/>
          <p:nvPr/>
        </p:nvSpPr>
        <p:spPr>
          <a:xfrm>
            <a:off x="7434072" y="3017520"/>
            <a:ext cx="256032" cy="310896"/>
          </a:xfrm>
          <a:prstGeom prst="roundRect">
            <a:avLst>
              <a:gd name="adj" fmla="val 21429"/>
            </a:avLst>
          </a:prstGeom>
          <a:solidFill>
            <a:schemeClr val="accent2">
              <a:alpha val="24000"/>
            </a:schemeClr>
          </a:solidFill>
          <a:ln w="9525">
            <a:solidFill>
              <a:schemeClr val="accent2"/>
            </a:solidFill>
            <a:prstDash val="solid"/>
          </a:ln>
        </p:spPr>
      </p:sp>
      <p:sp>
        <p:nvSpPr>
          <p:cNvPr id="49" name="txt-631"/>
          <p:cNvSpPr txBox="1"/>
          <p:nvPr/>
        </p:nvSpPr>
        <p:spPr>
          <a:xfrm>
            <a:off x="7434072" y="3017520"/>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c</a:t>
            </a:r>
            <a:endParaRPr lang="en-US" sz="1300" dirty="0"/>
          </a:p>
        </p:txBody>
      </p:sp>
      <p:sp>
        <p:nvSpPr>
          <p:cNvPr id="50" name="tile-632"/>
          <p:cNvSpPr/>
          <p:nvPr/>
        </p:nvSpPr>
        <p:spPr>
          <a:xfrm>
            <a:off x="7735824" y="3017520"/>
            <a:ext cx="256032" cy="310896"/>
          </a:xfrm>
          <a:prstGeom prst="roundRect">
            <a:avLst>
              <a:gd name="adj" fmla="val 21429"/>
            </a:avLst>
          </a:prstGeom>
          <a:solidFill>
            <a:schemeClr val="accent3">
              <a:alpha val="24000"/>
            </a:schemeClr>
          </a:solidFill>
          <a:ln w="9525">
            <a:solidFill>
              <a:schemeClr val="accent3"/>
            </a:solidFill>
            <a:prstDash val="solid"/>
          </a:ln>
        </p:spPr>
      </p:sp>
      <p:sp>
        <p:nvSpPr>
          <p:cNvPr id="51" name="txt-633"/>
          <p:cNvSpPr txBox="1"/>
          <p:nvPr/>
        </p:nvSpPr>
        <p:spPr>
          <a:xfrm>
            <a:off x="7735824" y="3017520"/>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d</a:t>
            </a:r>
            <a:endParaRPr lang="en-US" sz="1300" dirty="0"/>
          </a:p>
        </p:txBody>
      </p:sp>
      <p:sp>
        <p:nvSpPr>
          <p:cNvPr id="52" name="tile-634"/>
          <p:cNvSpPr/>
          <p:nvPr/>
        </p:nvSpPr>
        <p:spPr>
          <a:xfrm>
            <a:off x="8037576" y="3017520"/>
            <a:ext cx="256032" cy="310896"/>
          </a:xfrm>
          <a:prstGeom prst="roundRect">
            <a:avLst>
              <a:gd name="adj" fmla="val 21429"/>
            </a:avLst>
          </a:prstGeom>
          <a:solidFill>
            <a:schemeClr val="accent3">
              <a:alpha val="24000"/>
            </a:schemeClr>
          </a:solidFill>
          <a:ln w="9525">
            <a:solidFill>
              <a:schemeClr val="accent3"/>
            </a:solidFill>
            <a:prstDash val="solid"/>
          </a:ln>
        </p:spPr>
      </p:sp>
      <p:sp>
        <p:nvSpPr>
          <p:cNvPr id="53" name="txt-635"/>
          <p:cNvSpPr txBox="1"/>
          <p:nvPr/>
        </p:nvSpPr>
        <p:spPr>
          <a:xfrm>
            <a:off x="8037576" y="3017520"/>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e</a:t>
            </a:r>
            <a:endParaRPr lang="en-US" sz="1300" dirty="0"/>
          </a:p>
        </p:txBody>
      </p:sp>
      <p:sp>
        <p:nvSpPr>
          <p:cNvPr id="54" name="tile-636"/>
          <p:cNvSpPr/>
          <p:nvPr/>
        </p:nvSpPr>
        <p:spPr>
          <a:xfrm>
            <a:off x="8339328" y="3017520"/>
            <a:ext cx="256032" cy="310896"/>
          </a:xfrm>
          <a:prstGeom prst="roundRect">
            <a:avLst>
              <a:gd name="adj" fmla="val 21429"/>
            </a:avLst>
          </a:prstGeom>
          <a:solidFill>
            <a:schemeClr val="accent3">
              <a:alpha val="24000"/>
            </a:schemeClr>
          </a:solidFill>
          <a:ln w="9525">
            <a:solidFill>
              <a:schemeClr val="accent3"/>
            </a:solidFill>
            <a:prstDash val="solid"/>
          </a:ln>
        </p:spPr>
      </p:sp>
      <p:sp>
        <p:nvSpPr>
          <p:cNvPr id="55" name="txt-637"/>
          <p:cNvSpPr txBox="1"/>
          <p:nvPr/>
        </p:nvSpPr>
        <p:spPr>
          <a:xfrm>
            <a:off x="8339328" y="3017520"/>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f</a:t>
            </a:r>
            <a:endParaRPr lang="en-US" sz="1300" dirty="0"/>
          </a:p>
        </p:txBody>
      </p:sp>
      <p:sp>
        <p:nvSpPr>
          <p:cNvPr id="56" name="txt-638"/>
          <p:cNvSpPr txBox="1"/>
          <p:nvPr/>
        </p:nvSpPr>
        <p:spPr>
          <a:xfrm>
            <a:off x="6263640" y="3383280"/>
            <a:ext cx="548640" cy="310896"/>
          </a:xfrm>
          <a:prstGeom prst="rect">
            <a:avLst/>
          </a:prstGeom>
          <a:noFill/>
          <a:ln/>
        </p:spPr>
        <p:txBody>
          <a:bodyPr wrap="square" lIns="0" tIns="0" rIns="0" bIns="0" rtlCol="0" anchor="ctr"/>
          <a:lstStyle/>
          <a:p>
            <a:pPr indent="0" marL="0">
              <a:buNone/>
            </a:pPr>
            <a:r>
              <a:rPr lang="en-US" sz="1000" dirty="0">
                <a:solidFill>
                  <a:schemeClr val="tx2"/>
                </a:solidFill>
              </a:rPr>
              <a:t>humid</a:t>
            </a:r>
            <a:endParaRPr lang="en-US" sz="1000" dirty="0"/>
          </a:p>
        </p:txBody>
      </p:sp>
      <p:sp>
        <p:nvSpPr>
          <p:cNvPr id="57" name="tile-639"/>
          <p:cNvSpPr/>
          <p:nvPr/>
        </p:nvSpPr>
        <p:spPr>
          <a:xfrm>
            <a:off x="6830568" y="3383280"/>
            <a:ext cx="256032" cy="310896"/>
          </a:xfrm>
          <a:prstGeom prst="roundRect">
            <a:avLst>
              <a:gd name="adj" fmla="val 21429"/>
            </a:avLst>
          </a:prstGeom>
          <a:solidFill>
            <a:schemeClr val="accent2">
              <a:alpha val="24000"/>
            </a:schemeClr>
          </a:solidFill>
          <a:ln w="9525">
            <a:solidFill>
              <a:schemeClr val="accent2"/>
            </a:solidFill>
            <a:prstDash val="solid"/>
          </a:ln>
        </p:spPr>
      </p:sp>
      <p:sp>
        <p:nvSpPr>
          <p:cNvPr id="58" name="txt-640"/>
          <p:cNvSpPr txBox="1"/>
          <p:nvPr/>
        </p:nvSpPr>
        <p:spPr>
          <a:xfrm>
            <a:off x="6830568" y="3383280"/>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A</a:t>
            </a:r>
            <a:endParaRPr lang="en-US" sz="1300" dirty="0"/>
          </a:p>
        </p:txBody>
      </p:sp>
      <p:sp>
        <p:nvSpPr>
          <p:cNvPr id="59" name="tile-641"/>
          <p:cNvSpPr/>
          <p:nvPr/>
        </p:nvSpPr>
        <p:spPr>
          <a:xfrm>
            <a:off x="7132320" y="3383280"/>
            <a:ext cx="256032" cy="310896"/>
          </a:xfrm>
          <a:prstGeom prst="roundRect">
            <a:avLst>
              <a:gd name="adj" fmla="val 21429"/>
            </a:avLst>
          </a:prstGeom>
          <a:solidFill>
            <a:schemeClr val="accent2">
              <a:alpha val="24000"/>
            </a:schemeClr>
          </a:solidFill>
          <a:ln w="9525">
            <a:solidFill>
              <a:schemeClr val="accent2"/>
            </a:solidFill>
            <a:prstDash val="solid"/>
          </a:ln>
        </p:spPr>
      </p:sp>
      <p:sp>
        <p:nvSpPr>
          <p:cNvPr id="60" name="txt-642"/>
          <p:cNvSpPr txBox="1"/>
          <p:nvPr/>
        </p:nvSpPr>
        <p:spPr>
          <a:xfrm>
            <a:off x="7132320" y="3383280"/>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B</a:t>
            </a:r>
            <a:endParaRPr lang="en-US" sz="1300" dirty="0"/>
          </a:p>
        </p:txBody>
      </p:sp>
      <p:sp>
        <p:nvSpPr>
          <p:cNvPr id="61" name="tile-643"/>
          <p:cNvSpPr/>
          <p:nvPr/>
        </p:nvSpPr>
        <p:spPr>
          <a:xfrm>
            <a:off x="7434072" y="3383280"/>
            <a:ext cx="256032" cy="310896"/>
          </a:xfrm>
          <a:prstGeom prst="roundRect">
            <a:avLst>
              <a:gd name="adj" fmla="val 21429"/>
            </a:avLst>
          </a:prstGeom>
          <a:solidFill>
            <a:schemeClr val="accent2">
              <a:alpha val="24000"/>
            </a:schemeClr>
          </a:solidFill>
          <a:ln w="9525">
            <a:solidFill>
              <a:schemeClr val="accent2"/>
            </a:solidFill>
            <a:prstDash val="solid"/>
          </a:ln>
        </p:spPr>
      </p:sp>
      <p:sp>
        <p:nvSpPr>
          <p:cNvPr id="62" name="txt-644"/>
          <p:cNvSpPr txBox="1"/>
          <p:nvPr/>
        </p:nvSpPr>
        <p:spPr>
          <a:xfrm>
            <a:off x="7434072" y="3383280"/>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C</a:t>
            </a:r>
            <a:endParaRPr lang="en-US" sz="1300" dirty="0"/>
          </a:p>
        </p:txBody>
      </p:sp>
      <p:sp>
        <p:nvSpPr>
          <p:cNvPr id="63" name="tile-645"/>
          <p:cNvSpPr/>
          <p:nvPr/>
        </p:nvSpPr>
        <p:spPr>
          <a:xfrm>
            <a:off x="7735824" y="3383280"/>
            <a:ext cx="256032" cy="310896"/>
          </a:xfrm>
          <a:prstGeom prst="roundRect">
            <a:avLst>
              <a:gd name="adj" fmla="val 21429"/>
            </a:avLst>
          </a:prstGeom>
          <a:solidFill>
            <a:schemeClr val="accent3">
              <a:alpha val="24000"/>
            </a:schemeClr>
          </a:solidFill>
          <a:ln w="9525">
            <a:solidFill>
              <a:schemeClr val="accent3"/>
            </a:solidFill>
            <a:prstDash val="solid"/>
          </a:ln>
        </p:spPr>
      </p:sp>
      <p:sp>
        <p:nvSpPr>
          <p:cNvPr id="64" name="txt-646"/>
          <p:cNvSpPr txBox="1"/>
          <p:nvPr/>
        </p:nvSpPr>
        <p:spPr>
          <a:xfrm>
            <a:off x="7735824" y="3383280"/>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D</a:t>
            </a:r>
            <a:endParaRPr lang="en-US" sz="1300" dirty="0"/>
          </a:p>
        </p:txBody>
      </p:sp>
      <p:sp>
        <p:nvSpPr>
          <p:cNvPr id="65" name="tile-647"/>
          <p:cNvSpPr/>
          <p:nvPr/>
        </p:nvSpPr>
        <p:spPr>
          <a:xfrm>
            <a:off x="8037576" y="3383280"/>
            <a:ext cx="256032" cy="310896"/>
          </a:xfrm>
          <a:prstGeom prst="roundRect">
            <a:avLst>
              <a:gd name="adj" fmla="val 21429"/>
            </a:avLst>
          </a:prstGeom>
          <a:solidFill>
            <a:schemeClr val="accent3">
              <a:alpha val="24000"/>
            </a:schemeClr>
          </a:solidFill>
          <a:ln w="9525">
            <a:solidFill>
              <a:schemeClr val="accent3"/>
            </a:solidFill>
            <a:prstDash val="solid"/>
          </a:ln>
        </p:spPr>
      </p:sp>
      <p:sp>
        <p:nvSpPr>
          <p:cNvPr id="66" name="txt-648"/>
          <p:cNvSpPr txBox="1"/>
          <p:nvPr/>
        </p:nvSpPr>
        <p:spPr>
          <a:xfrm>
            <a:off x="8037576" y="3383280"/>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E</a:t>
            </a:r>
            <a:endParaRPr lang="en-US" sz="1300" dirty="0"/>
          </a:p>
        </p:txBody>
      </p:sp>
      <p:sp>
        <p:nvSpPr>
          <p:cNvPr id="67" name="tile-649"/>
          <p:cNvSpPr/>
          <p:nvPr/>
        </p:nvSpPr>
        <p:spPr>
          <a:xfrm>
            <a:off x="8339328" y="3383280"/>
            <a:ext cx="256032" cy="310896"/>
          </a:xfrm>
          <a:prstGeom prst="roundRect">
            <a:avLst>
              <a:gd name="adj" fmla="val 21429"/>
            </a:avLst>
          </a:prstGeom>
          <a:solidFill>
            <a:schemeClr val="accent3">
              <a:alpha val="24000"/>
            </a:schemeClr>
          </a:solidFill>
          <a:ln w="9525">
            <a:solidFill>
              <a:schemeClr val="accent3"/>
            </a:solidFill>
            <a:prstDash val="solid"/>
          </a:ln>
        </p:spPr>
      </p:sp>
      <p:sp>
        <p:nvSpPr>
          <p:cNvPr id="68" name="txt-650"/>
          <p:cNvSpPr txBox="1"/>
          <p:nvPr/>
        </p:nvSpPr>
        <p:spPr>
          <a:xfrm>
            <a:off x="8339328" y="3383280"/>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F</a:t>
            </a:r>
            <a:endParaRPr lang="en-US" sz="1300" dirty="0"/>
          </a:p>
        </p:txBody>
      </p:sp>
      <p:sp>
        <p:nvSpPr>
          <p:cNvPr id="69" name="txt-651"/>
          <p:cNvSpPr txBox="1"/>
          <p:nvPr/>
        </p:nvSpPr>
        <p:spPr>
          <a:xfrm>
            <a:off x="6263640" y="3858768"/>
            <a:ext cx="548640" cy="310896"/>
          </a:xfrm>
          <a:prstGeom prst="rect">
            <a:avLst/>
          </a:prstGeom>
          <a:noFill/>
          <a:ln/>
        </p:spPr>
        <p:txBody>
          <a:bodyPr wrap="square" lIns="0" tIns="0" rIns="0" bIns="0" rtlCol="0" anchor="ctr"/>
          <a:lstStyle/>
          <a:p>
            <a:pPr indent="0" marL="0">
              <a:buNone/>
            </a:pPr>
            <a:r>
              <a:rPr lang="en-US" sz="1000" dirty="0">
                <a:solidFill>
                  <a:schemeClr val="tx2"/>
                </a:solidFill>
              </a:rPr>
              <a:t>temp</a:t>
            </a:r>
            <a:endParaRPr lang="en-US" sz="1000" dirty="0"/>
          </a:p>
        </p:txBody>
      </p:sp>
      <p:sp>
        <p:nvSpPr>
          <p:cNvPr id="70" name="tile-652"/>
          <p:cNvSpPr/>
          <p:nvPr/>
        </p:nvSpPr>
        <p:spPr>
          <a:xfrm>
            <a:off x="6830568" y="3858768"/>
            <a:ext cx="256032" cy="310896"/>
          </a:xfrm>
          <a:prstGeom prst="roundRect">
            <a:avLst>
              <a:gd name="adj" fmla="val 21429"/>
            </a:avLst>
          </a:prstGeom>
          <a:solidFill>
            <a:schemeClr val="accent3">
              <a:alpha val="24000"/>
            </a:schemeClr>
          </a:solidFill>
          <a:ln w="9525">
            <a:solidFill>
              <a:schemeClr val="accent3"/>
            </a:solidFill>
            <a:prstDash val="solid"/>
          </a:ln>
        </p:spPr>
      </p:sp>
      <p:sp>
        <p:nvSpPr>
          <p:cNvPr id="71" name="txt-653"/>
          <p:cNvSpPr txBox="1"/>
          <p:nvPr/>
        </p:nvSpPr>
        <p:spPr>
          <a:xfrm>
            <a:off x="6830568" y="3858768"/>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d</a:t>
            </a:r>
            <a:endParaRPr lang="en-US" sz="1300" dirty="0"/>
          </a:p>
        </p:txBody>
      </p:sp>
      <p:sp>
        <p:nvSpPr>
          <p:cNvPr id="72" name="tile-654"/>
          <p:cNvSpPr/>
          <p:nvPr/>
        </p:nvSpPr>
        <p:spPr>
          <a:xfrm>
            <a:off x="7132320" y="3858768"/>
            <a:ext cx="256032" cy="310896"/>
          </a:xfrm>
          <a:prstGeom prst="roundRect">
            <a:avLst>
              <a:gd name="adj" fmla="val 21429"/>
            </a:avLst>
          </a:prstGeom>
          <a:solidFill>
            <a:schemeClr val="accent2">
              <a:alpha val="24000"/>
            </a:schemeClr>
          </a:solidFill>
          <a:ln w="9525">
            <a:solidFill>
              <a:schemeClr val="accent2"/>
            </a:solidFill>
            <a:prstDash val="solid"/>
          </a:ln>
        </p:spPr>
      </p:sp>
      <p:sp>
        <p:nvSpPr>
          <p:cNvPr id="73" name="txt-655"/>
          <p:cNvSpPr txBox="1"/>
          <p:nvPr/>
        </p:nvSpPr>
        <p:spPr>
          <a:xfrm>
            <a:off x="7132320" y="3858768"/>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a</a:t>
            </a:r>
            <a:endParaRPr lang="en-US" sz="1300" dirty="0"/>
          </a:p>
        </p:txBody>
      </p:sp>
      <p:sp>
        <p:nvSpPr>
          <p:cNvPr id="74" name="tile-656"/>
          <p:cNvSpPr/>
          <p:nvPr/>
        </p:nvSpPr>
        <p:spPr>
          <a:xfrm>
            <a:off x="7434072" y="3858768"/>
            <a:ext cx="256032" cy="310896"/>
          </a:xfrm>
          <a:prstGeom prst="roundRect">
            <a:avLst>
              <a:gd name="adj" fmla="val 21429"/>
            </a:avLst>
          </a:prstGeom>
          <a:solidFill>
            <a:schemeClr val="accent3">
              <a:alpha val="24000"/>
            </a:schemeClr>
          </a:solidFill>
          <a:ln w="9525">
            <a:solidFill>
              <a:schemeClr val="accent3"/>
            </a:solidFill>
            <a:prstDash val="solid"/>
          </a:ln>
        </p:spPr>
      </p:sp>
      <p:sp>
        <p:nvSpPr>
          <p:cNvPr id="75" name="txt-657"/>
          <p:cNvSpPr txBox="1"/>
          <p:nvPr/>
        </p:nvSpPr>
        <p:spPr>
          <a:xfrm>
            <a:off x="7434072" y="3858768"/>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f</a:t>
            </a:r>
            <a:endParaRPr lang="en-US" sz="1300" dirty="0"/>
          </a:p>
        </p:txBody>
      </p:sp>
      <p:sp>
        <p:nvSpPr>
          <p:cNvPr id="76" name="tile-658"/>
          <p:cNvSpPr/>
          <p:nvPr/>
        </p:nvSpPr>
        <p:spPr>
          <a:xfrm>
            <a:off x="7735824" y="3858768"/>
            <a:ext cx="256032" cy="310896"/>
          </a:xfrm>
          <a:prstGeom prst="roundRect">
            <a:avLst>
              <a:gd name="adj" fmla="val 21429"/>
            </a:avLst>
          </a:prstGeom>
          <a:solidFill>
            <a:schemeClr val="accent2">
              <a:alpha val="24000"/>
            </a:schemeClr>
          </a:solidFill>
          <a:ln w="9525">
            <a:solidFill>
              <a:schemeClr val="accent2"/>
            </a:solidFill>
            <a:prstDash val="solid"/>
          </a:ln>
        </p:spPr>
      </p:sp>
      <p:sp>
        <p:nvSpPr>
          <p:cNvPr id="77" name="txt-659"/>
          <p:cNvSpPr txBox="1"/>
          <p:nvPr/>
        </p:nvSpPr>
        <p:spPr>
          <a:xfrm>
            <a:off x="7735824" y="3858768"/>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c</a:t>
            </a:r>
            <a:endParaRPr lang="en-US" sz="1300" dirty="0"/>
          </a:p>
        </p:txBody>
      </p:sp>
      <p:sp>
        <p:nvSpPr>
          <p:cNvPr id="78" name="tile-660"/>
          <p:cNvSpPr/>
          <p:nvPr/>
        </p:nvSpPr>
        <p:spPr>
          <a:xfrm>
            <a:off x="8037576" y="3858768"/>
            <a:ext cx="256032" cy="310896"/>
          </a:xfrm>
          <a:prstGeom prst="roundRect">
            <a:avLst>
              <a:gd name="adj" fmla="val 21429"/>
            </a:avLst>
          </a:prstGeom>
          <a:solidFill>
            <a:schemeClr val="accent2">
              <a:alpha val="24000"/>
            </a:schemeClr>
          </a:solidFill>
          <a:ln w="9525">
            <a:solidFill>
              <a:schemeClr val="accent2"/>
            </a:solidFill>
            <a:prstDash val="solid"/>
          </a:ln>
        </p:spPr>
      </p:sp>
      <p:sp>
        <p:nvSpPr>
          <p:cNvPr id="79" name="txt-661"/>
          <p:cNvSpPr txBox="1"/>
          <p:nvPr/>
        </p:nvSpPr>
        <p:spPr>
          <a:xfrm>
            <a:off x="8037576" y="3858768"/>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b</a:t>
            </a:r>
            <a:endParaRPr lang="en-US" sz="1300" dirty="0"/>
          </a:p>
        </p:txBody>
      </p:sp>
      <p:sp>
        <p:nvSpPr>
          <p:cNvPr id="80" name="tile-662"/>
          <p:cNvSpPr/>
          <p:nvPr/>
        </p:nvSpPr>
        <p:spPr>
          <a:xfrm>
            <a:off x="8339328" y="3858768"/>
            <a:ext cx="256032" cy="310896"/>
          </a:xfrm>
          <a:prstGeom prst="roundRect">
            <a:avLst>
              <a:gd name="adj" fmla="val 21429"/>
            </a:avLst>
          </a:prstGeom>
          <a:solidFill>
            <a:schemeClr val="accent3">
              <a:alpha val="24000"/>
            </a:schemeClr>
          </a:solidFill>
          <a:ln w="9525">
            <a:solidFill>
              <a:schemeClr val="accent3"/>
            </a:solidFill>
            <a:prstDash val="solid"/>
          </a:ln>
        </p:spPr>
      </p:sp>
      <p:sp>
        <p:nvSpPr>
          <p:cNvPr id="81" name="txt-663"/>
          <p:cNvSpPr txBox="1"/>
          <p:nvPr/>
        </p:nvSpPr>
        <p:spPr>
          <a:xfrm>
            <a:off x="8339328" y="3858768"/>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e</a:t>
            </a:r>
            <a:endParaRPr lang="en-US" sz="1300" dirty="0"/>
          </a:p>
        </p:txBody>
      </p:sp>
      <p:sp>
        <p:nvSpPr>
          <p:cNvPr id="82" name="txt-664"/>
          <p:cNvSpPr txBox="1"/>
          <p:nvPr/>
        </p:nvSpPr>
        <p:spPr>
          <a:xfrm>
            <a:off x="6263640" y="4224528"/>
            <a:ext cx="548640" cy="310896"/>
          </a:xfrm>
          <a:prstGeom prst="rect">
            <a:avLst/>
          </a:prstGeom>
          <a:noFill/>
          <a:ln/>
        </p:spPr>
        <p:txBody>
          <a:bodyPr wrap="square" lIns="0" tIns="0" rIns="0" bIns="0" rtlCol="0" anchor="ctr"/>
          <a:lstStyle/>
          <a:p>
            <a:pPr indent="0" marL="0">
              <a:buNone/>
            </a:pPr>
            <a:r>
              <a:rPr lang="en-US" sz="1000" dirty="0">
                <a:solidFill>
                  <a:schemeClr val="tx2"/>
                </a:solidFill>
              </a:rPr>
              <a:t>humid</a:t>
            </a:r>
            <a:endParaRPr lang="en-US" sz="1000" dirty="0"/>
          </a:p>
        </p:txBody>
      </p:sp>
      <p:sp>
        <p:nvSpPr>
          <p:cNvPr id="83" name="tile-665"/>
          <p:cNvSpPr/>
          <p:nvPr/>
        </p:nvSpPr>
        <p:spPr>
          <a:xfrm>
            <a:off x="6830568" y="4224528"/>
            <a:ext cx="256032" cy="310896"/>
          </a:xfrm>
          <a:prstGeom prst="roundRect">
            <a:avLst>
              <a:gd name="adj" fmla="val 21429"/>
            </a:avLst>
          </a:prstGeom>
          <a:solidFill>
            <a:schemeClr val="accent3">
              <a:alpha val="24000"/>
            </a:schemeClr>
          </a:solidFill>
          <a:ln w="9525">
            <a:solidFill>
              <a:schemeClr val="accent3"/>
            </a:solidFill>
            <a:prstDash val="solid"/>
          </a:ln>
        </p:spPr>
      </p:sp>
      <p:sp>
        <p:nvSpPr>
          <p:cNvPr id="84" name="txt-666"/>
          <p:cNvSpPr txBox="1"/>
          <p:nvPr/>
        </p:nvSpPr>
        <p:spPr>
          <a:xfrm>
            <a:off x="6830568" y="4224528"/>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D</a:t>
            </a:r>
            <a:endParaRPr lang="en-US" sz="1300" dirty="0"/>
          </a:p>
        </p:txBody>
      </p:sp>
      <p:sp>
        <p:nvSpPr>
          <p:cNvPr id="85" name="tile-667"/>
          <p:cNvSpPr/>
          <p:nvPr/>
        </p:nvSpPr>
        <p:spPr>
          <a:xfrm>
            <a:off x="7132320" y="4224528"/>
            <a:ext cx="256032" cy="310896"/>
          </a:xfrm>
          <a:prstGeom prst="roundRect">
            <a:avLst>
              <a:gd name="adj" fmla="val 21429"/>
            </a:avLst>
          </a:prstGeom>
          <a:solidFill>
            <a:schemeClr val="accent2">
              <a:alpha val="24000"/>
            </a:schemeClr>
          </a:solidFill>
          <a:ln w="9525">
            <a:solidFill>
              <a:schemeClr val="accent2"/>
            </a:solidFill>
            <a:prstDash val="solid"/>
          </a:ln>
        </p:spPr>
      </p:sp>
      <p:sp>
        <p:nvSpPr>
          <p:cNvPr id="86" name="txt-668"/>
          <p:cNvSpPr txBox="1"/>
          <p:nvPr/>
        </p:nvSpPr>
        <p:spPr>
          <a:xfrm>
            <a:off x="7132320" y="4224528"/>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A</a:t>
            </a:r>
            <a:endParaRPr lang="en-US" sz="1300" dirty="0"/>
          </a:p>
        </p:txBody>
      </p:sp>
      <p:sp>
        <p:nvSpPr>
          <p:cNvPr id="87" name="tile-669"/>
          <p:cNvSpPr/>
          <p:nvPr/>
        </p:nvSpPr>
        <p:spPr>
          <a:xfrm>
            <a:off x="7434072" y="4224528"/>
            <a:ext cx="256032" cy="310896"/>
          </a:xfrm>
          <a:prstGeom prst="roundRect">
            <a:avLst>
              <a:gd name="adj" fmla="val 21429"/>
            </a:avLst>
          </a:prstGeom>
          <a:solidFill>
            <a:schemeClr val="accent3">
              <a:alpha val="24000"/>
            </a:schemeClr>
          </a:solidFill>
          <a:ln w="9525">
            <a:solidFill>
              <a:schemeClr val="accent3"/>
            </a:solidFill>
            <a:prstDash val="solid"/>
          </a:ln>
        </p:spPr>
      </p:sp>
      <p:sp>
        <p:nvSpPr>
          <p:cNvPr id="88" name="txt-670"/>
          <p:cNvSpPr txBox="1"/>
          <p:nvPr/>
        </p:nvSpPr>
        <p:spPr>
          <a:xfrm>
            <a:off x="7434072" y="4224528"/>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F</a:t>
            </a:r>
            <a:endParaRPr lang="en-US" sz="1300" dirty="0"/>
          </a:p>
        </p:txBody>
      </p:sp>
      <p:sp>
        <p:nvSpPr>
          <p:cNvPr id="89" name="tile-671"/>
          <p:cNvSpPr/>
          <p:nvPr/>
        </p:nvSpPr>
        <p:spPr>
          <a:xfrm>
            <a:off x="7735824" y="4224528"/>
            <a:ext cx="256032" cy="310896"/>
          </a:xfrm>
          <a:prstGeom prst="roundRect">
            <a:avLst>
              <a:gd name="adj" fmla="val 21429"/>
            </a:avLst>
          </a:prstGeom>
          <a:solidFill>
            <a:schemeClr val="accent2">
              <a:alpha val="24000"/>
            </a:schemeClr>
          </a:solidFill>
          <a:ln w="9525">
            <a:solidFill>
              <a:schemeClr val="accent2"/>
            </a:solidFill>
            <a:prstDash val="solid"/>
          </a:ln>
        </p:spPr>
      </p:sp>
      <p:sp>
        <p:nvSpPr>
          <p:cNvPr id="90" name="txt-672"/>
          <p:cNvSpPr txBox="1"/>
          <p:nvPr/>
        </p:nvSpPr>
        <p:spPr>
          <a:xfrm>
            <a:off x="7735824" y="4224528"/>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C</a:t>
            </a:r>
            <a:endParaRPr lang="en-US" sz="1300" dirty="0"/>
          </a:p>
        </p:txBody>
      </p:sp>
      <p:sp>
        <p:nvSpPr>
          <p:cNvPr id="91" name="tile-673"/>
          <p:cNvSpPr/>
          <p:nvPr/>
        </p:nvSpPr>
        <p:spPr>
          <a:xfrm>
            <a:off x="8037576" y="4224528"/>
            <a:ext cx="256032" cy="310896"/>
          </a:xfrm>
          <a:prstGeom prst="roundRect">
            <a:avLst>
              <a:gd name="adj" fmla="val 21429"/>
            </a:avLst>
          </a:prstGeom>
          <a:solidFill>
            <a:schemeClr val="accent2">
              <a:alpha val="24000"/>
            </a:schemeClr>
          </a:solidFill>
          <a:ln w="9525">
            <a:solidFill>
              <a:schemeClr val="accent2"/>
            </a:solidFill>
            <a:prstDash val="solid"/>
          </a:ln>
        </p:spPr>
      </p:sp>
      <p:sp>
        <p:nvSpPr>
          <p:cNvPr id="92" name="txt-674"/>
          <p:cNvSpPr txBox="1"/>
          <p:nvPr/>
        </p:nvSpPr>
        <p:spPr>
          <a:xfrm>
            <a:off x="8037576" y="4224528"/>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B</a:t>
            </a:r>
            <a:endParaRPr lang="en-US" sz="1300" dirty="0"/>
          </a:p>
        </p:txBody>
      </p:sp>
      <p:sp>
        <p:nvSpPr>
          <p:cNvPr id="93" name="tile-675"/>
          <p:cNvSpPr/>
          <p:nvPr/>
        </p:nvSpPr>
        <p:spPr>
          <a:xfrm>
            <a:off x="8339328" y="4224528"/>
            <a:ext cx="256032" cy="310896"/>
          </a:xfrm>
          <a:prstGeom prst="roundRect">
            <a:avLst>
              <a:gd name="adj" fmla="val 21429"/>
            </a:avLst>
          </a:prstGeom>
          <a:solidFill>
            <a:schemeClr val="accent3">
              <a:alpha val="24000"/>
            </a:schemeClr>
          </a:solidFill>
          <a:ln w="9525">
            <a:solidFill>
              <a:schemeClr val="accent3"/>
            </a:solidFill>
            <a:prstDash val="solid"/>
          </a:ln>
        </p:spPr>
      </p:sp>
      <p:sp>
        <p:nvSpPr>
          <p:cNvPr id="94" name="txt-676"/>
          <p:cNvSpPr txBox="1"/>
          <p:nvPr/>
        </p:nvSpPr>
        <p:spPr>
          <a:xfrm>
            <a:off x="8339328" y="4224528"/>
            <a:ext cx="256032" cy="310896"/>
          </a:xfrm>
          <a:prstGeom prst="rect">
            <a:avLst/>
          </a:prstGeom>
          <a:noFill/>
          <a:ln/>
        </p:spPr>
        <p:txBody>
          <a:bodyPr wrap="square" lIns="0" tIns="0" rIns="0" bIns="0" rtlCol="0" anchor="ctr"/>
          <a:lstStyle/>
          <a:p>
            <a:pPr algn="ctr" indent="0" marL="0">
              <a:buNone/>
            </a:pPr>
            <a:r>
              <a:rPr lang="en-US" sz="1300" b="1" dirty="0">
                <a:solidFill>
                  <a:schemeClr val="tx1"/>
                </a:solidFill>
              </a:rPr>
              <a:t>E</a:t>
            </a:r>
            <a:endParaRPr lang="en-US" sz="1300" dirty="0"/>
          </a:p>
        </p:txBody>
      </p:sp>
      <p:sp>
        <p:nvSpPr>
          <p:cNvPr id="25" name="Slide Number Placeholder 0"/>
          <p:cNvSpPr>
            <a:spLocks noGrp="1"/>
          </p:cNvSpPr>
          <p:nvPr>
            <p:ph type="sldNum" sz="quarter" idx="4294967295"/>
          </p:nvPr>
        </p:nvSpPr>
        <p:spPr>
          <a:xfrm>
            <a:off x="832104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566928"/>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What the four perturbations did</a:t>
            </a:r>
            <a:endParaRPr lang="en-US" sz="3400" dirty="0"/>
          </a:p>
        </p:txBody>
      </p:sp>
      <p:sp>
        <p:nvSpPr>
          <p:cNvPr id="3" name="Text 0"/>
          <p:cNvSpPr/>
          <p:nvPr>
            <p:ph idx="101" type="body" hasCustomPrompt="1"/>
          </p:nvPr>
        </p:nvSpPr>
        <p:spPr>
          <a:xfrm>
            <a:off x="457200" y="822960"/>
            <a:ext cx="8229600" cy="365760"/>
          </a:xfrm>
          <a:prstGeom prst="rect">
            <a:avLst/>
          </a:prstGeom>
          <a:noFill/>
          <a:ln/>
        </p:spPr>
        <p:txBody>
          <a:bodyPr wrap="square" lIns="0" tIns="0" rIns="0" bIns="0" rtlCol="0" anchor="t"/>
          <a:lstStyle/>
          <a:p>
            <a:pPr algn="l" indent="0" marL="0">
              <a:buNone/>
            </a:pPr>
            <a:r>
              <a:rPr lang="en-US" sz="1500" dirty="0">
                <a:solidFill>
                  <a:schemeClr val="tx2"/>
                </a:solidFill>
              </a:rPr>
              <a:t>Order-dependent descriptions only; retrieval bars are the mean of three runs (Table 4.4, Appendix E)</a:t>
            </a:r>
            <a:endParaRPr lang="en-US" sz="1500" dirty="0"/>
          </a:p>
        </p:txBody>
      </p:sp>
      <p:graphicFrame>
        <p:nvGraphicFramePr>
          <p:cNvPr id="4" name="chart-retrieval-loss" descr=""/>
          <p:cNvGraphicFramePr/>
          <p:nvPr/>
        </p:nvGraphicFramePr>
        <p:xfrm>
          <a:off x="457200" y="1280160"/>
          <a:ext cx="5257800" cy="2606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chatts-change" descr=""/>
          <p:cNvGraphicFramePr/>
          <p:nvPr/>
        </p:nvGraphicFramePr>
        <p:xfrm>
          <a:off x="5897880" y="1280160"/>
          <a:ext cx="2788920" cy="2606040"/>
        </p:xfrm>
        <a:graphic xmlns:a="http://schemas.openxmlformats.org/drawingml/2006/main">
          <a:graphicData uri="http://schemas.openxmlformats.org/drawingml/2006/chart">
            <c:chart xmlns:c="http://schemas.openxmlformats.org/drawingml/2006/chart" r:id="rId2"/>
          </a:graphicData>
        </a:graphic>
      </p:graphicFrame>
      <p:sp>
        <p:nvSpPr>
          <p:cNvPr id="6" name="card-677"/>
          <p:cNvSpPr/>
          <p:nvPr/>
        </p:nvSpPr>
        <p:spPr>
          <a:xfrm>
            <a:off x="457200" y="4005072"/>
            <a:ext cx="2651760" cy="749808"/>
          </a:xfrm>
          <a:prstGeom prst="roundRect">
            <a:avLst>
              <a:gd name="adj" fmla="val 9756"/>
            </a:avLst>
          </a:prstGeom>
          <a:solidFill>
            <a:schemeClr val="bg2"/>
          </a:solidFill>
          <a:ln/>
        </p:spPr>
      </p:sp>
      <p:sp>
        <p:nvSpPr>
          <p:cNvPr id="7" name="txt-678"/>
          <p:cNvSpPr txBox="1"/>
          <p:nvPr/>
        </p:nvSpPr>
        <p:spPr>
          <a:xfrm>
            <a:off x="594360" y="4050792"/>
            <a:ext cx="2377440" cy="347472"/>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66–98%</a:t>
            </a:r>
            <a:endParaRPr lang="en-US" sz="2000" dirty="0"/>
          </a:p>
        </p:txBody>
      </p:sp>
      <p:sp>
        <p:nvSpPr>
          <p:cNvPr id="8" name="txt-679"/>
          <p:cNvSpPr txBox="1"/>
          <p:nvPr/>
        </p:nvSpPr>
        <p:spPr>
          <a:xfrm>
            <a:off x="594360" y="4389120"/>
            <a:ext cx="2377440" cy="329184"/>
          </a:xfrm>
          <a:prstGeom prst="rect">
            <a:avLst/>
          </a:prstGeom>
          <a:noFill/>
          <a:ln/>
        </p:spPr>
        <p:txBody>
          <a:bodyPr wrap="square" lIns="0" tIns="0" rIns="0" bIns="0" rtlCol="0" anchor="t"/>
          <a:lstStyle/>
          <a:p>
            <a:pPr indent="0" marL="0">
              <a:buNone/>
            </a:pPr>
            <a:r>
              <a:rPr lang="en-US" sz="1100" dirty="0">
                <a:solidFill>
                  <a:schemeClr val="tx2"/>
                </a:solidFill>
              </a:rPr>
              <a:t>of MRR lost under full shuffle, for every retrieval model and dataset</a:t>
            </a:r>
            <a:endParaRPr lang="en-US" sz="1100" dirty="0"/>
          </a:p>
        </p:txBody>
      </p:sp>
      <p:sp>
        <p:nvSpPr>
          <p:cNvPr id="9" name="card-680"/>
          <p:cNvSpPr/>
          <p:nvPr/>
        </p:nvSpPr>
        <p:spPr>
          <a:xfrm>
            <a:off x="3264408" y="4005072"/>
            <a:ext cx="2651760" cy="749808"/>
          </a:xfrm>
          <a:prstGeom prst="roundRect">
            <a:avLst>
              <a:gd name="adj" fmla="val 9756"/>
            </a:avLst>
          </a:prstGeom>
          <a:solidFill>
            <a:schemeClr val="bg2"/>
          </a:solidFill>
          <a:ln/>
        </p:spPr>
      </p:sp>
      <p:sp>
        <p:nvSpPr>
          <p:cNvPr id="10" name="txt-681"/>
          <p:cNvSpPr txBox="1"/>
          <p:nvPr/>
        </p:nvSpPr>
        <p:spPr>
          <a:xfrm>
            <a:off x="3401568" y="4050792"/>
            <a:ext cx="2377440" cy="347472"/>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15–25% vs 87–97%</a:t>
            </a:r>
            <a:endParaRPr lang="en-US" sz="2000" dirty="0"/>
          </a:p>
        </p:txBody>
      </p:sp>
      <p:sp>
        <p:nvSpPr>
          <p:cNvPr id="11" name="txt-682"/>
          <p:cNvSpPr txBox="1"/>
          <p:nvPr/>
        </p:nvSpPr>
        <p:spPr>
          <a:xfrm>
            <a:off x="3401568" y="4389120"/>
            <a:ext cx="2377440" cy="329184"/>
          </a:xfrm>
          <a:prstGeom prst="rect">
            <a:avLst/>
          </a:prstGeom>
          <a:noFill/>
          <a:ln/>
        </p:spPr>
        <p:txBody>
          <a:bodyPr wrap="square" lIns="0" tIns="0" rIns="0" bIns="0" rtlCol="0" anchor="t"/>
          <a:lstStyle/>
          <a:p>
            <a:pPr indent="0" marL="0">
              <a:buNone/>
            </a:pPr>
            <a:r>
              <a:rPr lang="en-US" sz="1100" dirty="0">
                <a:solidFill>
                  <a:schemeClr val="tx2"/>
                </a:solidFill>
              </a:rPr>
              <a:t>lost under first-half shuffle: CLaSP vs TRACE</a:t>
            </a:r>
            <a:endParaRPr lang="en-US" sz="1100" dirty="0"/>
          </a:p>
        </p:txBody>
      </p:sp>
      <p:sp>
        <p:nvSpPr>
          <p:cNvPr id="12" name="card-683"/>
          <p:cNvSpPr/>
          <p:nvPr/>
        </p:nvSpPr>
        <p:spPr>
          <a:xfrm>
            <a:off x="6071616" y="4005072"/>
            <a:ext cx="2651760" cy="749808"/>
          </a:xfrm>
          <a:prstGeom prst="roundRect">
            <a:avLst>
              <a:gd name="adj" fmla="val 9756"/>
            </a:avLst>
          </a:prstGeom>
          <a:solidFill>
            <a:schemeClr val="bg2"/>
          </a:solidFill>
          <a:ln/>
        </p:spPr>
      </p:sp>
      <p:sp>
        <p:nvSpPr>
          <p:cNvPr id="13" name="txt-684"/>
          <p:cNvSpPr txBox="1"/>
          <p:nvPr/>
        </p:nvSpPr>
        <p:spPr>
          <a:xfrm>
            <a:off x="6208776" y="4050792"/>
            <a:ext cx="2377440" cy="347472"/>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 0.011</a:t>
            </a:r>
            <a:endParaRPr lang="en-US" sz="2000" dirty="0"/>
          </a:p>
        </p:txBody>
      </p:sp>
      <p:sp>
        <p:nvSpPr>
          <p:cNvPr id="14" name="txt-685"/>
          <p:cNvSpPr txBox="1"/>
          <p:nvPr/>
        </p:nvSpPr>
        <p:spPr>
          <a:xfrm>
            <a:off x="6208776" y="4389120"/>
            <a:ext cx="2377440" cy="329184"/>
          </a:xfrm>
          <a:prstGeom prst="rect">
            <a:avLst/>
          </a:prstGeom>
          <a:noFill/>
          <a:ln/>
        </p:spPr>
        <p:txBody>
          <a:bodyPr wrap="square" lIns="0" tIns="0" rIns="0" bIns="0" rtlCol="0" anchor="t"/>
          <a:lstStyle/>
          <a:p>
            <a:pPr indent="0" marL="0">
              <a:buNone/>
            </a:pPr>
            <a:r>
              <a:rPr lang="en-US" sz="1100" dirty="0">
                <a:solidFill>
                  <a:schemeClr val="tx2"/>
                </a:solidFill>
              </a:rPr>
              <a:t>largest MRR change of the TE-3L text-only control</a:t>
            </a:r>
            <a:endParaRPr lang="en-US" sz="1100" dirty="0"/>
          </a:p>
        </p:txBody>
      </p:sp>
      <p:sp>
        <p:nvSpPr>
          <p:cNvPr id="25" name="Slide Number Placeholder 0"/>
          <p:cNvSpPr>
            <a:spLocks noGrp="1"/>
          </p:cNvSpPr>
          <p:nvPr>
            <p:ph type="sldNum" sz="quarter" idx="4294967295"/>
          </p:nvPr>
        </p:nvSpPr>
        <p:spPr>
          <a:xfrm>
            <a:off x="832104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b"/>
          <a:lstStyle/>
          <a:p>
            <a:pPr algn="l" indent="0" marL="0">
              <a:buNone/>
            </a:pPr>
            <a:r>
              <a:rPr lang="en-US" sz="3400" b="1" dirty="0">
                <a:solidFill>
                  <a:schemeClr val="bg1"/>
                </a:solidFill>
                <a:latin typeface="Cambria" pitchFamily="34" charset="0"/>
                <a:ea typeface="Cambria" pitchFamily="34" charset="-122"/>
                <a:cs typeface="Cambria" pitchFamily="34" charset="-120"/>
              </a:rPr>
              <a:t>Reading the four together</a:t>
            </a:r>
            <a:endParaRPr lang="en-US" sz="3400" dirty="0"/>
          </a:p>
        </p:txBody>
      </p:sp>
      <p:sp>
        <p:nvSpPr>
          <p:cNvPr id="3" name="pill-686"/>
          <p:cNvSpPr/>
          <p:nvPr/>
        </p:nvSpPr>
        <p:spPr>
          <a:xfrm>
            <a:off x="457200" y="1280160"/>
            <a:ext cx="2057400" cy="310896"/>
          </a:xfrm>
          <a:prstGeom prst="roundRect">
            <a:avLst>
              <a:gd name="adj" fmla="val 50000"/>
            </a:avLst>
          </a:prstGeom>
          <a:solidFill>
            <a:schemeClr val="accent1"/>
          </a:solidFill>
          <a:ln/>
        </p:spPr>
      </p:sp>
      <p:sp>
        <p:nvSpPr>
          <p:cNvPr id="4" name="txt-687"/>
          <p:cNvSpPr txBox="1"/>
          <p:nvPr/>
        </p:nvSpPr>
        <p:spPr>
          <a:xfrm>
            <a:off x="457200" y="1280160"/>
            <a:ext cx="2057400" cy="310896"/>
          </a:xfrm>
          <a:prstGeom prst="rect">
            <a:avLst/>
          </a:prstGeom>
          <a:noFill/>
          <a:ln/>
        </p:spPr>
        <p:txBody>
          <a:bodyPr wrap="square" lIns="0" tIns="0" rIns="0" bIns="0" rtlCol="0" anchor="ctr"/>
          <a:lstStyle/>
          <a:p>
            <a:pPr algn="ctr" indent="0" marL="0">
              <a:buNone/>
            </a:pPr>
            <a:r>
              <a:rPr lang="en-US" sz="1200" b="1" dirty="0">
                <a:solidFill>
                  <a:schemeClr val="bg1"/>
                </a:solidFill>
              </a:rPr>
              <a:t>Full shuffle</a:t>
            </a:r>
            <a:endParaRPr lang="en-US" sz="1200" dirty="0"/>
          </a:p>
        </p:txBody>
      </p:sp>
      <p:sp>
        <p:nvSpPr>
          <p:cNvPr id="5" name="txt-688"/>
          <p:cNvSpPr txBox="1"/>
          <p:nvPr/>
        </p:nvSpPr>
        <p:spPr>
          <a:xfrm>
            <a:off x="2743200" y="1234440"/>
            <a:ext cx="5943600" cy="402336"/>
          </a:xfrm>
          <a:prstGeom prst="rect">
            <a:avLst/>
          </a:prstGeom>
          <a:noFill/>
          <a:ln/>
        </p:spPr>
        <p:txBody>
          <a:bodyPr wrap="square" lIns="0" tIns="0" rIns="0" bIns="0" rtlCol="0" anchor="ctr"/>
          <a:lstStyle/>
          <a:p>
            <a:pPr indent="0" marL="0">
              <a:buNone/>
            </a:pPr>
            <a:r>
              <a:rPr lang="en-US" sz="1600" dirty="0">
                <a:solidFill>
                  <a:schemeClr val="bg1"/>
                </a:solidFill>
              </a:rPr>
              <a:t>The largest possible order loss: does the model use order at all?</a:t>
            </a:r>
            <a:endParaRPr lang="en-US" sz="1600" dirty="0"/>
          </a:p>
        </p:txBody>
      </p:sp>
      <p:sp>
        <p:nvSpPr>
          <p:cNvPr id="6" name="pill-689"/>
          <p:cNvSpPr/>
          <p:nvPr/>
        </p:nvSpPr>
        <p:spPr>
          <a:xfrm>
            <a:off x="457200" y="1901952"/>
            <a:ext cx="2057400" cy="310896"/>
          </a:xfrm>
          <a:prstGeom prst="roundRect">
            <a:avLst>
              <a:gd name="adj" fmla="val 50000"/>
            </a:avLst>
          </a:prstGeom>
          <a:solidFill>
            <a:schemeClr val="accent2"/>
          </a:solidFill>
          <a:ln/>
        </p:spPr>
      </p:sp>
      <p:sp>
        <p:nvSpPr>
          <p:cNvPr id="7" name="txt-690"/>
          <p:cNvSpPr txBox="1"/>
          <p:nvPr/>
        </p:nvSpPr>
        <p:spPr>
          <a:xfrm>
            <a:off x="457200" y="1901952"/>
            <a:ext cx="2057400" cy="310896"/>
          </a:xfrm>
          <a:prstGeom prst="rect">
            <a:avLst/>
          </a:prstGeom>
          <a:noFill/>
          <a:ln/>
        </p:spPr>
        <p:txBody>
          <a:bodyPr wrap="square" lIns="0" tIns="0" rIns="0" bIns="0" rtlCol="0" anchor="ctr"/>
          <a:lstStyle/>
          <a:p>
            <a:pPr algn="ctr" indent="0" marL="0">
              <a:buNone/>
            </a:pPr>
            <a:r>
              <a:rPr lang="en-US" sz="1200" b="1" dirty="0">
                <a:solidFill>
                  <a:schemeClr val="bg1"/>
                </a:solidFill>
              </a:rPr>
              <a:t>First-half shuffle</a:t>
            </a:r>
            <a:endParaRPr lang="en-US" sz="1200" dirty="0"/>
          </a:p>
        </p:txBody>
      </p:sp>
      <p:sp>
        <p:nvSpPr>
          <p:cNvPr id="8" name="txt-691"/>
          <p:cNvSpPr txBox="1"/>
          <p:nvPr/>
        </p:nvSpPr>
        <p:spPr>
          <a:xfrm>
            <a:off x="2743200" y="1856232"/>
            <a:ext cx="5943600" cy="402336"/>
          </a:xfrm>
          <a:prstGeom prst="rect">
            <a:avLst/>
          </a:prstGeom>
          <a:noFill/>
          <a:ln/>
        </p:spPr>
        <p:txBody>
          <a:bodyPr wrap="square" lIns="0" tIns="0" rIns="0" bIns="0" rtlCol="0" anchor="ctr"/>
          <a:lstStyle/>
          <a:p>
            <a:pPr indent="0" marL="0">
              <a:buNone/>
            </a:pPr>
            <a:r>
              <a:rPr lang="en-US" sz="1600" dirty="0">
                <a:solidFill>
                  <a:schemeClr val="bg1"/>
                </a:solidFill>
              </a:rPr>
              <a:t>Sensitive to local order inside one half of the series?</a:t>
            </a:r>
            <a:endParaRPr lang="en-US" sz="1600" dirty="0"/>
          </a:p>
        </p:txBody>
      </p:sp>
      <p:sp>
        <p:nvSpPr>
          <p:cNvPr id="9" name="pill-692"/>
          <p:cNvSpPr/>
          <p:nvPr/>
        </p:nvSpPr>
        <p:spPr>
          <a:xfrm>
            <a:off x="457200" y="2523744"/>
            <a:ext cx="2057400" cy="310896"/>
          </a:xfrm>
          <a:prstGeom prst="roundRect">
            <a:avLst>
              <a:gd name="adj" fmla="val 50000"/>
            </a:avLst>
          </a:prstGeom>
          <a:solidFill>
            <a:schemeClr val="accent3"/>
          </a:solidFill>
          <a:ln/>
        </p:spPr>
      </p:sp>
      <p:sp>
        <p:nvSpPr>
          <p:cNvPr id="10" name="txt-693"/>
          <p:cNvSpPr txBox="1"/>
          <p:nvPr/>
        </p:nvSpPr>
        <p:spPr>
          <a:xfrm>
            <a:off x="457200" y="2523744"/>
            <a:ext cx="2057400" cy="310896"/>
          </a:xfrm>
          <a:prstGeom prst="rect">
            <a:avLst/>
          </a:prstGeom>
          <a:noFill/>
          <a:ln/>
        </p:spPr>
        <p:txBody>
          <a:bodyPr wrap="square" lIns="0" tIns="0" rIns="0" bIns="0" rtlCol="0" anchor="ctr"/>
          <a:lstStyle/>
          <a:p>
            <a:pPr algn="ctr" indent="0" marL="0">
              <a:buNone/>
            </a:pPr>
            <a:r>
              <a:rPr lang="en-US" sz="1200" b="1" dirty="0">
                <a:solidFill>
                  <a:schemeClr val="bg1"/>
                </a:solidFill>
              </a:rPr>
              <a:t>Half exchange</a:t>
            </a:r>
            <a:endParaRPr lang="en-US" sz="1200" dirty="0"/>
          </a:p>
        </p:txBody>
      </p:sp>
      <p:sp>
        <p:nvSpPr>
          <p:cNvPr id="11" name="txt-694"/>
          <p:cNvSpPr txBox="1"/>
          <p:nvPr/>
        </p:nvSpPr>
        <p:spPr>
          <a:xfrm>
            <a:off x="2743200" y="2478024"/>
            <a:ext cx="5943600" cy="402336"/>
          </a:xfrm>
          <a:prstGeom prst="rect">
            <a:avLst/>
          </a:prstGeom>
          <a:noFill/>
          <a:ln/>
        </p:spPr>
        <p:txBody>
          <a:bodyPr wrap="square" lIns="0" tIns="0" rIns="0" bIns="0" rtlCol="0" anchor="ctr"/>
          <a:lstStyle/>
          <a:p>
            <a:pPr indent="0" marL="0">
              <a:buNone/>
            </a:pPr>
            <a:r>
              <a:rPr lang="en-US" sz="1600" dirty="0">
                <a:solidFill>
                  <a:schemeClr val="bg1"/>
                </a:solidFill>
              </a:rPr>
              <a:t>Does it track where segments sit, even when each keeps its shape?</a:t>
            </a:r>
            <a:endParaRPr lang="en-US" sz="1600" dirty="0"/>
          </a:p>
        </p:txBody>
      </p:sp>
      <p:sp>
        <p:nvSpPr>
          <p:cNvPr id="12" name="pill-695"/>
          <p:cNvSpPr/>
          <p:nvPr/>
        </p:nvSpPr>
        <p:spPr>
          <a:xfrm>
            <a:off x="457200" y="3145536"/>
            <a:ext cx="2057400" cy="310896"/>
          </a:xfrm>
          <a:prstGeom prst="roundRect">
            <a:avLst>
              <a:gd name="adj" fmla="val 50000"/>
            </a:avLst>
          </a:prstGeom>
          <a:solidFill>
            <a:schemeClr val="accent4"/>
          </a:solidFill>
          <a:ln/>
        </p:spPr>
      </p:sp>
      <p:sp>
        <p:nvSpPr>
          <p:cNvPr id="13" name="txt-696"/>
          <p:cNvSpPr txBox="1"/>
          <p:nvPr/>
        </p:nvSpPr>
        <p:spPr>
          <a:xfrm>
            <a:off x="457200" y="3145536"/>
            <a:ext cx="2057400" cy="310896"/>
          </a:xfrm>
          <a:prstGeom prst="rect">
            <a:avLst/>
          </a:prstGeom>
          <a:noFill/>
          <a:ln/>
        </p:spPr>
        <p:txBody>
          <a:bodyPr wrap="square" lIns="0" tIns="0" rIns="0" bIns="0" rtlCol="0" anchor="ctr"/>
          <a:lstStyle/>
          <a:p>
            <a:pPr algn="ctr" indent="0" marL="0">
              <a:buNone/>
            </a:pPr>
            <a:r>
              <a:rPr lang="en-US" sz="1200" b="1" dirty="0">
                <a:solidFill>
                  <a:schemeClr val="bg1"/>
                </a:solidFill>
              </a:rPr>
              <a:t>Masking</a:t>
            </a:r>
            <a:endParaRPr lang="en-US" sz="1200" dirty="0"/>
          </a:p>
        </p:txBody>
      </p:sp>
      <p:sp>
        <p:nvSpPr>
          <p:cNvPr id="14" name="txt-697"/>
          <p:cNvSpPr txBox="1"/>
          <p:nvPr/>
        </p:nvSpPr>
        <p:spPr>
          <a:xfrm>
            <a:off x="2743200" y="3099816"/>
            <a:ext cx="5943600" cy="402336"/>
          </a:xfrm>
          <a:prstGeom prst="rect">
            <a:avLst/>
          </a:prstGeom>
          <a:noFill/>
          <a:ln/>
        </p:spPr>
        <p:txBody>
          <a:bodyPr wrap="square" lIns="0" tIns="0" rIns="0" bIns="0" rtlCol="0" anchor="ctr"/>
          <a:lstStyle/>
          <a:p>
            <a:pPr indent="0" marL="0">
              <a:buNone/>
            </a:pPr>
            <a:r>
              <a:rPr lang="en-US" sz="1600" dirty="0">
                <a:solidFill>
                  <a:schemeClr val="bg1"/>
                </a:solidFill>
              </a:rPr>
              <a:t>Removes values without moving any: how fragile is the input itself?</a:t>
            </a:r>
            <a:endParaRPr lang="en-US" sz="1600" dirty="0"/>
          </a:p>
        </p:txBody>
      </p:sp>
      <p:sp>
        <p:nvSpPr>
          <p:cNvPr id="15" name="card-698"/>
          <p:cNvSpPr/>
          <p:nvPr/>
        </p:nvSpPr>
        <p:spPr>
          <a:xfrm>
            <a:off x="457200" y="3840480"/>
            <a:ext cx="8229600" cy="822960"/>
          </a:xfrm>
          <a:prstGeom prst="roundRect">
            <a:avLst>
              <a:gd name="adj" fmla="val 8889"/>
            </a:avLst>
          </a:prstGeom>
          <a:solidFill>
            <a:schemeClr val="bg1">
              <a:alpha val="10000"/>
            </a:schemeClr>
          </a:solidFill>
          <a:ln/>
        </p:spPr>
      </p:sp>
      <p:sp>
        <p:nvSpPr>
          <p:cNvPr id="16" name="txt-699"/>
          <p:cNvSpPr txBox="1"/>
          <p:nvPr/>
        </p:nvSpPr>
        <p:spPr>
          <a:xfrm>
            <a:off x="640080" y="3840480"/>
            <a:ext cx="7863840" cy="822960"/>
          </a:xfrm>
          <a:prstGeom prst="rect">
            <a:avLst/>
          </a:prstGeom>
          <a:noFill/>
          <a:ln/>
        </p:spPr>
        <p:txBody>
          <a:bodyPr wrap="square" lIns="0" tIns="0" rIns="0" bIns="0" rtlCol="0" anchor="ctr"/>
          <a:lstStyle/>
          <a:p>
            <a:pPr indent="0" marL="0">
              <a:buNone/>
            </a:pPr>
            <a:r>
              <a:rPr lang="en-US" sz="1400" b="1" dirty="0">
                <a:solidFill>
                  <a:schemeClr val="bg1"/>
                </a:solidFill>
              </a:rPr>
              <a:t>A drop alone is not proof of order use: </a:t>
            </a:r>
            <a:pPr indent="0" marL="0">
              <a:buNone/>
            </a:pPr>
            <a:r>
              <a:rPr lang="en-US" sz="1400" dirty="0">
                <a:solidFill>
                  <a:schemeClr val="accent6"/>
                </a:solidFill>
              </a:rPr>
              <a:t>a shuffled series can simply look unfamiliar. D2 therefore compares order-dependent with order-invariant descriptions, DiD = Δinv − Δdep.</a:t>
            </a:r>
            <a:endParaRPr lang="en-US" sz="1400" dirty="0"/>
          </a:p>
        </p:txBody>
      </p:sp>
    </p:spTree>
  </p:cSld>
  <p:clrMapOvr>
    <a:masterClrMapping/>
  </p:clrMapOvr>
</p:sld>
</file>

<file path=ppt/theme/theme1.xml><?xml version="1.0" encoding="utf-8"?>
<a:theme xmlns:a="http://schemas.openxmlformats.org/drawingml/2006/main" name="D2 Signal">
  <a:themeElements>
    <a:clrScheme name="D2 Signal">
      <a:dk1>
        <a:srgbClr val="1B2333"/>
      </a:dk1>
      <a:lt1>
        <a:srgbClr val="FFFFFF"/>
      </a:lt1>
      <a:dk2>
        <a:srgbClr val="4A5568"/>
      </a:dk2>
      <a:lt2>
        <a:srgbClr val="F1F4F8"/>
      </a:lt2>
      <a:accent1>
        <a:srgbClr val="22364F"/>
      </a:accent1>
      <a:accent2>
        <a:srgbClr val="1F8A80"/>
      </a:accent2>
      <a:accent3>
        <a:srgbClr val="D98324"/>
      </a:accent3>
      <a:accent4>
        <a:srgbClr val="7B61A8"/>
      </a:accent4>
      <a:accent5>
        <a:srgbClr val="B83A2E"/>
      </a:accent5>
      <a:accent6>
        <a:srgbClr val="B9C2CF"/>
      </a:accent6>
      <a:hlink>
        <a:srgbClr val="1F8A80"/>
      </a:hlink>
      <a:folHlink>
        <a:srgbClr val="4A5568"/>
      </a:folHlink>
    </a:clrScheme>
    <a:fontScheme name="D2 Sig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Diagnostic 2: Temporal-Order Sensitivity</dc:title>
  <dc:subject>D2 perturbations illustrated</dc:subject>
  <dc:creator>PptxGenJS</dc:creator>
  <cp:lastModifiedBy>PptxGenJS</cp:lastModifiedBy>
  <cp:revision>1</cp:revision>
  <dcterms:created xsi:type="dcterms:W3CDTF">2026-10-27T16:35:02Z</dcterms:created>
  <dcterms:modified xsi:type="dcterms:W3CDTF">2026-10-27T16:35:02Z</dcterms:modified>
</cp:coreProperties>
</file>