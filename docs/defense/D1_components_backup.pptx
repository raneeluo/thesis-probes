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1 overview" id="{4ca904c7-aee3-c952-3fe2-eeaf1846180f}">
          <p14:sldIdLst>
            <p14:sldId id="256"/>
            <p14:sldId id="257"/>
          </p14:sldIdLst>
        </p14:section>
        <p14:section name="SUSHI: C1–C5" id="{cf0eb3ff-efa9-a94f-056e-c1e5e106f360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NOAA: N1–N5" id="{592f6b1b-9886-36bd-9842-0d74b49899d9}">
          <p14:sldIdLst>
            <p14:sldId id="265"/>
            <p14:sldId id="266"/>
            <p14:sldId id="267"/>
          </p14:sldIdLst>
        </p14:section>
        <p14:section name="Comparing the grammars" id="{ccd76d2b-8e77-b963-9429-95cc6125353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series</c:v>
                </c:pt>
              </c:strCache>
            </c:strRef>
          </c:tx>
          <c:spPr>
            <a:solidFill>
              <a:srgbClr val="0E7C7B"/>
            </a:solidFill>
            <a:ln w="1905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1</c:v>
                </c:pt>
                <c:pt idx="1">
                  <c:v>1.017</c:v>
                </c:pt>
                <c:pt idx="2">
                  <c:v>0.9</c:v>
                </c:pt>
                <c:pt idx="3">
                  <c:v>0.817</c:v>
                </c:pt>
                <c:pt idx="4">
                  <c:v>0.859</c:v>
                </c:pt>
                <c:pt idx="5">
                  <c:v>0.835</c:v>
                </c:pt>
                <c:pt idx="6">
                  <c:v>0.703</c:v>
                </c:pt>
                <c:pt idx="7">
                  <c:v>0.665</c:v>
                </c:pt>
                <c:pt idx="8">
                  <c:v>0.711</c:v>
                </c:pt>
                <c:pt idx="9">
                  <c:v>-0.259</c:v>
                </c:pt>
                <c:pt idx="10">
                  <c:v>0.517</c:v>
                </c:pt>
                <c:pt idx="11">
                  <c:v>0.523</c:v>
                </c:pt>
                <c:pt idx="12">
                  <c:v>0.549</c:v>
                </c:pt>
                <c:pt idx="13">
                  <c:v>0.44</c:v>
                </c:pt>
                <c:pt idx="14">
                  <c:v>0.346</c:v>
                </c:pt>
                <c:pt idx="15">
                  <c:v>0.383</c:v>
                </c:pt>
                <c:pt idx="16">
                  <c:v>0.372</c:v>
                </c:pt>
                <c:pt idx="17">
                  <c:v>0.241</c:v>
                </c:pt>
                <c:pt idx="18">
                  <c:v>0.19</c:v>
                </c:pt>
                <c:pt idx="19">
                  <c:v>0.238</c:v>
                </c:pt>
                <c:pt idx="20">
                  <c:v>0.181</c:v>
                </c:pt>
                <c:pt idx="21">
                  <c:v>0.052</c:v>
                </c:pt>
                <c:pt idx="22">
                  <c:v>0.046</c:v>
                </c:pt>
                <c:pt idx="23">
                  <c:v>-0.82</c:v>
                </c:pt>
                <c:pt idx="24">
                  <c:v>-0.019</c:v>
                </c:pt>
                <c:pt idx="25">
                  <c:v>-0.124</c:v>
                </c:pt>
                <c:pt idx="26">
                  <c:v>-0.093</c:v>
                </c:pt>
                <c:pt idx="27">
                  <c:v>-0.093</c:v>
                </c:pt>
                <c:pt idx="28">
                  <c:v>-0.219</c:v>
                </c:pt>
                <c:pt idx="29">
                  <c:v>-0.283</c:v>
                </c:pt>
                <c:pt idx="30">
                  <c:v>-0.236</c:v>
                </c:pt>
                <c:pt idx="31">
                  <c:v>-0.28</c:v>
                </c:pt>
                <c:pt idx="32">
                  <c:v>-0.412</c:v>
                </c:pt>
                <c:pt idx="33">
                  <c:v>-0.43</c:v>
                </c:pt>
                <c:pt idx="34">
                  <c:v>-0.39</c:v>
                </c:pt>
                <c:pt idx="35">
                  <c:v>-0.478</c:v>
                </c:pt>
                <c:pt idx="36">
                  <c:v>-0.592</c:v>
                </c:pt>
                <c:pt idx="37">
                  <c:v>-1.47</c:v>
                </c:pt>
                <c:pt idx="38">
                  <c:v>-0.558</c:v>
                </c:pt>
                <c:pt idx="39">
                  <c:v>-0.679</c:v>
                </c:pt>
                <c:pt idx="40">
                  <c:v>-0.756</c:v>
                </c:pt>
                <c:pt idx="41">
                  <c:v>-0.712</c:v>
                </c:pt>
                <c:pt idx="42">
                  <c:v>-0.742</c:v>
                </c:pt>
                <c:pt idx="43">
                  <c:v>-0.875</c:v>
                </c:pt>
                <c:pt idx="44">
                  <c:v>-0.906</c:v>
                </c:pt>
                <c:pt idx="45">
                  <c:v>-0.861</c:v>
                </c:pt>
                <c:pt idx="46">
                  <c:v>-0.937</c:v>
                </c:pt>
                <c:pt idx="47">
                  <c:v>-1.059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1F3F4"/>
        </a:solidFill>
        <a:ln>
          <a:noFill/>
        </a:ln>
        <a:effectLst/>
      </c:spPr>
    </c:plotArea>
    <c:plotVisOnly val="1"/>
    <c:dispBlanksAs val="span"/>
  </c:chart>
  <c:spPr>
    <a:solidFill>
      <a:srgbClr val="F1F3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【用途】这是附录/备用页的封面。答辩老师问到 D1 的某个组件（例如“C4 是什么”“N3 怎么构造的”）时，从这里跳到对应页。
【一句话】D1 是组件替换诊断：同一条序列配两条描述，一条正确，另一条只改了一个“组件”（或换成无关描述做对照），看模型能不能选对。
【结构】SUSHI 上有 C1–C5 五个组件（CLaSP、ChatTS、TE-3L 用）；TRACE 只能用自己的 NOAA 天气数据，所以另建了 N1–N5（N4 没能构建，被放弃）。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【怎么讲】D1 的每道题都是同一条序列 + 两条描述的二选一。
• 交换题（swap）：把正确描述里恰好一个组件换掉（例如 C1 把“下降”换成“上升”），其余文字不变。
• 随机对照（random）：换成一条完全无关的描述（另一个类别，两个标签槽都不同）。
• 两种题在同一条序列上配对出现，二选一的机会水平固定是 0.5，所以不同组件之间可比。
• 指标：gap = 随机对照准确率 − 交换题准确率。gap 大说明模型对这个组件不敏感。
【为什么二选一而不是排序】各组件可替换值的数量不同（C1 只有一个反义值，C4 有五个备选），k 选一会让每个组件的机会水平不同。
【模型】CLaSP、ChatTS、TE-3L 都用 SUSHI 的 C1–C5；ChatTS 是生成模型，题目以 A/B 选择题给它，两种选项顺序各问一次取平均。TRACE 用 NOAA 的 N1–N5。TRUCE 的描述是自由文本，没有可交换的标签语法，没做 D1（写进 future work）。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【SUSHI 的标签本身就是组合式的】每个类别标签 = “波动类型; 形状”，例如 “negative spike; linear decrease”。7 种波动 × 20 种形状 = 140 类，每类 10 条序列，共 1,400 条，每条 2,048 点，140 个组合全部存在。
【描述文本怎么对应】一条描述 = 形状句 + 波动句；最后一句是波动句，前面是形状句。clean（无波动）的描述没有波动句，所以 C4 不能对 clean 做交换。
【组件来源】C1、C2、C3、C5 都改形状句；C4 改波动句。交换时用的是数据集里真实存在的、目标类别的句子（在长度最接近的 3 句里随机选），不是我自己写的句子。
【限制】只用形状部分是一句话的序列（1,400 里有 1,313 条），保证交换前后句子数一样。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【这一页是 C1/C2/C3/C5 的“地图”】20 个形状可以按三件事分解：属于趋势还是周期（regime）、曲线族（family：线性、指数、sigmoid、高斯、二次、三次）、方向（上升/先升，下降/先降）。
• C1 趋势方向：同一行，换到另一列（族不变、方向反转），例如 linear decrease → linear increase。
• C2 趋势族：同一列，换到另一行（方向不变、曲线类型变），例如 linear decrease → exponential decay。
• C3 周期波形：周期类内部互换（正弦/方波/三角波/锯齿/反锯齿）。
• C5 信号类型：趋势 ↔ 周期，变化最大。
• constant 没有方向，只出现在 C5。
【可能被问】为什么 exponential growth 和 inverted exponential decay 不是 C2 对？因为两者同族（exponential）同方向（上升），只有曲率不同，不是“换族”。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【五个组件一句话版】
C1 趋势方向：只把方向反过来，曲线类型和波动句都不变。8 对（含锯齿 ↔ 反锯齿）。205 道交换题。
C2 趋势族：方向不变，换曲线类型。16 对。410 道。
C3 周期波形：5 种波形两两互换，10 对。280 道。
C4 波动类型：形状句不变，换波动句。6 种波动（clean 除外）两两互换，15 对。生成 990 道，人工逐条审核后 738 道合格，C4 的结果只用这 738 道。
C5 信号类型：趋势 ↔ 周期，15 × 5 = 75 对。885 道。
【数量】每对两个方向都用；每道交换题都配一道同一序列上的随机对照题，所以总共 2,770 + 2,770 = 5,540 道，来自验证+测试集 280 条序列中的 279 条。
【长度】替换句从目标类别的真实句子里选长度最接近的；平均词数差：C1 0.32、C2 5.11、C3 0.18、C4 0.17、C5 2.46。C2/C5 有长度差，但它们恰好是 CLaSP 上 gap 最小的两个，长度不能解释结果（length oracle 在每个组件上都在 0.5±0.017 内）。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【C1 的 8 对】都是数据集里明确的“反义”形状对，曲线类型和曲率特征保持不变，只有方向反了。注意锯齿 ↔ 反锯齿是唯一一个周期类的 C1 对，同时也属于 C3。
（结果备查：CLaSP 在 C1 的 8 对里有 6 对是 1.000，聚合 gap 主要被锯齿 ↔ 反锯齿这一对拉低，0.440。）
【C2 的 16 对】规则是：方向相同、曲线族不同的任意两个形状。按方向分成四组：上升 4 个形状 → 5 对；下降 4 个 → 5 对；先升 3 个 → 3 对；先降 3 个 → 3 对。
上升组里 exponential growth 和 inverted exponential decay 同属指数族，所以不配对，因此是 5 对不是 6 对；下降组同理。
【可能被问】C2 没有做全量人工审核（论文中作为局限性说明），只有自动结构检查 + 10 条人工抽样。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【C3】五种周期波形两两互换，共 10 对，每对两个方向。280 道交换题，覆盖 70 条序列。
锯齿 ↔ 反锯齿同时属于 C1 和 C3（图里虚线那条）。
（结果备查：CLaSP 在 C3 的下降集中在“斜坡朝向”混淆——锯齿/反锯齿/三角波之间 0.476–0.524，而所有含方波的对都在 0.893–0.988。）
【C5】把趋势形状换成周期波形或反过来：15 个趋势形状（包括 constant）× 5 个波形 = 75 对。这是语义变化最大的交换，原本预期退化最大；实际上 CLaSP 在 C5 上交换题准确率反而略高于随机对照（随机对照里的两个类别有时形状反而相近）。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【C4 的取值】波动槽 7 个值里，clean（干净、没有波动句）不能交换，剩下 6 个：smooth（基本平滑、少量噪声）、noisy（大量噪声）、step（阶跃跳变）、positive spike（正向尖峰）、negative spike（负向尖峰）、positive-and-negative spike（正负尖峰都有）。6 个两两成对 = 15 对。
clean ↔ 其他 会改变句子数（多一句），所以单独定义为 C6，没有纳入主实验。
【为什么 C4 要人工全审】C4 是 CLaSP 的核心结论（collapse）所在，所以按 “自动检查 → 抽样 → 全量人工 census” 走完整流程：
990 道生成 → 107 道去掉（替换句没有明确说出波动类型，比如只说 spikes 不说方向）→ 20 道放一边（替换词也能描述形状，比如对锯齿说 step changes）→ 剩 863 道逐条人工判断 → 125 道不合格（五种机制：子集陈述 66、非普遍噪声 42、截断句 10、反向重叠 4、无幅度噪声 3）→ 738 道合格。
【结果备查】CLaSP 在 738 道合格题上 0.603，在 125 道不合格题上 0.531，在全部 990 道上 0.599——清洗前后几乎不变，说明低分不是坏题造成的。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【真实例子】这些都是实验里真实生成的题，来自 50 条人工抽检样本（46/50 合格）和 C4 全量审核表，不是为了答辩编的。
• C1 和 C4 用的是同一条序列（negative spike; linear decrease）：C1 改形状句（下降 → 上升），C4 改波动句（负尖峰 → 正尖峰），各自只改一句，另一句原样保留。
• 替换句都是 SUSHI 数据集里目标类别的真实句子，所以语言风格和原句一致，模型不能靠“句子是不是人写的”来分辨。
【可能被问】替换句有时措辞别扭（如 “additionally”放句尾）——这是数据集原文的风格，两个选项共享同样的风格；人工审核的标准是：句子成立、确实陈述了新值、且对这条序列是假的。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【为什么 TRACE 不能用 SUSHI】TRACE 的输入最多 186 个点，SUSHI 每条 2,048 点，必须压缩约 11 倍。压缩后用手工特征分类器检验：波动类型各对的可分性从 0.929 降到 0.773，三个跟尖峰有关的对降到 0.525–0.595（接近随机），而全局形状仍在 0.93–0.99。三种压缩方法（插值、抽取、固定窗口）结果一样（0.773/0.784/0.786）。
所以如果 TRACE 在压缩后的 SUSHI 上失败，分不清是模型的问题还是信息被压缩掉了 → 改用 TRACE 自己的 NOAA 天气数据（2,006 条测试记录，7 个气象变量）。
【NOAA 描述结构】每条描述有 10 个文本字段：时间范围 DATE、天气标签 labels、地点 location，以及每个变量一段描述。N1/N2/N3/N5 各改一个字段，其余 9 个字段和 7 条序列都不变，再按 TRACE 作者自己的模板拼成完整描述。
【局限】TRACE 检索用的描述文本大部分是 LLM 生成的变量描述，不是人写的事件叙述。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【N1 天气标签】把标签集合里所有有反义词的标签一次性全部翻转：Hot↔Cold、Warm↔Cool、Clear↔Cloudy、Rainy↔Dry；Humid、Windy 等没有反义词的保持不变。原本就矛盾（如六个月里同时 Hot 和 Cold）或翻转后会矛盾（如 Dry + Humid）的记录排除，剩 462 条可用，抽 400。
【N2 时间跨度】一周 ↔ 六个月，整句重写：保留结束日期，重新计算开始日期，使替换后的文字自身一致、只对序列是错的。28 天的记录不用（保持二元）。
【N3 温度趋势】只改 temperature 字段里的方向词（rising↔declining、warming↔cooling、increase↔decrease、upward↔downward 等），数值不动。这是 TRACE 的核心组件：400 → 自动检查去掉 11 → 389 → 全部人工审核去掉 45 → 344 道合格。
【N4】原计划“波动 ↔ 稳定”，但 NOAA 的波动描述几乎总带具体数值或范围，改一个词会前后矛盾，只有 33 条能干净地改，低于预先设定的 100 条门槛，所以放弃。
【N5 地点】把地点句换成另一个州的记录的地点句。设计初衷是阴性对照（序列里没有地点信息，应该测不出来），但 TRACE 准确率 0.918–0.935，在只换地名、句式相同的 40 道题上三次都是 0.900——作为一个“机制未定”的发现报告（可能是从气候推断地点，或记住了训练中的站点）。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【例子来源】这四个例子来自题目验证表（N1 和 N3 的例子在最终题集中，N3 这道是人工审核合格的；N2、N5 来自第一轮验证样本，生成规则在第二版没有改变）。
• N1：标签整组翻转。
• N2：一周改成六个月，结束日期 7 月 4 日不变，开始日期往前推六个月，所以替换后的句子自身是通顺一致的。
• N3：只把 upward 改成 downward，温度数值不变。
• N5：整个地点句被另一个州记录的地点句替换（句式也随之变化，这对所有 N5 都一样）。
【排除规则的逻辑】只要替换后的文字“光看文本就能发现矛盾”，这道题就不公平，必须在抽样前排除。例如 N3：温度描述里同时有升和降、或提到月份/季节（六个月跨季节时月份本身就暗示方向）、或数字暴露方向（“从 X 开始…升到 Y”）。
N3 生成后又有两轮清理：自动检索出与峰值时间绑定的措辞，去掉 11 道；然后 389 道全部人工判断，去掉 45 道（剩 344），缺陷包括附加的解释句（如 “indicating a cold snap”）、湿度句里写了温度变化等。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【两套语法怎么对应】
• 趋势方向：C1（SUSHI）↔ N3（NOAA）是唯一真正可比的一对。
• 波动：C4 ↔ N4 本来应该对应，但两头都做不了——SUSHI 压缩给 TRACE 后尖峰信息丢失；NOAA 只有 33 条能干净地改 N4。所以“TRACE 对波动敏不敏感”这个格子是空的，这本身作为关于 benchmark 设计的发现报告。
• 只有 SUSHI 有：C2 趋势族、C3 周期波形、C5 信号类型。
• 只有 NOAA 有：N1 天气标签、N2 时间跨度、N5 地点。
【比较规则】组件不同、数据不同，所以原始准确率只在同一模型内部比较；跨模型只比较相对退化和判定（collapse / partial / no drop / VOID），见论文 Table 4.3。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Backup · Diagnostic 1 component grammars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Backup: Diagnostic 1 component grammars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What each component is, which values it takes, and how many items test it — C1–C5 on SUSHI (CLaSP, ChatTS, TE-3L) and N1–N5 on NOAA (TRACE)</a:t>
            </a:r>
            <a:endParaRPr lang="en-US" sz="1800" dirty="0"/>
          </a:p>
        </p:txBody>
      </p:sp>
      <p:sp>
        <p:nvSpPr>
          <p:cNvPr id="4" name="chip C1"/>
          <p:cNvSpPr txBox="1"/>
          <p:nvPr/>
        </p:nvSpPr>
        <p:spPr>
          <a:xfrm>
            <a:off x="731520" y="4754880"/>
            <a:ext cx="731520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C1</a:t>
            </a:r>
            <a:endParaRPr lang="en-US" sz="1600" dirty="0"/>
          </a:p>
        </p:txBody>
      </p:sp>
      <p:sp>
        <p:nvSpPr>
          <p:cNvPr id="5" name="chip C2"/>
          <p:cNvSpPr txBox="1"/>
          <p:nvPr/>
        </p:nvSpPr>
        <p:spPr>
          <a:xfrm>
            <a:off x="1600200" y="4754880"/>
            <a:ext cx="731520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C2</a:t>
            </a:r>
            <a:endParaRPr lang="en-US" sz="1600" dirty="0"/>
          </a:p>
        </p:txBody>
      </p:sp>
      <p:sp>
        <p:nvSpPr>
          <p:cNvPr id="6" name="chip C3"/>
          <p:cNvSpPr txBox="1"/>
          <p:nvPr/>
        </p:nvSpPr>
        <p:spPr>
          <a:xfrm>
            <a:off x="2468880" y="4754880"/>
            <a:ext cx="731520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C3</a:t>
            </a:r>
            <a:endParaRPr lang="en-US" sz="1600" dirty="0"/>
          </a:p>
        </p:txBody>
      </p:sp>
      <p:sp>
        <p:nvSpPr>
          <p:cNvPr id="7" name="chip C4"/>
          <p:cNvSpPr txBox="1"/>
          <p:nvPr/>
        </p:nvSpPr>
        <p:spPr>
          <a:xfrm>
            <a:off x="3337560" y="4754880"/>
            <a:ext cx="731520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C4</a:t>
            </a:r>
            <a:endParaRPr lang="en-US" sz="1600" dirty="0"/>
          </a:p>
        </p:txBody>
      </p:sp>
      <p:sp>
        <p:nvSpPr>
          <p:cNvPr id="8" name="chip C5"/>
          <p:cNvSpPr txBox="1"/>
          <p:nvPr/>
        </p:nvSpPr>
        <p:spPr>
          <a:xfrm>
            <a:off x="4206240" y="4754880"/>
            <a:ext cx="731520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C5</a:t>
            </a:r>
            <a:endParaRPr lang="en-US" sz="1600" dirty="0"/>
          </a:p>
        </p:txBody>
      </p:sp>
      <p:sp>
        <p:nvSpPr>
          <p:cNvPr id="9" name="chip N1"/>
          <p:cNvSpPr txBox="1"/>
          <p:nvPr/>
        </p:nvSpPr>
        <p:spPr>
          <a:xfrm>
            <a:off x="5486400" y="4754880"/>
            <a:ext cx="731520" cy="457200"/>
          </a:xfrm>
          <a:prstGeom prst="roundRect">
            <a:avLst>
              <a:gd name="adj" fmla="val 3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N1</a:t>
            </a:r>
            <a:endParaRPr lang="en-US" sz="1600" dirty="0"/>
          </a:p>
        </p:txBody>
      </p:sp>
      <p:sp>
        <p:nvSpPr>
          <p:cNvPr id="10" name="chip N2"/>
          <p:cNvSpPr txBox="1"/>
          <p:nvPr/>
        </p:nvSpPr>
        <p:spPr>
          <a:xfrm>
            <a:off x="6355080" y="4754880"/>
            <a:ext cx="731520" cy="457200"/>
          </a:xfrm>
          <a:prstGeom prst="roundRect">
            <a:avLst>
              <a:gd name="adj" fmla="val 3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N2</a:t>
            </a:r>
            <a:endParaRPr lang="en-US" sz="1600" dirty="0"/>
          </a:p>
        </p:txBody>
      </p:sp>
      <p:sp>
        <p:nvSpPr>
          <p:cNvPr id="11" name="chip N3"/>
          <p:cNvSpPr txBox="1"/>
          <p:nvPr/>
        </p:nvSpPr>
        <p:spPr>
          <a:xfrm>
            <a:off x="7223760" y="4754880"/>
            <a:ext cx="731520" cy="457200"/>
          </a:xfrm>
          <a:prstGeom prst="roundRect">
            <a:avLst>
              <a:gd name="adj" fmla="val 3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N3</a:t>
            </a:r>
            <a:endParaRPr lang="en-US" sz="1600" dirty="0"/>
          </a:p>
        </p:txBody>
      </p:sp>
      <p:sp>
        <p:nvSpPr>
          <p:cNvPr id="12" name="chip N4"/>
          <p:cNvSpPr txBox="1"/>
          <p:nvPr/>
        </p:nvSpPr>
        <p:spPr>
          <a:xfrm>
            <a:off x="8092440" y="4754880"/>
            <a:ext cx="731520" cy="457200"/>
          </a:xfrm>
          <a:prstGeom prst="roundRect">
            <a:avLst>
              <a:gd name="adj" fmla="val 36000"/>
            </a:avLst>
          </a:prstGeom>
          <a:solidFill>
            <a:schemeClr val="tx1"/>
          </a:solidFill>
          <a:ln w="15875">
            <a:solidFill>
              <a:schemeClr val="accent3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N4</a:t>
            </a:r>
            <a:endParaRPr lang="en-US" sz="1600" dirty="0"/>
          </a:p>
        </p:txBody>
      </p:sp>
      <p:sp>
        <p:nvSpPr>
          <p:cNvPr id="13" name="chip N5"/>
          <p:cNvSpPr txBox="1"/>
          <p:nvPr/>
        </p:nvSpPr>
        <p:spPr>
          <a:xfrm>
            <a:off x="8961120" y="4754880"/>
            <a:ext cx="731520" cy="457200"/>
          </a:xfrm>
          <a:prstGeom prst="roundRect">
            <a:avLst>
              <a:gd name="adj" fmla="val 3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03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SUSHI grammar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NOAA grammar  (N4 planned, could not be built)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D1 item: the same series, two descriptions</a:t>
            </a:r>
            <a:endParaRPr lang="en-US" sz="3000" dirty="0"/>
          </a:p>
        </p:txBody>
      </p:sp>
      <p:sp>
        <p:nvSpPr>
          <p:cNvPr id="3" name="series card"/>
          <p:cNvSpPr/>
          <p:nvPr/>
        </p:nvSpPr>
        <p:spPr>
          <a:xfrm>
            <a:off x="548640" y="2103120"/>
            <a:ext cx="228600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Series (never changed)</a:t>
            </a:r>
            <a:endParaRPr lang="en-US" sz="1300" dirty="0"/>
          </a:p>
        </p:txBody>
      </p:sp>
      <p:graphicFrame>
        <p:nvGraphicFramePr>
          <p:cNvPr id="5" name="Chart 0" descr="Illustrative linearly decreasing series with three negative spikes"/>
          <p:cNvGraphicFramePr/>
          <p:nvPr/>
        </p:nvGraphicFramePr>
        <p:xfrm>
          <a:off x="640080" y="2560320"/>
          <a:ext cx="210312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34564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illustrative: linear decrease with negative spikes</a:t>
            </a:r>
            <a:endParaRPr lang="en-US" sz="1000" dirty="0"/>
          </a:p>
        </p:txBody>
      </p:sp>
      <p:sp>
        <p:nvSpPr>
          <p:cNvPr id="7" name="Correct description"/>
          <p:cNvSpPr/>
          <p:nvPr/>
        </p:nvSpPr>
        <p:spPr>
          <a:xfrm>
            <a:off x="3291840" y="1234440"/>
            <a:ext cx="3794760" cy="1143000"/>
          </a:xfrm>
          <a:prstGeom prst="roundRect">
            <a:avLst>
              <a:gd name="adj" fmla="val 64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1325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Correct description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6459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pattern is witnessing a linear and constant decline.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signal is interrupted by large negative spikes.</a:t>
            </a:r>
            <a:endParaRPr lang="en-US" sz="1300" dirty="0"/>
          </a:p>
        </p:txBody>
      </p:sp>
      <p:sp>
        <p:nvSpPr>
          <p:cNvPr id="10" name="Swap item: one component changed (C1)"/>
          <p:cNvSpPr/>
          <p:nvPr/>
        </p:nvSpPr>
        <p:spPr>
          <a:xfrm>
            <a:off x="3291840" y="2606040"/>
            <a:ext cx="37947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2697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Swap item: one component changed (C1)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30175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increase in the trend is uniform and linear.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signal is interrupted by large negative spikes.</a:t>
            </a:r>
            <a:endParaRPr lang="en-US" sz="1300" dirty="0"/>
          </a:p>
        </p:txBody>
      </p:sp>
      <p:sp>
        <p:nvSpPr>
          <p:cNvPr id="13" name="Random control: an unrelated description"/>
          <p:cNvSpPr/>
          <p:nvPr/>
        </p:nvSpPr>
        <p:spPr>
          <a:xfrm>
            <a:off x="3291840" y="3977640"/>
            <a:ext cx="37947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29000" y="4069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Random control: an unrelated description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43891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a full caption from a class that differs in both label slots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 flipH="1">
            <a:off x="2834640" y="1783080"/>
            <a:ext cx="457200" cy="114300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4640" y="2926080"/>
            <a:ext cx="457200" cy="22860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34640" y="2926080"/>
            <a:ext cx="457200" cy="160020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5349240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Two two-choice questions per series: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correct vs. swap, and correct vs. random. Chance is 0.5 for every component. Gap = random-control accuracy − swap accuracy.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Which grammar each model receives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645920"/>
          <a:ext cx="4114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14400"/>
                <a:gridCol w="1600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Components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CLaSP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SUSHI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C1–C5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ChatTS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SUSHI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C1–C5 *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TE-3L (control)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SUSHI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C1–C5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TRACE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NOAA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N1, N2, N3, N5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7498080" y="38862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* ChatTS gets each item as an A/B question, asked in both answer orders.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TRUCE has no D1: its captions are free-form, with no label grammar to swap (left as future work).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SUSHI labels have two slots: fluctuation; shape</a:t>
            </a:r>
            <a:endParaRPr lang="en-US" sz="3000" dirty="0"/>
          </a:p>
        </p:txBody>
      </p:sp>
      <p:sp>
        <p:nvSpPr>
          <p:cNvPr id="3" name="dataset tag"/>
          <p:cNvSpPr txBox="1"/>
          <p:nvPr/>
        </p:nvSpPr>
        <p:spPr>
          <a:xfrm>
            <a:off x="10287000" y="429768"/>
            <a:ext cx="132588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SUSHI</a:t>
            </a:r>
            <a:endParaRPr lang="en-US" sz="1300" dirty="0"/>
          </a:p>
        </p:txBody>
      </p:sp>
      <p:sp>
        <p:nvSpPr>
          <p:cNvPr id="4" name="fluctuation slot"/>
          <p:cNvSpPr/>
          <p:nvPr/>
        </p:nvSpPr>
        <p:spPr>
          <a:xfrm>
            <a:off x="548640" y="1234440"/>
            <a:ext cx="55778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Fluctuation slot · 7 values  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→ C4</a:t>
            </a:r>
            <a:endParaRPr lang="en-US" sz="1500" dirty="0"/>
          </a:p>
        </p:txBody>
      </p:sp>
      <p:sp>
        <p:nvSpPr>
          <p:cNvPr id="6" name="chip clean"/>
          <p:cNvSpPr txBox="1"/>
          <p:nvPr/>
        </p:nvSpPr>
        <p:spPr>
          <a:xfrm>
            <a:off x="731520" y="1783080"/>
            <a:ext cx="822960" cy="347472"/>
          </a:xfrm>
          <a:prstGeom prst="roundRect">
            <a:avLst>
              <a:gd name="adj" fmla="val 47368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clean</a:t>
            </a:r>
            <a:endParaRPr lang="en-US" sz="1200" dirty="0"/>
          </a:p>
        </p:txBody>
      </p:sp>
      <p:sp>
        <p:nvSpPr>
          <p:cNvPr id="7" name="chip smooth"/>
          <p:cNvSpPr txBox="1"/>
          <p:nvPr/>
        </p:nvSpPr>
        <p:spPr>
          <a:xfrm>
            <a:off x="1664208" y="1783080"/>
            <a:ext cx="960120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smooth</a:t>
            </a:r>
            <a:endParaRPr lang="en-US" sz="1200" dirty="0"/>
          </a:p>
        </p:txBody>
      </p:sp>
      <p:sp>
        <p:nvSpPr>
          <p:cNvPr id="8" name="chip noisy"/>
          <p:cNvSpPr txBox="1"/>
          <p:nvPr/>
        </p:nvSpPr>
        <p:spPr>
          <a:xfrm>
            <a:off x="2734056" y="1783080"/>
            <a:ext cx="868680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noisy</a:t>
            </a:r>
            <a:endParaRPr lang="en-US" sz="1200" dirty="0"/>
          </a:p>
        </p:txBody>
      </p:sp>
      <p:sp>
        <p:nvSpPr>
          <p:cNvPr id="9" name="chip step"/>
          <p:cNvSpPr txBox="1"/>
          <p:nvPr/>
        </p:nvSpPr>
        <p:spPr>
          <a:xfrm>
            <a:off x="3712464" y="1783080"/>
            <a:ext cx="731520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step</a:t>
            </a:r>
            <a:endParaRPr lang="en-US" sz="1200" dirty="0"/>
          </a:p>
        </p:txBody>
      </p:sp>
      <p:sp>
        <p:nvSpPr>
          <p:cNvPr id="10" name="chip positive spike"/>
          <p:cNvSpPr txBox="1"/>
          <p:nvPr/>
        </p:nvSpPr>
        <p:spPr>
          <a:xfrm>
            <a:off x="731520" y="2240280"/>
            <a:ext cx="1508760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positive spike</a:t>
            </a:r>
            <a:endParaRPr lang="en-US" sz="1200" dirty="0"/>
          </a:p>
        </p:txBody>
      </p:sp>
      <p:sp>
        <p:nvSpPr>
          <p:cNvPr id="11" name="chip negative spike"/>
          <p:cNvSpPr txBox="1"/>
          <p:nvPr/>
        </p:nvSpPr>
        <p:spPr>
          <a:xfrm>
            <a:off x="2350008" y="2240280"/>
            <a:ext cx="1554480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negative spike</a:t>
            </a:r>
            <a:endParaRPr lang="en-US" sz="1200" dirty="0"/>
          </a:p>
        </p:txBody>
      </p:sp>
      <p:sp>
        <p:nvSpPr>
          <p:cNvPr id="12" name="chip positive-and-negative spike"/>
          <p:cNvSpPr txBox="1"/>
          <p:nvPr/>
        </p:nvSpPr>
        <p:spPr>
          <a:xfrm>
            <a:off x="731520" y="2697480"/>
            <a:ext cx="2743200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positive-and-negative spike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08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clean = no fluctuation sentence, so it is never swapped</a:t>
            </a:r>
            <a:endParaRPr lang="en-US" sz="1200" dirty="0"/>
          </a:p>
        </p:txBody>
      </p:sp>
      <p:sp>
        <p:nvSpPr>
          <p:cNvPr id="14" name="shape slot"/>
          <p:cNvSpPr/>
          <p:nvPr/>
        </p:nvSpPr>
        <p:spPr>
          <a:xfrm>
            <a:off x="548640" y="3611880"/>
            <a:ext cx="55778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216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Shape slot · 20 values  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→ C1, C2, C3, C5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11480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15 trend shapes: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constant; linear increase / decrease; exponential growth / decay; inverted exponential growth / decay; sigmoid / inverted sigmoid; gaussian / inverted gaussian; concave / convex; cubic / negative cubic function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5 periodic waveforms: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sinusoidal, square, triangle, sawtooth, reverse sawtooth wave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 × 20 = 140 classes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·  every combination exists  ·  10 series per class = 1,400 series of 2,048 points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Caption anatomy (series n_spike\02\0000000)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1627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Class label: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negative spike; linear decrease</a:t>
            </a:r>
            <a:endParaRPr lang="en-US" sz="1300" dirty="0"/>
          </a:p>
        </p:txBody>
      </p:sp>
      <p:sp>
        <p:nvSpPr>
          <p:cNvPr id="20" name="shape sentence"/>
          <p:cNvSpPr/>
          <p:nvPr/>
        </p:nvSpPr>
        <p:spPr>
          <a:xfrm>
            <a:off x="6492240" y="2011680"/>
            <a:ext cx="5120640" cy="1325880"/>
          </a:xfrm>
          <a:prstGeom prst="roundRect">
            <a:avLst>
              <a:gd name="adj" fmla="val 5517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21031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SHAPE SENTENCE(S)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“The pattern is witnessing a linear and constant decline.”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926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C1, C2, C3, C5 replace this part</a:t>
            </a:r>
            <a:endParaRPr lang="en-US" sz="1200" dirty="0"/>
          </a:p>
        </p:txBody>
      </p:sp>
      <p:sp>
        <p:nvSpPr>
          <p:cNvPr id="24" name="fluctuation sentence"/>
          <p:cNvSpPr/>
          <p:nvPr/>
        </p:nvSpPr>
        <p:spPr>
          <a:xfrm>
            <a:off x="6492240" y="3474720"/>
            <a:ext cx="51206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35661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FLUCTUATION SENTENCE (always the last one)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“The signal is interrupted by large negative spikes.”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C4 replaces this part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9377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Only series whose shape part is a single sentence are used (1,313 of 1,400), so a swap never changes the sentence count.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20 shapes, by regime, family and direction</a:t>
            </a:r>
            <a:endParaRPr lang="en-US" sz="3000" dirty="0"/>
          </a:p>
        </p:txBody>
      </p:sp>
      <p:sp>
        <p:nvSpPr>
          <p:cNvPr id="3" name="dataset tag"/>
          <p:cNvSpPr txBox="1"/>
          <p:nvPr/>
        </p:nvSpPr>
        <p:spPr>
          <a:xfrm>
            <a:off x="10287000" y="429768"/>
            <a:ext cx="132588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SUSHI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4066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417320"/>
                <a:gridCol w="2514600"/>
                <a:gridCol w="2514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Regime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Family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Rising / rises first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Falling / falls first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 rowSpan="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Trend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(15)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linear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linear increase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linear decrease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exponential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exponential growth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inverted exponential decay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exponential decay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inverted exponential growth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sigmoid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sigmoid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inverted sigmoid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Gaussian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gaussian (rise, then fall)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inverted gaussian (fall, then rise)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quadratic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concave (rise, then fall)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convex (fall, then rise)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cubic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cubic function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negative cubic function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constant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3"/>
                          </a:solidFill>
                        </a:rPr>
                        <a:t>constant — no direction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</a:tr>
              <a:tr h="38404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Periodic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(5)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sawtooth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sawtooth wave (rising ramp)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reverse sawtooth wave (falling ramp)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other waves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3"/>
                          </a:solidFill>
                        </a:rPr>
                        <a:t>sinusoidal, square, triangle wave — no direction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32104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the components move in this table</a:t>
            </a:r>
            <a:endParaRPr lang="en-US" sz="1500" dirty="0"/>
          </a:p>
        </p:txBody>
      </p:sp>
      <p:sp>
        <p:nvSpPr>
          <p:cNvPr id="6" name="chip C1"/>
          <p:cNvSpPr txBox="1"/>
          <p:nvPr/>
        </p:nvSpPr>
        <p:spPr>
          <a:xfrm>
            <a:off x="8321040" y="1737360"/>
            <a:ext cx="640080" cy="41148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098280" y="17099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same family, other direction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8 pairs</a:t>
            </a:r>
            <a:endParaRPr lang="en-US" sz="1300" dirty="0"/>
          </a:p>
        </p:txBody>
      </p:sp>
      <p:sp>
        <p:nvSpPr>
          <p:cNvPr id="8" name="chip C2"/>
          <p:cNvSpPr txBox="1"/>
          <p:nvPr/>
        </p:nvSpPr>
        <p:spPr>
          <a:xfrm>
            <a:off x="8321040" y="2606040"/>
            <a:ext cx="640080" cy="41148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98280" y="25786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same direction, other family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16 pairs</a:t>
            </a:r>
            <a:endParaRPr lang="en-US" sz="1300" dirty="0"/>
          </a:p>
        </p:txBody>
      </p:sp>
      <p:sp>
        <p:nvSpPr>
          <p:cNvPr id="10" name="chip C3"/>
          <p:cNvSpPr txBox="1"/>
          <p:nvPr/>
        </p:nvSpPr>
        <p:spPr>
          <a:xfrm>
            <a:off x="8321040" y="3474720"/>
            <a:ext cx="640080" cy="41148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34472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waveform to another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10 pairs</a:t>
            </a:r>
            <a:endParaRPr lang="en-US" sz="1300" dirty="0"/>
          </a:p>
        </p:txBody>
      </p:sp>
      <p:sp>
        <p:nvSpPr>
          <p:cNvPr id="12" name="chip C5"/>
          <p:cNvSpPr txBox="1"/>
          <p:nvPr/>
        </p:nvSpPr>
        <p:spPr>
          <a:xfrm>
            <a:off x="8321040" y="4343400"/>
            <a:ext cx="640080" cy="41148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C5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098280" y="43159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any trend ↔ any waveform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75 pairs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5257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constant has no direction and no family partner, so it appears only in C5. C4 works on the other label slot.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C1–C5 at a glance</a:t>
            </a:r>
            <a:endParaRPr lang="en-US" sz="3000" dirty="0"/>
          </a:p>
        </p:txBody>
      </p:sp>
      <p:sp>
        <p:nvSpPr>
          <p:cNvPr id="3" name="dataset tag"/>
          <p:cNvSpPr txBox="1"/>
          <p:nvPr/>
        </p:nvSpPr>
        <p:spPr>
          <a:xfrm>
            <a:off x="10287000" y="429768"/>
            <a:ext cx="132588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SUSHI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828800"/>
                <a:gridCol w="1920240"/>
                <a:gridCol w="1874520"/>
                <a:gridCol w="1965960"/>
                <a:gridCol w="15087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The swap changes…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…and keeps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Value pairs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Example (from → to)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Swap items / series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C1  trend direction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direction of the shape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curve type; fluctuation sentence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 opposite pairs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linear decrease → linear increase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205 / 205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C2  trend family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curve type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direction; fluctuation sentence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 pairs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linear decrease → exponential decay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410 / 177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C3  periodic waveform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wave shape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periodic regime; fluctuation sentence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 pairs (all pairs of 5)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sinusoidal → square wave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280 / 70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C4  fluctuation type †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fluctuation type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shape sentence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 pairs (6 types; clean excluded)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negative spike → positive spike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990 generated, 738 certified / 237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C5  signal regime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trend ↔ periodic shape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fluctuation sentence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75 pairs (15 trend × 5 periodic)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linear increase → sawtooth wave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885 / 248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pair is used in both directions, and every swap item is paired with a random control on the same series: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2,770 swap + 2,770 random = 5,540 items from 279 of the 280 validation/test series.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  † C4 results use the 738 human-certified swaps (thesis Section 3.7, Appendix B.2–B.3).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C1 and C2: which shapes are swapped with which</a:t>
            </a:r>
            <a:endParaRPr lang="en-US" sz="3000" dirty="0"/>
          </a:p>
        </p:txBody>
      </p:sp>
      <p:sp>
        <p:nvSpPr>
          <p:cNvPr id="3" name="dataset tag"/>
          <p:cNvSpPr txBox="1"/>
          <p:nvPr/>
        </p:nvSpPr>
        <p:spPr>
          <a:xfrm>
            <a:off x="10287000" y="429768"/>
            <a:ext cx="132588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SUSHI</a:t>
            </a:r>
            <a:endParaRPr lang="en-US" sz="1300" dirty="0"/>
          </a:p>
        </p:txBody>
      </p:sp>
      <p:sp>
        <p:nvSpPr>
          <p:cNvPr id="4" name="chip C1"/>
          <p:cNvSpPr txBox="1"/>
          <p:nvPr/>
        </p:nvSpPr>
        <p:spPr>
          <a:xfrm>
            <a:off x="548640" y="1280160"/>
            <a:ext cx="640080" cy="41148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trend direction · 8 opposite pairs</a:t>
            </a:r>
            <a:endParaRPr lang="en-US" sz="1600" dirty="0"/>
          </a:p>
        </p:txBody>
      </p:sp>
      <p:sp>
        <p:nvSpPr>
          <p:cNvPr id="6" name="C1 pair 1"/>
          <p:cNvSpPr/>
          <p:nvPr/>
        </p:nvSpPr>
        <p:spPr>
          <a:xfrm>
            <a:off x="548640" y="1874520"/>
            <a:ext cx="51206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74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linear increase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8745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↔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874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linear decrease</a:t>
            </a:r>
            <a:endParaRPr lang="en-US" sz="1300" dirty="0"/>
          </a:p>
        </p:txBody>
      </p:sp>
      <p:sp>
        <p:nvSpPr>
          <p:cNvPr id="10" name="C1 pair 2"/>
          <p:cNvSpPr/>
          <p:nvPr/>
        </p:nvSpPr>
        <p:spPr>
          <a:xfrm>
            <a:off x="548640" y="2350008"/>
            <a:ext cx="512064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500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exponential growth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3500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3500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exponential decay</a:t>
            </a:r>
            <a:endParaRPr lang="en-US" sz="1300" dirty="0"/>
          </a:p>
        </p:txBody>
      </p:sp>
      <p:sp>
        <p:nvSpPr>
          <p:cNvPr id="14" name="C1 pair 3"/>
          <p:cNvSpPr/>
          <p:nvPr/>
        </p:nvSpPr>
        <p:spPr>
          <a:xfrm>
            <a:off x="548640" y="2825496"/>
            <a:ext cx="51206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8254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inverted exponential decay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8254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↔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825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inverted exponential growth</a:t>
            </a:r>
            <a:endParaRPr lang="en-US" sz="1300" dirty="0"/>
          </a:p>
        </p:txBody>
      </p:sp>
      <p:sp>
        <p:nvSpPr>
          <p:cNvPr id="18" name="C1 pair 4"/>
          <p:cNvSpPr/>
          <p:nvPr/>
        </p:nvSpPr>
        <p:spPr>
          <a:xfrm>
            <a:off x="548640" y="3300984"/>
            <a:ext cx="512064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30098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sigmoid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330098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33009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inverted sigmoid</a:t>
            </a:r>
            <a:endParaRPr lang="en-US" sz="1300" dirty="0"/>
          </a:p>
        </p:txBody>
      </p:sp>
      <p:sp>
        <p:nvSpPr>
          <p:cNvPr id="22" name="C1 pair 5"/>
          <p:cNvSpPr/>
          <p:nvPr/>
        </p:nvSpPr>
        <p:spPr>
          <a:xfrm>
            <a:off x="548640" y="3776472"/>
            <a:ext cx="51206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7764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gaussian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37764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↔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37764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inverted gaussian</a:t>
            </a:r>
            <a:endParaRPr lang="en-US" sz="1300" dirty="0"/>
          </a:p>
        </p:txBody>
      </p:sp>
      <p:sp>
        <p:nvSpPr>
          <p:cNvPr id="26" name="C1 pair 6"/>
          <p:cNvSpPr/>
          <p:nvPr/>
        </p:nvSpPr>
        <p:spPr>
          <a:xfrm>
            <a:off x="548640" y="4251960"/>
            <a:ext cx="512064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2519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concave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926080" y="4251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↔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291840" y="4251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convex</a:t>
            </a:r>
            <a:endParaRPr lang="en-US" sz="1300" dirty="0"/>
          </a:p>
        </p:txBody>
      </p:sp>
      <p:sp>
        <p:nvSpPr>
          <p:cNvPr id="30" name="C1 pair 7"/>
          <p:cNvSpPr/>
          <p:nvPr/>
        </p:nvSpPr>
        <p:spPr>
          <a:xfrm>
            <a:off x="548640" y="4727448"/>
            <a:ext cx="51206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72744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cubic function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926080" y="472744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↔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47274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negative cubic function</a:t>
            </a:r>
            <a:endParaRPr lang="en-US" sz="1300" dirty="0"/>
          </a:p>
        </p:txBody>
      </p:sp>
      <p:sp>
        <p:nvSpPr>
          <p:cNvPr id="34" name="C1 pair 8"/>
          <p:cNvSpPr/>
          <p:nvPr/>
        </p:nvSpPr>
        <p:spPr>
          <a:xfrm>
            <a:off x="548640" y="5202936"/>
            <a:ext cx="512064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52029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sawtooth wave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926080" y="52029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↔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291840" y="52029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reverse sawtooth wave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760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The sawtooth pair is the only periodic C1 pair; it is also one of the C3 pairs.</a:t>
            </a:r>
            <a:endParaRPr lang="en-US" sz="1200" dirty="0"/>
          </a:p>
        </p:txBody>
      </p:sp>
      <p:sp>
        <p:nvSpPr>
          <p:cNvPr id="39" name="chip C2"/>
          <p:cNvSpPr txBox="1"/>
          <p:nvPr/>
        </p:nvSpPr>
        <p:spPr>
          <a:xfrm>
            <a:off x="6217920" y="1280160"/>
            <a:ext cx="640080" cy="41148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C2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99516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trend family · 16 pairs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21792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pair of shapes that share a direction but belong to different families:</a:t>
            </a:r>
            <a:endParaRPr lang="en-US" sz="1300" dirty="0"/>
          </a:p>
        </p:txBody>
      </p:sp>
      <p:sp>
        <p:nvSpPr>
          <p:cNvPr id="42" name="C2 group Rising"/>
          <p:cNvSpPr/>
          <p:nvPr/>
        </p:nvSpPr>
        <p:spPr>
          <a:xfrm>
            <a:off x="6217920" y="22402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55080" y="23317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Rising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 pairs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355080" y="267919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linear increase, exponential growth, inverted exponential decay, sigmoid</a:t>
            </a:r>
            <a:endParaRPr lang="en-US" sz="1300" dirty="0"/>
          </a:p>
        </p:txBody>
      </p:sp>
      <p:sp>
        <p:nvSpPr>
          <p:cNvPr id="45" name="C2 group Falling"/>
          <p:cNvSpPr/>
          <p:nvPr/>
        </p:nvSpPr>
        <p:spPr>
          <a:xfrm>
            <a:off x="8961120" y="22402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98280" y="23317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Falling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 pairs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9098280" y="267919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linear decrease, exponential decay, inverted exponential growth, inverted sigmoid</a:t>
            </a:r>
            <a:endParaRPr lang="en-US" sz="1300" dirty="0"/>
          </a:p>
        </p:txBody>
      </p:sp>
      <p:sp>
        <p:nvSpPr>
          <p:cNvPr id="48" name="C2 group Rises first"/>
          <p:cNvSpPr/>
          <p:nvPr/>
        </p:nvSpPr>
        <p:spPr>
          <a:xfrm>
            <a:off x="6217920" y="38404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55080" y="3931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Rises first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 pairs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355080" y="427939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concave, gaussian, cubic function</a:t>
            </a:r>
            <a:endParaRPr lang="en-US" sz="1300" dirty="0"/>
          </a:p>
        </p:txBody>
      </p:sp>
      <p:sp>
        <p:nvSpPr>
          <p:cNvPr id="51" name="C2 group Falls first"/>
          <p:cNvSpPr/>
          <p:nvPr/>
        </p:nvSpPr>
        <p:spPr>
          <a:xfrm>
            <a:off x="8961120" y="38404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098280" y="3931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Falls first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 pairs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9098280" y="427939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convex, inverted gaussian, negative cubic function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217920" y="54864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Exponential growth and inverted exponential decay share a family, so they are not a C2 pair (likewise for the falling pair). Constant is in neither C1 nor C2.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C3 and C5: waveform and regime swaps</a:t>
            </a:r>
            <a:endParaRPr lang="en-US" sz="3000" dirty="0"/>
          </a:p>
        </p:txBody>
      </p:sp>
      <p:sp>
        <p:nvSpPr>
          <p:cNvPr id="3" name="dataset tag"/>
          <p:cNvSpPr txBox="1"/>
          <p:nvPr/>
        </p:nvSpPr>
        <p:spPr>
          <a:xfrm>
            <a:off x="10287000" y="429768"/>
            <a:ext cx="132588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SUSHI</a:t>
            </a:r>
            <a:endParaRPr lang="en-US" sz="1300" dirty="0"/>
          </a:p>
        </p:txBody>
      </p:sp>
      <p:sp>
        <p:nvSpPr>
          <p:cNvPr id="4" name="chip C3"/>
          <p:cNvSpPr txBox="1"/>
          <p:nvPr/>
        </p:nvSpPr>
        <p:spPr>
          <a:xfrm>
            <a:off x="548640" y="1280160"/>
            <a:ext cx="640080" cy="41148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periodic waveform · all 10 pairs of 5 waves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63240" y="2194560"/>
            <a:ext cx="1521881" cy="1105711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2194560"/>
            <a:ext cx="940574" cy="2894789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2122666" y="2194560"/>
            <a:ext cx="940574" cy="2894789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541359" y="2194560"/>
            <a:ext cx="1521881" cy="1105711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4003814" y="3300271"/>
            <a:ext cx="581307" cy="178907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2122666" y="3300271"/>
            <a:ext cx="2462455" cy="178907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541359" y="3300271"/>
            <a:ext cx="3043761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2122666" y="5089349"/>
            <a:ext cx="18811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1359" y="3300271"/>
            <a:ext cx="2462455" cy="178907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1359" y="3300271"/>
            <a:ext cx="581307" cy="1789078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</a:ln>
        </p:spPr>
      </p:sp>
      <p:sp>
        <p:nvSpPr>
          <p:cNvPr id="16" name="chip sinusoidal"/>
          <p:cNvSpPr txBox="1"/>
          <p:nvPr/>
        </p:nvSpPr>
        <p:spPr>
          <a:xfrm>
            <a:off x="2446020" y="2002536"/>
            <a:ext cx="123444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sinusoidal</a:t>
            </a:r>
            <a:endParaRPr lang="en-US" sz="1300" dirty="0"/>
          </a:p>
        </p:txBody>
      </p:sp>
      <p:sp>
        <p:nvSpPr>
          <p:cNvPr id="17" name="chip square"/>
          <p:cNvSpPr txBox="1"/>
          <p:nvPr/>
        </p:nvSpPr>
        <p:spPr>
          <a:xfrm>
            <a:off x="4127921" y="3108247"/>
            <a:ext cx="91440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square</a:t>
            </a:r>
            <a:endParaRPr lang="en-US" sz="1300" dirty="0"/>
          </a:p>
        </p:txBody>
      </p:sp>
      <p:sp>
        <p:nvSpPr>
          <p:cNvPr id="18" name="chip triangle"/>
          <p:cNvSpPr txBox="1"/>
          <p:nvPr/>
        </p:nvSpPr>
        <p:spPr>
          <a:xfrm>
            <a:off x="3500894" y="4897325"/>
            <a:ext cx="100584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triangle</a:t>
            </a:r>
            <a:endParaRPr lang="en-US" sz="1300" dirty="0"/>
          </a:p>
        </p:txBody>
      </p:sp>
      <p:sp>
        <p:nvSpPr>
          <p:cNvPr id="19" name="chip reverse sawtooth"/>
          <p:cNvSpPr txBox="1"/>
          <p:nvPr/>
        </p:nvSpPr>
        <p:spPr>
          <a:xfrm>
            <a:off x="1276846" y="4897325"/>
            <a:ext cx="169164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reverse sawtooth</a:t>
            </a:r>
            <a:endParaRPr lang="en-US" sz="1300" dirty="0"/>
          </a:p>
        </p:txBody>
      </p:sp>
      <p:sp>
        <p:nvSpPr>
          <p:cNvPr id="20" name="chip sawtooth"/>
          <p:cNvSpPr txBox="1"/>
          <p:nvPr/>
        </p:nvSpPr>
        <p:spPr>
          <a:xfrm>
            <a:off x="992719" y="3108247"/>
            <a:ext cx="109728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sawtooth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760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dashed: sawtooth ↔ reverse sawtooth, also a C1 pair</a:t>
            </a:r>
            <a:endParaRPr lang="en-US" sz="1200" dirty="0"/>
          </a:p>
        </p:txBody>
      </p:sp>
      <p:sp>
        <p:nvSpPr>
          <p:cNvPr id="22" name="chip C5"/>
          <p:cNvSpPr txBox="1"/>
          <p:nvPr/>
        </p:nvSpPr>
        <p:spPr>
          <a:xfrm>
            <a:off x="6217920" y="1280160"/>
            <a:ext cx="640080" cy="41148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signal regime · 15 × 5 = 75 pairs</a:t>
            </a:r>
            <a:endParaRPr lang="en-US" sz="1600" dirty="0"/>
          </a:p>
        </p:txBody>
      </p:sp>
      <p:sp>
        <p:nvSpPr>
          <p:cNvPr id="24" name="trend list"/>
          <p:cNvSpPr/>
          <p:nvPr/>
        </p:nvSpPr>
        <p:spPr>
          <a:xfrm>
            <a:off x="6217920" y="187452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15 trend shapes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constant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linear increase · decrease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exponential growth · decay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inverted exponential growth · decay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sigmoid · inverted sigmoid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gaussian · inverted gaussian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concave · convex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cubic · negative cubic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28529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↔</a:t>
            </a:r>
            <a:endParaRPr lang="en-US" sz="2800" dirty="0"/>
          </a:p>
        </p:txBody>
      </p:sp>
      <p:sp>
        <p:nvSpPr>
          <p:cNvPr id="28" name="periodic list"/>
          <p:cNvSpPr/>
          <p:nvPr/>
        </p:nvSpPr>
        <p:spPr>
          <a:xfrm>
            <a:off x="9326880" y="1874520"/>
            <a:ext cx="2286000" cy="25146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64040" y="1965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 periodic waves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46404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sinusoidal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square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triangle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sawtooth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reverse sawtooth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46177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largest semantic change in D1: any trend shape against any waveform, both directions (885 swap items, 248 series).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C4 fluctuation type: values and item certification</a:t>
            </a:r>
            <a:endParaRPr lang="en-US" sz="3000" dirty="0"/>
          </a:p>
        </p:txBody>
      </p:sp>
      <p:sp>
        <p:nvSpPr>
          <p:cNvPr id="3" name="dataset tag"/>
          <p:cNvSpPr txBox="1"/>
          <p:nvPr/>
        </p:nvSpPr>
        <p:spPr>
          <a:xfrm>
            <a:off x="10287000" y="429768"/>
            <a:ext cx="132588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SUSHI</a:t>
            </a:r>
            <a:endParaRPr lang="en-US" sz="1300" dirty="0"/>
          </a:p>
        </p:txBody>
      </p:sp>
      <p:sp>
        <p:nvSpPr>
          <p:cNvPr id="4" name="chip C4"/>
          <p:cNvSpPr txBox="1"/>
          <p:nvPr/>
        </p:nvSpPr>
        <p:spPr>
          <a:xfrm>
            <a:off x="548640" y="1280160"/>
            <a:ext cx="640080" cy="41148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 swappable values · 15 pairs</a:t>
            </a:r>
            <a:endParaRPr lang="en-US" sz="1600" dirty="0"/>
          </a:p>
        </p:txBody>
      </p:sp>
      <p:sp>
        <p:nvSpPr>
          <p:cNvPr id="6" name="chip smooth"/>
          <p:cNvSpPr txBox="1"/>
          <p:nvPr/>
        </p:nvSpPr>
        <p:spPr>
          <a:xfrm>
            <a:off x="548640" y="1874520"/>
            <a:ext cx="187452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smooth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874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“the signal is smooth with minor noise”</a:t>
            </a:r>
            <a:endParaRPr lang="en-US" sz="1300" dirty="0"/>
          </a:p>
        </p:txBody>
      </p:sp>
      <p:sp>
        <p:nvSpPr>
          <p:cNvPr id="8" name="chip noisy"/>
          <p:cNvSpPr txBox="1"/>
          <p:nvPr/>
        </p:nvSpPr>
        <p:spPr>
          <a:xfrm>
            <a:off x="548640" y="2423160"/>
            <a:ext cx="187452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noisy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423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“peppered with significant amounts of noise”</a:t>
            </a:r>
            <a:endParaRPr lang="en-US" sz="1300" dirty="0"/>
          </a:p>
        </p:txBody>
      </p:sp>
      <p:sp>
        <p:nvSpPr>
          <p:cNvPr id="10" name="chip step"/>
          <p:cNvSpPr txBox="1"/>
          <p:nvPr/>
        </p:nvSpPr>
        <p:spPr>
          <a:xfrm>
            <a:off x="548640" y="2971800"/>
            <a:ext cx="187452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step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971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“large step changes”</a:t>
            </a:r>
            <a:endParaRPr lang="en-US" sz="1300" dirty="0"/>
          </a:p>
        </p:txBody>
      </p:sp>
      <p:sp>
        <p:nvSpPr>
          <p:cNvPr id="12" name="chip positive spike"/>
          <p:cNvSpPr txBox="1"/>
          <p:nvPr/>
        </p:nvSpPr>
        <p:spPr>
          <a:xfrm>
            <a:off x="548640" y="3520440"/>
            <a:ext cx="187452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positive spike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520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“large positive spikes”</a:t>
            </a:r>
            <a:endParaRPr lang="en-US" sz="1300" dirty="0"/>
          </a:p>
        </p:txBody>
      </p:sp>
      <p:sp>
        <p:nvSpPr>
          <p:cNvPr id="14" name="chip negative spike"/>
          <p:cNvSpPr txBox="1"/>
          <p:nvPr/>
        </p:nvSpPr>
        <p:spPr>
          <a:xfrm>
            <a:off x="548640" y="4069080"/>
            <a:ext cx="187452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negative spike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4069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“large negative spikes”</a:t>
            </a:r>
            <a:endParaRPr lang="en-US" sz="1300" dirty="0"/>
          </a:p>
        </p:txBody>
      </p:sp>
      <p:sp>
        <p:nvSpPr>
          <p:cNvPr id="16" name="chip pos.-and-neg. spike"/>
          <p:cNvSpPr txBox="1"/>
          <p:nvPr/>
        </p:nvSpPr>
        <p:spPr>
          <a:xfrm>
            <a:off x="548640" y="4617720"/>
            <a:ext cx="187452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pos.-and-neg. spike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4617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“large positive and negative spikes”</a:t>
            </a:r>
            <a:endParaRPr lang="en-US" sz="1300" dirty="0"/>
          </a:p>
        </p:txBody>
      </p:sp>
      <p:sp>
        <p:nvSpPr>
          <p:cNvPr id="18" name="chip clean"/>
          <p:cNvSpPr txBox="1"/>
          <p:nvPr/>
        </p:nvSpPr>
        <p:spPr>
          <a:xfrm>
            <a:off x="548640" y="5212080"/>
            <a:ext cx="1874520" cy="384048"/>
          </a:xfrm>
          <a:prstGeom prst="roundRect">
            <a:avLst>
              <a:gd name="adj" fmla="val 4285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clean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51389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no fluctuation sentence: not swappable (clean ↔ X would add a sentence)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06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Quotes: typical wording of real SUSHI fluctuation sentences.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From generated to certified swaps</a:t>
            </a:r>
            <a:endParaRPr lang="en-US" sz="1600" dirty="0"/>
          </a:p>
        </p:txBody>
      </p:sp>
      <p:sp>
        <p:nvSpPr>
          <p:cNvPr id="22" name="bar 990"/>
          <p:cNvSpPr txBox="1"/>
          <p:nvPr/>
        </p:nvSpPr>
        <p:spPr>
          <a:xfrm>
            <a:off x="6309360" y="1874520"/>
            <a:ext cx="3657600" cy="50292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990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423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generated</a:t>
            </a:r>
            <a:endParaRPr lang="en-US" sz="1250" dirty="0"/>
          </a:p>
        </p:txBody>
      </p:sp>
      <p:sp>
        <p:nvSpPr>
          <p:cNvPr id="24" name="bar 863"/>
          <p:cNvSpPr txBox="1"/>
          <p:nvPr/>
        </p:nvSpPr>
        <p:spPr>
          <a:xfrm>
            <a:off x="6309360" y="3246120"/>
            <a:ext cx="3188393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863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794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type stated explicitly → read by hand</a:t>
            </a:r>
            <a:endParaRPr lang="en-US" sz="1250" dirty="0"/>
          </a:p>
        </p:txBody>
      </p:sp>
      <p:sp>
        <p:nvSpPr>
          <p:cNvPr id="26" name="bar 738"/>
          <p:cNvSpPr txBox="1"/>
          <p:nvPr/>
        </p:nvSpPr>
        <p:spPr>
          <a:xfrm>
            <a:off x="6309360" y="4617720"/>
            <a:ext cx="2726575" cy="5029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738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5166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certified (237 series)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239572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− 107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 explicit type (e.g. “spikes” with no direction)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− 20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word also fits the shape (step changes vs. sawtooth resets)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37673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− 125 failed the hand check: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subset claim 66 · non-pervasive noise 42 · truncated sentence 10 · reverse overlap 4 · bare noise 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54864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C4 results for CLaSP and ChatTS use the 738; TE-3L uses all 990.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Real SUSHI swaps: one sentence replaced, the rest kept</a:t>
            </a:r>
            <a:endParaRPr lang="en-US" sz="3000" dirty="0"/>
          </a:p>
        </p:txBody>
      </p:sp>
      <p:sp>
        <p:nvSpPr>
          <p:cNvPr id="3" name="dataset tag"/>
          <p:cNvSpPr txBox="1"/>
          <p:nvPr/>
        </p:nvSpPr>
        <p:spPr>
          <a:xfrm>
            <a:off x="10287000" y="429768"/>
            <a:ext cx="1325880" cy="384048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SUSHI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240280"/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Comp.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Series class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Original sentence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Replacement sentence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C1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negative spike; linear decrease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“The pattern is witnessing a linear and constant decline.”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“The increase in the trend is uniform and linear.”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C2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pos.-and-neg. spike; linear decrease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“The decrease is consistent in the trend.”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“Sequence aims towards a value by exponential decay.”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C3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smooth; sinusoidal wave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“The signal, akin to a sinusoidal wave, demonstrates a pattern that reoccurs at regular intervals.”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“Comparable to square waves, the signal exhibits a periodic tendency to reverberate at regular intervals.”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C4 †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negative spike; linear decrease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“The signal is interrupted by large negative spikes.”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“Large positive spikes are throughout the signal, additionally.”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C5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noisy; linear increase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“The series observes linear elevation.”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“Signal displays a regular pattern akin to sawtooth waves.”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C1 and C4 edit the two halves of the same caption (series n_spike\02\0000000). 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Items are from the 50-item validation sample (46/50 valid) and the C4 census; † census-certified.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TRACE gets its own grammar on NOAA</a:t>
            </a:r>
            <a:endParaRPr lang="en-US" sz="3000" dirty="0"/>
          </a:p>
        </p:txBody>
      </p:sp>
      <p:sp>
        <p:nvSpPr>
          <p:cNvPr id="3" name="dataset tag"/>
          <p:cNvSpPr txBox="1"/>
          <p:nvPr/>
        </p:nvSpPr>
        <p:spPr>
          <a:xfrm>
            <a:off x="10287000" y="429768"/>
            <a:ext cx="1325880" cy="384048"/>
          </a:xfrm>
          <a:prstGeom prst="roundRect">
            <a:avLst>
              <a:gd name="adj" fmla="val 4285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NOAA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SUSHI cannot be given to TRACE</a:t>
            </a:r>
            <a:endParaRPr lang="en-US" sz="1600" dirty="0"/>
          </a:p>
        </p:txBody>
      </p:sp>
      <p:sp>
        <p:nvSpPr>
          <p:cNvPr id="5" name="stat 0"/>
          <p:cNvSpPr/>
          <p:nvPr/>
        </p:nvSpPr>
        <p:spPr>
          <a:xfrm>
            <a:off x="548640" y="1783080"/>
            <a:ext cx="5120640" cy="804672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2,048 → 186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7830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points: SUSHI series must be shortened to TRACE’s maximum input</a:t>
            </a:r>
            <a:endParaRPr lang="en-US" sz="1300" dirty="0"/>
          </a:p>
        </p:txBody>
      </p:sp>
      <p:sp>
        <p:nvSpPr>
          <p:cNvPr id="8" name="stat 1"/>
          <p:cNvSpPr/>
          <p:nvPr/>
        </p:nvSpPr>
        <p:spPr>
          <a:xfrm>
            <a:off x="548640" y="2715768"/>
            <a:ext cx="5120640" cy="804672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715768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0.929 → 0.773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71576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feature-classifier accuracy on fluctuation pairs after shortening</a:t>
            </a:r>
            <a:endParaRPr lang="en-US" sz="1300" dirty="0"/>
          </a:p>
        </p:txBody>
      </p:sp>
      <p:sp>
        <p:nvSpPr>
          <p:cNvPr id="11" name="stat 2"/>
          <p:cNvSpPr/>
          <p:nvPr/>
        </p:nvSpPr>
        <p:spPr>
          <a:xfrm>
            <a:off x="548640" y="3648456"/>
            <a:ext cx="5120640" cy="804672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648456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0.525–0.595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64845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spike-related pairs: close to chance</a:t>
            </a:r>
            <a:endParaRPr lang="en-US" sz="1300" dirty="0"/>
          </a:p>
        </p:txBody>
      </p:sp>
      <p:sp>
        <p:nvSpPr>
          <p:cNvPr id="14" name="stat 3"/>
          <p:cNvSpPr/>
          <p:nvPr/>
        </p:nvSpPr>
        <p:spPr>
          <a:xfrm>
            <a:off x="548640" y="4581144"/>
            <a:ext cx="51206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581144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0.93–0.99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458114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global-shape components: unaffected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failure on shortened SUSHI could not be attributed to TRACE, so TRACE is tested on its own data: NOAA weather, 2,006 test records, 7 variables.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280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Each NOAA description has ten text fields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71800"/>
                <a:gridCol w="1188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Field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Example (record 206)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Swapped by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2"/>
                          </a:solidFill>
                        </a:rPr>
                        <a:t>DATE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The past six months from July 2022 to December 2022.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2"/>
                          </a:solidFill>
                        </a:rPr>
                        <a:t>N2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2"/>
                          </a:solidFill>
                        </a:rPr>
                        <a:t>labels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Clear, Hot, Cold, Cloudy, Humid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2"/>
                          </a:solidFill>
                        </a:rPr>
                        <a:t>N1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2"/>
                          </a:solidFill>
                        </a:rPr>
                        <a:t>location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Mariposa, California experienced a diverse range of …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2"/>
                          </a:solidFill>
                        </a:rPr>
                        <a:t>N5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2"/>
                          </a:solidFill>
                        </a:rPr>
                        <a:t>temperature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… a noticeable trend of rising during the summer months …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2"/>
                          </a:solidFill>
                        </a:rPr>
                        <a:t>N3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2"/>
                          </a:solidFill>
                        </a:rPr>
                        <a:t>visibility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Visibility remained mostly stable, averaging around 16.09 km …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chemeClr val="accent3"/>
                          </a:solidFill>
                        </a:rPr>
                        <a:t>(N4, dropped)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2"/>
                          </a:solidFill>
                        </a:rPr>
                        <a:t>5 other fields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precipitation, relative humidity, wind u/v, sky cover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accent3"/>
                          </a:solidFill>
                        </a:rPr>
                        <a:t>never edited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217920" y="5486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swap edits one field; the other nine fields and all seven series stay unchanged, and the fields are joined into TRACE’s description template.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N1–N5 at a glance</a:t>
            </a:r>
            <a:endParaRPr lang="en-US" sz="3000" dirty="0"/>
          </a:p>
        </p:txBody>
      </p:sp>
      <p:sp>
        <p:nvSpPr>
          <p:cNvPr id="3" name="dataset tag"/>
          <p:cNvSpPr txBox="1"/>
          <p:nvPr/>
        </p:nvSpPr>
        <p:spPr>
          <a:xfrm>
            <a:off x="10287000" y="429768"/>
            <a:ext cx="1325880" cy="384048"/>
          </a:xfrm>
          <a:prstGeom prst="roundRect">
            <a:avLst>
              <a:gd name="adj" fmla="val 4285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NOAA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514600"/>
                <a:gridCol w="2514600"/>
                <a:gridCol w="173736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The swap changes…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Values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Eligible → swap items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Example (from → to)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N1  weather labels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every label that has an opposite, all at once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Hot↔Cold, Warm↔Cool, Clear↔Cloudy, Rainy↔Dry; other labels kept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462 → 400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Clear, Warm, Dry → Cloudy, Cool, Rainy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N2  time span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stated span; end date kept, start date recomputed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one week ↔ six months (28-day records not used)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1,256 → 400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past week → the past six months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N3  temperature trend †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rising / warming words ↔ falling / cooling words; stated values unchanged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up ↔ down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777 → 400 → 389 → 344 certified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upward trend → downward trend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N4  fluctuation vs. stability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3"/>
                          </a:solidFill>
                        </a:rPr>
                        <a:t>fluctuating ↔ stable wording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3"/>
                          </a:solidFill>
                        </a:rPr>
                        <a:t>carrier fields: temperature, visibility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3"/>
                          </a:solidFill>
                        </a:rPr>
                        <a:t>33 records (&lt; 100 pre-set minimum)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3"/>
                          </a:solidFill>
                        </a:rPr>
                        <a:t>dropped, not run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N5  location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location sentence, taken from a record in another US state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 places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2,006 → 400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Polk, Iowa → Ocean, New Jersey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400 swap + 400 random-control items per component (seed 42); the random control is the full description of an unrelated record.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N5 was meant to be undetectable from the series, yet TRACE scores 0.918–0.935 on it. 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† Only N3 was checked item by item.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Real NOAA swaps and the rules that filter records</a:t>
            </a:r>
            <a:endParaRPr lang="en-US" sz="3000" dirty="0"/>
          </a:p>
        </p:txBody>
      </p:sp>
      <p:sp>
        <p:nvSpPr>
          <p:cNvPr id="3" name="dataset tag"/>
          <p:cNvSpPr txBox="1"/>
          <p:nvPr/>
        </p:nvSpPr>
        <p:spPr>
          <a:xfrm>
            <a:off x="10287000" y="429768"/>
            <a:ext cx="1325880" cy="384048"/>
          </a:xfrm>
          <a:prstGeom prst="roundRect">
            <a:avLst>
              <a:gd name="adj" fmla="val 4285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NOAA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Examples from the item-validation sheets</a:t>
            </a:r>
            <a:endParaRPr lang="en-US" sz="1600" dirty="0"/>
          </a:p>
        </p:txBody>
      </p:sp>
      <p:sp>
        <p:nvSpPr>
          <p:cNvPr id="5" name="example N1"/>
          <p:cNvSpPr/>
          <p:nvPr/>
        </p:nvSpPr>
        <p:spPr>
          <a:xfrm>
            <a:off x="548640" y="1691640"/>
            <a:ext cx="603504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6" name="chip N1"/>
          <p:cNvSpPr txBox="1"/>
          <p:nvPr/>
        </p:nvSpPr>
        <p:spPr>
          <a:xfrm>
            <a:off x="658368" y="1801368"/>
            <a:ext cx="685800" cy="347472"/>
          </a:xfrm>
          <a:prstGeom prst="roundRect">
            <a:avLst>
              <a:gd name="adj" fmla="val 4736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762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labels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764792"/>
            <a:ext cx="4892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Clear, Warm, Dry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→ Cloudy, Cool, Rainy</a:t>
            </a:r>
            <a:endParaRPr lang="en-US" sz="1250" dirty="0"/>
          </a:p>
        </p:txBody>
      </p:sp>
      <p:sp>
        <p:nvSpPr>
          <p:cNvPr id="9" name="example N2"/>
          <p:cNvSpPr/>
          <p:nvPr/>
        </p:nvSpPr>
        <p:spPr>
          <a:xfrm>
            <a:off x="548640" y="2670048"/>
            <a:ext cx="6035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chip N2"/>
          <p:cNvSpPr txBox="1"/>
          <p:nvPr/>
        </p:nvSpPr>
        <p:spPr>
          <a:xfrm>
            <a:off x="658368" y="2779776"/>
            <a:ext cx="685800" cy="347472"/>
          </a:xfrm>
          <a:prstGeom prst="roundRect">
            <a:avLst>
              <a:gd name="adj" fmla="val 4736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154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DATE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743200"/>
            <a:ext cx="4892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past week spans from June 28, 2020, to July 4, 2020.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→ The past six months from January 4, 2020 to July 4, 2020.</a:t>
            </a:r>
            <a:endParaRPr lang="en-US" sz="1250" dirty="0"/>
          </a:p>
        </p:txBody>
      </p:sp>
      <p:sp>
        <p:nvSpPr>
          <p:cNvPr id="13" name="example N3 †"/>
          <p:cNvSpPr/>
          <p:nvPr/>
        </p:nvSpPr>
        <p:spPr>
          <a:xfrm>
            <a:off x="548640" y="3648456"/>
            <a:ext cx="6035040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4" name="chip N3 †"/>
          <p:cNvSpPr txBox="1"/>
          <p:nvPr/>
        </p:nvSpPr>
        <p:spPr>
          <a:xfrm>
            <a:off x="658368" y="3758184"/>
            <a:ext cx="685800" cy="347472"/>
          </a:xfrm>
          <a:prstGeom prst="roundRect">
            <a:avLst>
              <a:gd name="adj" fmla="val 4736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N3 †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41330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temperature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721608"/>
            <a:ext cx="4892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… ranging from a low of −4.33°C to a high of 17.0°C, with a noticeable upward trend towards the end of the period.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→ … with a noticeable downward trend towards the end of the period.</a:t>
            </a:r>
            <a:endParaRPr lang="en-US" sz="1250" dirty="0"/>
          </a:p>
        </p:txBody>
      </p:sp>
      <p:sp>
        <p:nvSpPr>
          <p:cNvPr id="17" name="example N5"/>
          <p:cNvSpPr/>
          <p:nvPr/>
        </p:nvSpPr>
        <p:spPr>
          <a:xfrm>
            <a:off x="548640" y="4718304"/>
            <a:ext cx="6035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chip N5"/>
          <p:cNvSpPr txBox="1"/>
          <p:nvPr/>
        </p:nvSpPr>
        <p:spPr>
          <a:xfrm>
            <a:off x="658368" y="4828032"/>
            <a:ext cx="685800" cy="347472"/>
          </a:xfrm>
          <a:prstGeom prst="roundRect">
            <a:avLst>
              <a:gd name="adj" fmla="val 4736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202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location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791456"/>
            <a:ext cx="4892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Smith, Texas experienced a variety of weather conditions.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→ The weather report is for Vermilion Parish, Louisiana.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234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Records excluded before sampling</a:t>
            </a:r>
            <a:endParaRPr lang="en-US" sz="1600" dirty="0"/>
          </a:p>
        </p:txBody>
      </p:sp>
      <p:sp>
        <p:nvSpPr>
          <p:cNvPr id="22" name="chip N1"/>
          <p:cNvSpPr txBox="1"/>
          <p:nvPr/>
        </p:nvSpPr>
        <p:spPr>
          <a:xfrm>
            <a:off x="6949440" y="1728216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N1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16916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label set already contradictory (e.g. Hot + Cold over six months): 1,345; contradictory after the swap (e.g. Dry + Humid): 199</a:t>
            </a:r>
            <a:endParaRPr lang="en-US" sz="1250" dirty="0"/>
          </a:p>
        </p:txBody>
      </p:sp>
      <p:sp>
        <p:nvSpPr>
          <p:cNvPr id="24" name="chip N2"/>
          <p:cNvSpPr txBox="1"/>
          <p:nvPr/>
        </p:nvSpPr>
        <p:spPr>
          <a:xfrm>
            <a:off x="6949440" y="2752344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N2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271576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28-day spans, to keep the swap binary: 679; dates that could not be parsed: 71</a:t>
            </a:r>
            <a:endParaRPr lang="en-US" sz="1250" dirty="0"/>
          </a:p>
        </p:txBody>
      </p:sp>
      <p:sp>
        <p:nvSpPr>
          <p:cNvPr id="26" name="chip N3"/>
          <p:cNvSpPr txBox="1"/>
          <p:nvPr/>
        </p:nvSpPr>
        <p:spPr>
          <a:xfrm>
            <a:off x="6949440" y="3456432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N3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3419856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both directions in the field 382 · months, seasons or times of day that fix the direction 606 · numbers that reveal it (“starting from …”) 145 · no trend word 93 · trend tied to a value 3; after generation, 11 + 45 removed by checks</a:t>
            </a:r>
            <a:endParaRPr lang="en-US" sz="1250" dirty="0"/>
          </a:p>
        </p:txBody>
      </p:sp>
      <p:sp>
        <p:nvSpPr>
          <p:cNvPr id="28" name="chip N4"/>
          <p:cNvSpPr txBox="1"/>
          <p:nvPr/>
        </p:nvSpPr>
        <p:spPr>
          <a:xfrm>
            <a:off x="6949440" y="4983480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N4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4946904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fluctuation claims almost always cite values or ranges a one-word edit cannot keep consistent: only 33 records left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† certified by the full N3 hand check. N1, N2 and N5 items received automated checks only.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the two grammars line 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SUSHI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NOAA</a:t>
            </a:r>
            <a:endParaRPr lang="en-US" sz="1800" dirty="0"/>
          </a:p>
        </p:txBody>
      </p:sp>
      <p:sp>
        <p:nvSpPr>
          <p:cNvPr id="5" name="chip C1  trend direction"/>
          <p:cNvSpPr txBox="1"/>
          <p:nvPr/>
        </p:nvSpPr>
        <p:spPr>
          <a:xfrm>
            <a:off x="548640" y="1783080"/>
            <a:ext cx="3840480" cy="54864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C1  trend direction</a:t>
            </a:r>
            <a:endParaRPr lang="en-US" sz="1500" dirty="0"/>
          </a:p>
        </p:txBody>
      </p:sp>
      <p:sp>
        <p:nvSpPr>
          <p:cNvPr id="6" name="chip N3  temperature trend"/>
          <p:cNvSpPr txBox="1"/>
          <p:nvPr/>
        </p:nvSpPr>
        <p:spPr>
          <a:xfrm>
            <a:off x="7772400" y="1783080"/>
            <a:ext cx="3840480" cy="54864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N3  temperature trend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057400"/>
            <a:ext cx="338328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399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trend direction</a:t>
            </a:r>
            <a:endParaRPr lang="en-US" sz="1200" dirty="0"/>
          </a:p>
        </p:txBody>
      </p:sp>
      <p:sp>
        <p:nvSpPr>
          <p:cNvPr id="9" name="chip C4  fluctuation type"/>
          <p:cNvSpPr txBox="1"/>
          <p:nvPr/>
        </p:nvSpPr>
        <p:spPr>
          <a:xfrm>
            <a:off x="548640" y="2834640"/>
            <a:ext cx="3840480" cy="54864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C4  fluctuation type</a:t>
            </a:r>
            <a:endParaRPr lang="en-US" sz="1500" dirty="0"/>
          </a:p>
        </p:txBody>
      </p:sp>
      <p:sp>
        <p:nvSpPr>
          <p:cNvPr id="10" name="chip N4  fluctuation vs. stability"/>
          <p:cNvSpPr txBox="1"/>
          <p:nvPr/>
        </p:nvSpPr>
        <p:spPr>
          <a:xfrm>
            <a:off x="7772400" y="2834640"/>
            <a:ext cx="3840480" cy="54864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N4  fluctuation vs. stability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0" y="3108960"/>
            <a:ext cx="33832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526280" y="2450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fluctuation: cannot be posed to TRACE from either side</a:t>
            </a:r>
            <a:endParaRPr lang="en-US" sz="1200" dirty="0"/>
          </a:p>
        </p:txBody>
      </p:sp>
      <p:sp>
        <p:nvSpPr>
          <p:cNvPr id="13" name="SUSHI only"/>
          <p:cNvSpPr/>
          <p:nvPr/>
        </p:nvSpPr>
        <p:spPr>
          <a:xfrm>
            <a:off x="548640" y="4023360"/>
            <a:ext cx="3840480" cy="1691640"/>
          </a:xfrm>
          <a:prstGeom prst="roundRect">
            <a:avLst>
              <a:gd name="adj" fmla="val 4324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Only in SUSHI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4805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C2  trend family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C3  periodic waveform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C5  signal regime</a:t>
            </a:r>
            <a:endParaRPr lang="en-US" sz="1400" dirty="0"/>
          </a:p>
        </p:txBody>
      </p:sp>
      <p:sp>
        <p:nvSpPr>
          <p:cNvPr id="16" name="NOAA only"/>
          <p:cNvSpPr/>
          <p:nvPr/>
        </p:nvSpPr>
        <p:spPr>
          <a:xfrm>
            <a:off x="7772400" y="4023360"/>
            <a:ext cx="3840480" cy="1691640"/>
          </a:xfrm>
          <a:prstGeom prst="roundRect">
            <a:avLst>
              <a:gd name="adj" fmla="val 4324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Only in NOAA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4805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N1  weather labels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N2  time span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N5  location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1605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Numbers are compared within a model only; across models the thesis compares relative degradation and verdicts (Table 4.3).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Fluctuation: SUSHI loses spike information when shortened for TRACE, and NOAA admits only 33 consistent N4 edits.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1 Components">
  <a:themeElements>
    <a:clrScheme name="D1 Components">
      <a:dk1>
        <a:srgbClr val="1C2833"/>
      </a:dk1>
      <a:lt1>
        <a:srgbClr val="FFFFFF"/>
      </a:lt1>
      <a:dk2>
        <a:srgbClr val="3D4F5C"/>
      </a:dk2>
      <a:lt2>
        <a:srgbClr val="F1F3F4"/>
      </a:lt2>
      <a:accent1>
        <a:srgbClr val="0E7C7B"/>
      </a:accent1>
      <a:accent2>
        <a:srgbClr val="B85A1B"/>
      </a:accent2>
      <a:accent3>
        <a:srgbClr val="6B7780"/>
      </a:accent3>
      <a:accent4>
        <a:srgbClr val="A93226"/>
      </a:accent4>
      <a:accent5>
        <a:srgbClr val="DCEFEE"/>
      </a:accent5>
      <a:accent6>
        <a:srgbClr val="F7E6D8"/>
      </a:accent6>
      <a:hlink>
        <a:srgbClr val="0E7C7B"/>
      </a:hlink>
      <a:folHlink>
        <a:srgbClr val="6B7780"/>
      </a:folHlink>
    </a:clrScheme>
    <a:fontScheme name="D1 Componen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Backup: Diagnostic 1 component grammars</dc:title>
  <dc:subject>PptxGenJS Presentation</dc:subject>
  <dc:creator/>
  <cp:lastModifiedBy/>
  <cp:revision>1</cp:revision>
  <dcterms:created xsi:type="dcterms:W3CDTF">2026-10-27T15:54:53Z</dcterms:created>
  <dcterms:modified xsi:type="dcterms:W3CDTF">2026-10-27T15:54:53Z</dcterms:modified>
</cp:coreProperties>
</file>