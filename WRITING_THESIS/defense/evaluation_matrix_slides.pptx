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valuation design" id="{86f4a05b-7c45-d15a-ae15-78f9b1bf4020}">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the four models: CLaSP as the plain dual encoder (our validated reimplementation), TRACE as the hard-negative multivariate retriever, ChatTS as the generative time-series LLM, and text-embedding-3-large as the negative control. Columns are the three diagnostics answering RQ1 to RQ3. Three things to notice: TRUCE never appears in D1, because free-form captions have no component grammar to swap; NOAA appears only in the TRACE row, because TRACE is multivariate; and no item set is shared by all four models, so cross-model comparison uses relative change from each model's own baseline, never raw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SUSHI is synthetic and template-labelled, so its labels split cleanly into components; it is the only dataset used for D1 on CLaSP, ChatTS and the control. TRUCE adds crowd-written language and enters D2 and D3; a TRUCE component diagnostic is future work. The NOAA corpus released with TRACE is the multivariate setting, and it is used only for TRACE, where each diagnostic was adapted to its narrative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457200" y="932688"/>
            <a:ext cx="11274552" cy="36576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40080"/>
          </a:xfrm>
          <a:prstGeom prst="rect">
            <a:avLst/>
          </a:prstGeom>
          <a:noFill/>
          <a:ln/>
        </p:spPr>
        <p:txBody>
          <a:bodyPr wrap="square" lIns="0" tIns="0" rIns="0" bIns="0" rtlCol="0" anchor="ctr"/>
          <a:lstStyle/>
          <a:p>
            <a:pPr algn="l" indent="0" marL="0">
              <a:buNone/>
            </a:pPr>
            <a:r>
              <a:rPr lang="en-US" sz="3400" b="1" dirty="0">
                <a:solidFill>
                  <a:schemeClr val="tx1"/>
                </a:solidFill>
              </a:rPr>
              <a:t>Evaluation matrix: 4 models × 3 diagnostics</a:t>
            </a:r>
            <a:endParaRPr lang="en-US" sz="3400" dirty="0"/>
          </a:p>
        </p:txBody>
      </p:sp>
      <p:sp>
        <p:nvSpPr>
          <p:cNvPr id="3" name="Text 0"/>
          <p:cNvSpPr/>
          <p:nvPr>
            <p:ph idx="101" type="body" hasCustomPrompt="1"/>
          </p:nvPr>
        </p:nvSpPr>
        <p:spPr>
          <a:xfrm>
            <a:off x="457200" y="932688"/>
            <a:ext cx="11274552" cy="365760"/>
          </a:xfrm>
          <a:prstGeom prst="rect">
            <a:avLst/>
          </a:prstGeom>
          <a:noFill/>
          <a:ln/>
        </p:spPr>
        <p:txBody>
          <a:bodyPr wrap="square" lIns="0" tIns="0" rIns="0" bIns="0" rtlCol="0" anchor="t"/>
          <a:lstStyle/>
          <a:p>
            <a:pPr algn="l" indent="0" marL="0">
              <a:buNone/>
            </a:pPr>
            <a:r>
              <a:rPr lang="en-US" sz="1600" dirty="0">
                <a:solidFill>
                  <a:schemeClr val="tx2"/>
                </a:solidFill>
              </a:rPr>
              <a:t>Coloured tags show the dataset(s) each model was tested on for each diagnostic</a:t>
            </a:r>
            <a:endParaRPr lang="en-US" sz="1600" dirty="0"/>
          </a:p>
        </p:txBody>
      </p:sp>
      <p:sp>
        <p:nvSpPr>
          <p:cNvPr id="4" name="Header model box"/>
          <p:cNvSpPr/>
          <p:nvPr/>
        </p:nvSpPr>
        <p:spPr>
          <a:xfrm>
            <a:off x="457200" y="1481328"/>
            <a:ext cx="2651760" cy="685800"/>
          </a:xfrm>
          <a:prstGeom prst="roundRect">
            <a:avLst>
              <a:gd name="adj" fmla="val 10667"/>
            </a:avLst>
          </a:prstGeom>
          <a:solidFill>
            <a:schemeClr val="tx1"/>
          </a:solidFill>
          <a:ln w="12700">
            <a:solidFill>
              <a:schemeClr val="tx1"/>
            </a:solidFill>
            <a:prstDash val="solid"/>
          </a:ln>
        </p:spPr>
      </p:sp>
      <p:sp>
        <p:nvSpPr>
          <p:cNvPr id="5" name="Header model"/>
          <p:cNvSpPr txBox="1"/>
          <p:nvPr/>
        </p:nvSpPr>
        <p:spPr>
          <a:xfrm>
            <a:off x="585216" y="1481328"/>
            <a:ext cx="2432304" cy="685800"/>
          </a:xfrm>
          <a:prstGeom prst="rect">
            <a:avLst/>
          </a:prstGeom>
          <a:noFill/>
          <a:ln/>
        </p:spPr>
        <p:txBody>
          <a:bodyPr wrap="square" lIns="0" tIns="0" rIns="0" bIns="0" rtlCol="0" anchor="ctr"/>
          <a:lstStyle/>
          <a:p>
            <a:pPr algn="l" indent="0" marL="0">
              <a:buNone/>
            </a:pPr>
            <a:r>
              <a:rPr lang="en-US" sz="1400" b="1" dirty="0">
                <a:solidFill>
                  <a:schemeClr val="bg1"/>
                </a:solidFill>
              </a:rPr>
              <a:t>Model</a:t>
            </a:r>
            <a:endParaRPr lang="en-US" sz="1400" dirty="0"/>
          </a:p>
        </p:txBody>
      </p:sp>
      <p:sp>
        <p:nvSpPr>
          <p:cNvPr id="6" name="Header D1 box"/>
          <p:cNvSpPr/>
          <p:nvPr/>
        </p:nvSpPr>
        <p:spPr>
          <a:xfrm>
            <a:off x="3218688" y="1481328"/>
            <a:ext cx="2765450" cy="685800"/>
          </a:xfrm>
          <a:prstGeom prst="roundRect">
            <a:avLst>
              <a:gd name="adj" fmla="val 10667"/>
            </a:avLst>
          </a:prstGeom>
          <a:solidFill>
            <a:schemeClr val="tx1"/>
          </a:solidFill>
          <a:ln w="12700">
            <a:solidFill>
              <a:schemeClr val="tx1"/>
            </a:solidFill>
            <a:prstDash val="solid"/>
          </a:ln>
        </p:spPr>
      </p:sp>
      <p:sp>
        <p:nvSpPr>
          <p:cNvPr id="7" name="Header D1 code"/>
          <p:cNvSpPr txBox="1"/>
          <p:nvPr/>
        </p:nvSpPr>
        <p:spPr>
          <a:xfrm>
            <a:off x="3328416" y="1481328"/>
            <a:ext cx="566928" cy="685800"/>
          </a:xfrm>
          <a:prstGeom prst="rect">
            <a:avLst/>
          </a:prstGeom>
          <a:noFill/>
          <a:ln/>
        </p:spPr>
        <p:txBody>
          <a:bodyPr wrap="square" lIns="0" tIns="0" rIns="0" bIns="0" rtlCol="0" anchor="ctr"/>
          <a:lstStyle/>
          <a:p>
            <a:pPr algn="l" indent="0" marL="0">
              <a:buNone/>
            </a:pPr>
            <a:r>
              <a:rPr lang="en-US" sz="2400" b="1" dirty="0">
                <a:solidFill>
                  <a:schemeClr val="bg1"/>
                </a:solidFill>
              </a:rPr>
              <a:t>D1</a:t>
            </a:r>
            <a:endParaRPr lang="en-US" sz="2400" dirty="0"/>
          </a:p>
          <a:p>
            <a:pPr algn="l" indent="0" marL="0">
              <a:buNone/>
            </a:pPr>
            <a:r>
              <a:rPr lang="en-US" sz="1000" dirty="0">
                <a:solidFill>
                  <a:schemeClr val="bg1"/>
                </a:solidFill>
              </a:rPr>
              <a:t>RQ1</a:t>
            </a:r>
            <a:endParaRPr lang="en-US" sz="2400" dirty="0"/>
          </a:p>
        </p:txBody>
      </p:sp>
      <p:sp>
        <p:nvSpPr>
          <p:cNvPr id="8" name="Header D1 name"/>
          <p:cNvSpPr txBox="1"/>
          <p:nvPr/>
        </p:nvSpPr>
        <p:spPr>
          <a:xfrm>
            <a:off x="3931920" y="1481328"/>
            <a:ext cx="1942490" cy="685800"/>
          </a:xfrm>
          <a:prstGeom prst="rect">
            <a:avLst/>
          </a:prstGeom>
          <a:noFill/>
          <a:ln/>
        </p:spPr>
        <p:txBody>
          <a:bodyPr wrap="square" lIns="0" tIns="0" rIns="0" bIns="0" rtlCol="0" anchor="ctr"/>
          <a:lstStyle/>
          <a:p>
            <a:pPr algn="l" indent="0" marL="0">
              <a:buNone/>
            </a:pPr>
            <a:r>
              <a:rPr lang="en-US" sz="1300" b="1" dirty="0">
                <a:solidFill>
                  <a:schemeClr val="bg1"/>
                </a:solidFill>
              </a:rPr>
              <a:t>Component sensitivity</a:t>
            </a:r>
            <a:endParaRPr lang="en-US" sz="1300" dirty="0"/>
          </a:p>
        </p:txBody>
      </p:sp>
      <p:sp>
        <p:nvSpPr>
          <p:cNvPr id="9" name="Header D2 box"/>
          <p:cNvSpPr/>
          <p:nvPr/>
        </p:nvSpPr>
        <p:spPr>
          <a:xfrm>
            <a:off x="6093866" y="1481328"/>
            <a:ext cx="2765450" cy="685800"/>
          </a:xfrm>
          <a:prstGeom prst="roundRect">
            <a:avLst>
              <a:gd name="adj" fmla="val 10667"/>
            </a:avLst>
          </a:prstGeom>
          <a:solidFill>
            <a:schemeClr val="tx1"/>
          </a:solidFill>
          <a:ln w="12700">
            <a:solidFill>
              <a:schemeClr val="tx1"/>
            </a:solidFill>
            <a:prstDash val="solid"/>
          </a:ln>
        </p:spPr>
      </p:sp>
      <p:sp>
        <p:nvSpPr>
          <p:cNvPr id="10" name="Header D2 code"/>
          <p:cNvSpPr txBox="1"/>
          <p:nvPr/>
        </p:nvSpPr>
        <p:spPr>
          <a:xfrm>
            <a:off x="6203594" y="1481328"/>
            <a:ext cx="566928" cy="685800"/>
          </a:xfrm>
          <a:prstGeom prst="rect">
            <a:avLst/>
          </a:prstGeom>
          <a:noFill/>
          <a:ln/>
        </p:spPr>
        <p:txBody>
          <a:bodyPr wrap="square" lIns="0" tIns="0" rIns="0" bIns="0" rtlCol="0" anchor="ctr"/>
          <a:lstStyle/>
          <a:p>
            <a:pPr algn="l" indent="0" marL="0">
              <a:buNone/>
            </a:pPr>
            <a:r>
              <a:rPr lang="en-US" sz="2400" b="1" dirty="0">
                <a:solidFill>
                  <a:schemeClr val="bg1"/>
                </a:solidFill>
              </a:rPr>
              <a:t>D2</a:t>
            </a:r>
            <a:endParaRPr lang="en-US" sz="2400" dirty="0"/>
          </a:p>
          <a:p>
            <a:pPr algn="l" indent="0" marL="0">
              <a:buNone/>
            </a:pPr>
            <a:r>
              <a:rPr lang="en-US" sz="1000" dirty="0">
                <a:solidFill>
                  <a:schemeClr val="bg1"/>
                </a:solidFill>
              </a:rPr>
              <a:t>RQ2</a:t>
            </a:r>
            <a:endParaRPr lang="en-US" sz="2400" dirty="0"/>
          </a:p>
        </p:txBody>
      </p:sp>
      <p:sp>
        <p:nvSpPr>
          <p:cNvPr id="11" name="Header D2 name"/>
          <p:cNvSpPr txBox="1"/>
          <p:nvPr/>
        </p:nvSpPr>
        <p:spPr>
          <a:xfrm>
            <a:off x="6807098" y="1481328"/>
            <a:ext cx="1942490" cy="685800"/>
          </a:xfrm>
          <a:prstGeom prst="rect">
            <a:avLst/>
          </a:prstGeom>
          <a:noFill/>
          <a:ln/>
        </p:spPr>
        <p:txBody>
          <a:bodyPr wrap="square" lIns="0" tIns="0" rIns="0" bIns="0" rtlCol="0" anchor="ctr"/>
          <a:lstStyle/>
          <a:p>
            <a:pPr algn="l" indent="0" marL="0">
              <a:buNone/>
            </a:pPr>
            <a:r>
              <a:rPr lang="en-US" sz="1300" b="1" dirty="0">
                <a:solidFill>
                  <a:schemeClr val="bg1"/>
                </a:solidFill>
              </a:rPr>
              <a:t>Temporal-order sensitivity</a:t>
            </a:r>
            <a:endParaRPr lang="en-US" sz="1300" dirty="0"/>
          </a:p>
        </p:txBody>
      </p:sp>
      <p:sp>
        <p:nvSpPr>
          <p:cNvPr id="12" name="Header D3 box"/>
          <p:cNvSpPr/>
          <p:nvPr/>
        </p:nvSpPr>
        <p:spPr>
          <a:xfrm>
            <a:off x="8969045" y="1481328"/>
            <a:ext cx="2765450" cy="685800"/>
          </a:xfrm>
          <a:prstGeom prst="roundRect">
            <a:avLst>
              <a:gd name="adj" fmla="val 10667"/>
            </a:avLst>
          </a:prstGeom>
          <a:solidFill>
            <a:schemeClr val="tx1"/>
          </a:solidFill>
          <a:ln w="12700">
            <a:solidFill>
              <a:schemeClr val="tx1"/>
            </a:solidFill>
            <a:prstDash val="solid"/>
          </a:ln>
        </p:spPr>
      </p:sp>
      <p:sp>
        <p:nvSpPr>
          <p:cNvPr id="13" name="Header D3 code"/>
          <p:cNvSpPr txBox="1"/>
          <p:nvPr/>
        </p:nvSpPr>
        <p:spPr>
          <a:xfrm>
            <a:off x="9078773" y="1481328"/>
            <a:ext cx="566928" cy="685800"/>
          </a:xfrm>
          <a:prstGeom prst="rect">
            <a:avLst/>
          </a:prstGeom>
          <a:noFill/>
          <a:ln/>
        </p:spPr>
        <p:txBody>
          <a:bodyPr wrap="square" lIns="0" tIns="0" rIns="0" bIns="0" rtlCol="0" anchor="ctr"/>
          <a:lstStyle/>
          <a:p>
            <a:pPr algn="l" indent="0" marL="0">
              <a:buNone/>
            </a:pPr>
            <a:r>
              <a:rPr lang="en-US" sz="2400" b="1" dirty="0">
                <a:solidFill>
                  <a:schemeClr val="bg1"/>
                </a:solidFill>
              </a:rPr>
              <a:t>D3</a:t>
            </a:r>
            <a:endParaRPr lang="en-US" sz="2400" dirty="0"/>
          </a:p>
          <a:p>
            <a:pPr algn="l" indent="0" marL="0">
              <a:buNone/>
            </a:pPr>
            <a:r>
              <a:rPr lang="en-US" sz="1000" dirty="0">
                <a:solidFill>
                  <a:schemeClr val="bg1"/>
                </a:solidFill>
              </a:rPr>
              <a:t>RQ3</a:t>
            </a:r>
            <a:endParaRPr lang="en-US" sz="2400" dirty="0"/>
          </a:p>
        </p:txBody>
      </p:sp>
      <p:sp>
        <p:nvSpPr>
          <p:cNvPr id="14" name="Header D3 name"/>
          <p:cNvSpPr txBox="1"/>
          <p:nvPr/>
        </p:nvSpPr>
        <p:spPr>
          <a:xfrm>
            <a:off x="9682277" y="1481328"/>
            <a:ext cx="1942490" cy="685800"/>
          </a:xfrm>
          <a:prstGeom prst="rect">
            <a:avLst/>
          </a:prstGeom>
          <a:noFill/>
          <a:ln/>
        </p:spPr>
        <p:txBody>
          <a:bodyPr wrap="square" lIns="0" tIns="0" rIns="0" bIns="0" rtlCol="0" anchor="ctr"/>
          <a:lstStyle/>
          <a:p>
            <a:pPr algn="l" indent="0" marL="0">
              <a:buNone/>
            </a:pPr>
            <a:r>
              <a:rPr lang="en-US" sz="1300" b="1" dirty="0">
                <a:solidFill>
                  <a:schemeClr val="bg1"/>
                </a:solidFill>
              </a:rPr>
              <a:t>Statistical-information sufficiency</a:t>
            </a:r>
            <a:endParaRPr lang="en-US" sz="1300" dirty="0"/>
          </a:p>
        </p:txBody>
      </p:sp>
      <p:sp>
        <p:nvSpPr>
          <p:cNvPr id="15" name="CLaSP label box"/>
          <p:cNvSpPr/>
          <p:nvPr/>
        </p:nvSpPr>
        <p:spPr>
          <a:xfrm>
            <a:off x="457200" y="2258568"/>
            <a:ext cx="2651760" cy="868680"/>
          </a:xfrm>
          <a:prstGeom prst="roundRect">
            <a:avLst>
              <a:gd name="adj" fmla="val 8421"/>
            </a:avLst>
          </a:prstGeom>
          <a:solidFill>
            <a:schemeClr val="bg2"/>
          </a:solidFill>
          <a:ln w="12700">
            <a:solidFill>
              <a:schemeClr val="bg2"/>
            </a:solidFill>
            <a:prstDash val="solid"/>
          </a:ln>
        </p:spPr>
      </p:sp>
      <p:sp>
        <p:nvSpPr>
          <p:cNvPr id="16" name="CLaSP label"/>
          <p:cNvSpPr txBox="1"/>
          <p:nvPr/>
        </p:nvSpPr>
        <p:spPr>
          <a:xfrm>
            <a:off x="585216" y="2258568"/>
            <a:ext cx="2432304" cy="868680"/>
          </a:xfrm>
          <a:prstGeom prst="rect">
            <a:avLst/>
          </a:prstGeom>
          <a:noFill/>
          <a:ln/>
        </p:spPr>
        <p:txBody>
          <a:bodyPr wrap="square" lIns="0" tIns="0" rIns="0" bIns="0" rtlCol="0" anchor="ctr"/>
          <a:lstStyle/>
          <a:p>
            <a:pPr algn="l" indent="0" marL="0">
              <a:spcAft>
                <a:spcPts val="100"/>
              </a:spcAft>
              <a:buNone/>
            </a:pPr>
            <a:r>
              <a:rPr lang="en-US" sz="1600" b="1" dirty="0">
                <a:solidFill>
                  <a:schemeClr val="tx1"/>
                </a:solidFill>
              </a:rPr>
              <a:t>CLaSP</a:t>
            </a:r>
            <a:endParaRPr lang="en-US" sz="1600" dirty="0"/>
          </a:p>
          <a:p>
            <a:pPr algn="l" indent="0" marL="0">
              <a:spcAft>
                <a:spcPts val="100"/>
              </a:spcAft>
              <a:buNone/>
            </a:pPr>
            <a:r>
              <a:rPr lang="en-US" sz="1100" dirty="0">
                <a:solidFill>
                  <a:schemeClr val="tx2"/>
                </a:solidFill>
              </a:rPr>
              <a:t>Dual encoder (our reimplementation)</a:t>
            </a:r>
            <a:endParaRPr lang="en-US" sz="1600" dirty="0"/>
          </a:p>
          <a:p>
            <a:pPr algn="l" indent="0" marL="0">
              <a:spcAft>
                <a:spcPts val="100"/>
              </a:spcAft>
              <a:buNone/>
            </a:pPr>
            <a:r>
              <a:rPr lang="en-US" sz="1100" i="1" dirty="0">
                <a:solidFill>
                  <a:schemeClr val="tx2"/>
                </a:solidFill>
              </a:rPr>
              <a:t>D1 two-choice · D2/D3 retrieval rank</a:t>
            </a:r>
            <a:endParaRPr lang="en-US" sz="1600" dirty="0"/>
          </a:p>
        </p:txBody>
      </p:sp>
      <p:sp>
        <p:nvSpPr>
          <p:cNvPr id="17" name="CLaSP D1 box"/>
          <p:cNvSpPr/>
          <p:nvPr/>
        </p:nvSpPr>
        <p:spPr>
          <a:xfrm>
            <a:off x="3218688" y="2258568"/>
            <a:ext cx="2765450" cy="868680"/>
          </a:xfrm>
          <a:prstGeom prst="roundRect">
            <a:avLst>
              <a:gd name="adj" fmla="val 8421"/>
            </a:avLst>
          </a:prstGeom>
          <a:solidFill>
            <a:schemeClr val="bg2"/>
          </a:solidFill>
          <a:ln w="12700">
            <a:solidFill>
              <a:schemeClr val="bg2"/>
            </a:solidFill>
            <a:prstDash val="solid"/>
          </a:ln>
        </p:spPr>
      </p:sp>
      <p:sp>
        <p:nvSpPr>
          <p:cNvPr id="18" name="CLaSP D1 tag SUSHI"/>
          <p:cNvSpPr/>
          <p:nvPr/>
        </p:nvSpPr>
        <p:spPr>
          <a:xfrm>
            <a:off x="3346704" y="237744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19" name="CLaSP D1 note"/>
          <p:cNvSpPr txBox="1"/>
          <p:nvPr/>
        </p:nvSpPr>
        <p:spPr>
          <a:xfrm>
            <a:off x="3346704" y="271576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Components C1–C5; C4 census-certified (738 items)</a:t>
            </a:r>
            <a:endParaRPr lang="en-US" sz="1100" dirty="0"/>
          </a:p>
        </p:txBody>
      </p:sp>
      <p:sp>
        <p:nvSpPr>
          <p:cNvPr id="20" name="CLaSP D2 box"/>
          <p:cNvSpPr/>
          <p:nvPr/>
        </p:nvSpPr>
        <p:spPr>
          <a:xfrm>
            <a:off x="6093866" y="2258568"/>
            <a:ext cx="2765450" cy="868680"/>
          </a:xfrm>
          <a:prstGeom prst="roundRect">
            <a:avLst>
              <a:gd name="adj" fmla="val 8421"/>
            </a:avLst>
          </a:prstGeom>
          <a:solidFill>
            <a:schemeClr val="bg2"/>
          </a:solidFill>
          <a:ln w="12700">
            <a:solidFill>
              <a:schemeClr val="bg2"/>
            </a:solidFill>
            <a:prstDash val="solid"/>
          </a:ln>
        </p:spPr>
      </p:sp>
      <p:sp>
        <p:nvSpPr>
          <p:cNvPr id="21" name="CLaSP D2 tag SUSHI"/>
          <p:cNvSpPr/>
          <p:nvPr/>
        </p:nvSpPr>
        <p:spPr>
          <a:xfrm>
            <a:off x="6221882" y="237744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22" name="CLaSP D2 tag TRUCE"/>
          <p:cNvSpPr/>
          <p:nvPr/>
        </p:nvSpPr>
        <p:spPr>
          <a:xfrm>
            <a:off x="7154570" y="237744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23" name="CLaSP D2 note"/>
          <p:cNvSpPr txBox="1"/>
          <p:nvPr/>
        </p:nvSpPr>
        <p:spPr>
          <a:xfrm>
            <a:off x="6221882" y="271576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Full / half shuffles, half-swap, masking</a:t>
            </a:r>
            <a:endParaRPr lang="en-US" sz="1100" dirty="0"/>
          </a:p>
        </p:txBody>
      </p:sp>
      <p:sp>
        <p:nvSpPr>
          <p:cNvPr id="24" name="CLaSP D3 box"/>
          <p:cNvSpPr/>
          <p:nvPr/>
        </p:nvSpPr>
        <p:spPr>
          <a:xfrm>
            <a:off x="8969045" y="2258568"/>
            <a:ext cx="2765450" cy="868680"/>
          </a:xfrm>
          <a:prstGeom prst="roundRect">
            <a:avLst>
              <a:gd name="adj" fmla="val 8421"/>
            </a:avLst>
          </a:prstGeom>
          <a:solidFill>
            <a:schemeClr val="bg2"/>
          </a:solidFill>
          <a:ln w="12700">
            <a:solidFill>
              <a:schemeClr val="bg2"/>
            </a:solidFill>
            <a:prstDash val="solid"/>
          </a:ln>
        </p:spPr>
      </p:sp>
      <p:sp>
        <p:nvSpPr>
          <p:cNvPr id="25" name="CLaSP D3 tag SUSHI"/>
          <p:cNvSpPr/>
          <p:nvPr/>
        </p:nvSpPr>
        <p:spPr>
          <a:xfrm>
            <a:off x="9097061" y="237744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26" name="CLaSP D3 tag TRUCE"/>
          <p:cNvSpPr/>
          <p:nvPr/>
        </p:nvSpPr>
        <p:spPr>
          <a:xfrm>
            <a:off x="10029749" y="237744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27" name="CLaSP D3 note"/>
          <p:cNvSpPr txBox="1"/>
          <p:nvPr/>
        </p:nvSpPr>
        <p:spPr>
          <a:xfrm>
            <a:off x="9097061" y="271576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Shuffle → resample → Gaussian ladder</a:t>
            </a:r>
            <a:endParaRPr lang="en-US" sz="1100" dirty="0"/>
          </a:p>
        </p:txBody>
      </p:sp>
      <p:sp>
        <p:nvSpPr>
          <p:cNvPr id="28" name="TRACE label box"/>
          <p:cNvSpPr/>
          <p:nvPr/>
        </p:nvSpPr>
        <p:spPr>
          <a:xfrm>
            <a:off x="457200" y="3218688"/>
            <a:ext cx="2651760" cy="868680"/>
          </a:xfrm>
          <a:prstGeom prst="roundRect">
            <a:avLst>
              <a:gd name="adj" fmla="val 8421"/>
            </a:avLst>
          </a:prstGeom>
          <a:solidFill>
            <a:schemeClr val="bg2"/>
          </a:solidFill>
          <a:ln w="12700">
            <a:solidFill>
              <a:schemeClr val="bg2"/>
            </a:solidFill>
            <a:prstDash val="solid"/>
          </a:ln>
        </p:spPr>
      </p:sp>
      <p:sp>
        <p:nvSpPr>
          <p:cNvPr id="29" name="TRACE label"/>
          <p:cNvSpPr txBox="1"/>
          <p:nvPr/>
        </p:nvSpPr>
        <p:spPr>
          <a:xfrm>
            <a:off x="585216" y="3218688"/>
            <a:ext cx="2432304" cy="868680"/>
          </a:xfrm>
          <a:prstGeom prst="rect">
            <a:avLst/>
          </a:prstGeom>
          <a:noFill/>
          <a:ln/>
        </p:spPr>
        <p:txBody>
          <a:bodyPr wrap="square" lIns="0" tIns="0" rIns="0" bIns="0" rtlCol="0" anchor="ctr"/>
          <a:lstStyle/>
          <a:p>
            <a:pPr algn="l" indent="0" marL="0">
              <a:spcAft>
                <a:spcPts val="100"/>
              </a:spcAft>
              <a:buNone/>
            </a:pPr>
            <a:r>
              <a:rPr lang="en-US" sz="1600" b="1" dirty="0">
                <a:solidFill>
                  <a:schemeClr val="tx1"/>
                </a:solidFill>
              </a:rPr>
              <a:t>TRACE</a:t>
            </a:r>
            <a:endParaRPr lang="en-US" sz="1600" dirty="0"/>
          </a:p>
          <a:p>
            <a:pPr algn="l" indent="0" marL="0">
              <a:spcAft>
                <a:spcPts val="100"/>
              </a:spcAft>
              <a:buNone/>
            </a:pPr>
            <a:r>
              <a:rPr lang="en-US" sz="1100" dirty="0">
                <a:solidFill>
                  <a:schemeClr val="tx2"/>
                </a:solidFill>
              </a:rPr>
              <a:t>Multivariate retriever, hard negatives</a:t>
            </a:r>
            <a:endParaRPr lang="en-US" sz="1600" dirty="0"/>
          </a:p>
          <a:p>
            <a:pPr algn="l" indent="0" marL="0">
              <a:spcAft>
                <a:spcPts val="100"/>
              </a:spcAft>
              <a:buNone/>
            </a:pPr>
            <a:r>
              <a:rPr lang="en-US" sz="1100" i="1" dirty="0">
                <a:solidFill>
                  <a:schemeClr val="tx2"/>
                </a:solidFill>
              </a:rPr>
              <a:t>D1 two-choice · D2/D3 retrieval rank</a:t>
            </a:r>
            <a:endParaRPr lang="en-US" sz="1600" dirty="0"/>
          </a:p>
        </p:txBody>
      </p:sp>
      <p:sp>
        <p:nvSpPr>
          <p:cNvPr id="30" name="TRACE D1 box"/>
          <p:cNvSpPr/>
          <p:nvPr/>
        </p:nvSpPr>
        <p:spPr>
          <a:xfrm>
            <a:off x="3218688" y="3218688"/>
            <a:ext cx="2765450" cy="868680"/>
          </a:xfrm>
          <a:prstGeom prst="roundRect">
            <a:avLst>
              <a:gd name="adj" fmla="val 8421"/>
            </a:avLst>
          </a:prstGeom>
          <a:solidFill>
            <a:schemeClr val="bg2"/>
          </a:solidFill>
          <a:ln w="12700">
            <a:solidFill>
              <a:schemeClr val="bg2"/>
            </a:solidFill>
            <a:prstDash val="solid"/>
          </a:ln>
        </p:spPr>
      </p:sp>
      <p:sp>
        <p:nvSpPr>
          <p:cNvPr id="31" name="TRACE D1 tag NOAA"/>
          <p:cNvSpPr/>
          <p:nvPr/>
        </p:nvSpPr>
        <p:spPr>
          <a:xfrm>
            <a:off x="3346704" y="3337560"/>
            <a:ext cx="841248"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NOAA</a:t>
            </a:r>
            <a:endParaRPr lang="en-US" sz="1200" dirty="0"/>
          </a:p>
        </p:txBody>
      </p:sp>
      <p:sp>
        <p:nvSpPr>
          <p:cNvPr id="32" name="TRACE D1 note"/>
          <p:cNvSpPr txBox="1"/>
          <p:nvPr/>
        </p:nvSpPr>
        <p:spPr>
          <a:xfrm>
            <a:off x="3346704" y="367588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Narrative components N1/N2/N3/N5 (N4 not buildable)</a:t>
            </a:r>
            <a:endParaRPr lang="en-US" sz="1100" dirty="0"/>
          </a:p>
        </p:txBody>
      </p:sp>
      <p:sp>
        <p:nvSpPr>
          <p:cNvPr id="33" name="TRACE D2 box"/>
          <p:cNvSpPr/>
          <p:nvPr/>
        </p:nvSpPr>
        <p:spPr>
          <a:xfrm>
            <a:off x="6093866" y="3218688"/>
            <a:ext cx="2765450" cy="868680"/>
          </a:xfrm>
          <a:prstGeom prst="roundRect">
            <a:avLst>
              <a:gd name="adj" fmla="val 8421"/>
            </a:avLst>
          </a:prstGeom>
          <a:solidFill>
            <a:schemeClr val="bg2"/>
          </a:solidFill>
          <a:ln w="12700">
            <a:solidFill>
              <a:schemeClr val="bg2"/>
            </a:solidFill>
            <a:prstDash val="solid"/>
          </a:ln>
        </p:spPr>
      </p:sp>
      <p:sp>
        <p:nvSpPr>
          <p:cNvPr id="34" name="TRACE D2 tag NOAA"/>
          <p:cNvSpPr/>
          <p:nvPr/>
        </p:nvSpPr>
        <p:spPr>
          <a:xfrm>
            <a:off x="6221882" y="3337560"/>
            <a:ext cx="841248"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NOAA</a:t>
            </a:r>
            <a:endParaRPr lang="en-US" sz="1200" dirty="0"/>
          </a:p>
        </p:txBody>
      </p:sp>
      <p:sp>
        <p:nvSpPr>
          <p:cNvPr id="35" name="TRACE D2 note"/>
          <p:cNvSpPr txBox="1"/>
          <p:nvPr/>
        </p:nvSpPr>
        <p:spPr>
          <a:xfrm>
            <a:off x="6221882" y="367588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Joint-channel shuffles + masking</a:t>
            </a:r>
            <a:endParaRPr lang="en-US" sz="1100" dirty="0"/>
          </a:p>
        </p:txBody>
      </p:sp>
      <p:sp>
        <p:nvSpPr>
          <p:cNvPr id="36" name="TRACE D3 box"/>
          <p:cNvSpPr/>
          <p:nvPr/>
        </p:nvSpPr>
        <p:spPr>
          <a:xfrm>
            <a:off x="8969045" y="3218688"/>
            <a:ext cx="2765450" cy="868680"/>
          </a:xfrm>
          <a:prstGeom prst="roundRect">
            <a:avLst>
              <a:gd name="adj" fmla="val 8421"/>
            </a:avLst>
          </a:prstGeom>
          <a:solidFill>
            <a:schemeClr val="bg2"/>
          </a:solidFill>
          <a:ln w="12700">
            <a:solidFill>
              <a:schemeClr val="bg2"/>
            </a:solidFill>
            <a:prstDash val="solid"/>
          </a:ln>
        </p:spPr>
      </p:sp>
      <p:sp>
        <p:nvSpPr>
          <p:cNvPr id="37" name="TRACE D3 tag NOAA"/>
          <p:cNvSpPr/>
          <p:nvPr/>
        </p:nvSpPr>
        <p:spPr>
          <a:xfrm>
            <a:off x="9097061" y="3337560"/>
            <a:ext cx="841248"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NOAA</a:t>
            </a:r>
            <a:endParaRPr lang="en-US" sz="1200" dirty="0"/>
          </a:p>
        </p:txBody>
      </p:sp>
      <p:sp>
        <p:nvSpPr>
          <p:cNvPr id="38" name="TRACE D3 note"/>
          <p:cNvSpPr txBox="1"/>
          <p:nvPr/>
        </p:nvSpPr>
        <p:spPr>
          <a:xfrm>
            <a:off x="9097061" y="367588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Same ladder, channels resampled jointly</a:t>
            </a:r>
            <a:endParaRPr lang="en-US" sz="1100" dirty="0"/>
          </a:p>
        </p:txBody>
      </p:sp>
      <p:sp>
        <p:nvSpPr>
          <p:cNvPr id="39" name="ChatTS label box"/>
          <p:cNvSpPr/>
          <p:nvPr/>
        </p:nvSpPr>
        <p:spPr>
          <a:xfrm>
            <a:off x="457200" y="4178808"/>
            <a:ext cx="2651760" cy="868680"/>
          </a:xfrm>
          <a:prstGeom prst="roundRect">
            <a:avLst>
              <a:gd name="adj" fmla="val 8421"/>
            </a:avLst>
          </a:prstGeom>
          <a:solidFill>
            <a:schemeClr val="bg2"/>
          </a:solidFill>
          <a:ln w="12700">
            <a:solidFill>
              <a:schemeClr val="bg2"/>
            </a:solidFill>
            <a:prstDash val="solid"/>
          </a:ln>
        </p:spPr>
      </p:sp>
      <p:sp>
        <p:nvSpPr>
          <p:cNvPr id="40" name="ChatTS label"/>
          <p:cNvSpPr txBox="1"/>
          <p:nvPr/>
        </p:nvSpPr>
        <p:spPr>
          <a:xfrm>
            <a:off x="585216" y="4178808"/>
            <a:ext cx="2432304" cy="868680"/>
          </a:xfrm>
          <a:prstGeom prst="rect">
            <a:avLst/>
          </a:prstGeom>
          <a:noFill/>
          <a:ln/>
        </p:spPr>
        <p:txBody>
          <a:bodyPr wrap="square" lIns="0" tIns="0" rIns="0" bIns="0" rtlCol="0" anchor="ctr"/>
          <a:lstStyle/>
          <a:p>
            <a:pPr algn="l" indent="0" marL="0">
              <a:spcAft>
                <a:spcPts val="100"/>
              </a:spcAft>
              <a:buNone/>
            </a:pPr>
            <a:r>
              <a:rPr lang="en-US" sz="1600" b="1" dirty="0">
                <a:solidFill>
                  <a:schemeClr val="tx1"/>
                </a:solidFill>
              </a:rPr>
              <a:t>ChatTS</a:t>
            </a:r>
            <a:endParaRPr lang="en-US" sz="1600" dirty="0"/>
          </a:p>
          <a:p>
            <a:pPr algn="l" indent="0" marL="0">
              <a:spcAft>
                <a:spcPts val="100"/>
              </a:spcAft>
              <a:buNone/>
            </a:pPr>
            <a:r>
              <a:rPr lang="en-US" sz="1100" dirty="0">
                <a:solidFill>
                  <a:schemeClr val="tx2"/>
                </a:solidFill>
              </a:rPr>
              <a:t>14B generative time-series LLM</a:t>
            </a:r>
            <a:endParaRPr lang="en-US" sz="1600" dirty="0"/>
          </a:p>
          <a:p>
            <a:pPr algn="l" indent="0" marL="0">
              <a:spcAft>
                <a:spcPts val="100"/>
              </a:spcAft>
              <a:buNone/>
            </a:pPr>
            <a:r>
              <a:rPr lang="en-US" sz="1100" i="1" dirty="0">
                <a:solidFill>
                  <a:schemeClr val="tx2"/>
                </a:solidFill>
              </a:rPr>
              <a:t>Two-choice MCQ, logit readout</a:t>
            </a:r>
            <a:endParaRPr lang="en-US" sz="1600" dirty="0"/>
          </a:p>
        </p:txBody>
      </p:sp>
      <p:sp>
        <p:nvSpPr>
          <p:cNvPr id="41" name="ChatTS D1 box"/>
          <p:cNvSpPr/>
          <p:nvPr/>
        </p:nvSpPr>
        <p:spPr>
          <a:xfrm>
            <a:off x="3218688" y="4178808"/>
            <a:ext cx="2765450" cy="868680"/>
          </a:xfrm>
          <a:prstGeom prst="roundRect">
            <a:avLst>
              <a:gd name="adj" fmla="val 8421"/>
            </a:avLst>
          </a:prstGeom>
          <a:solidFill>
            <a:schemeClr val="bg2"/>
          </a:solidFill>
          <a:ln w="12700">
            <a:solidFill>
              <a:schemeClr val="bg2"/>
            </a:solidFill>
            <a:prstDash val="solid"/>
          </a:ln>
        </p:spPr>
      </p:sp>
      <p:sp>
        <p:nvSpPr>
          <p:cNvPr id="42" name="ChatTS D1 tag SUSHI"/>
          <p:cNvSpPr/>
          <p:nvPr/>
        </p:nvSpPr>
        <p:spPr>
          <a:xfrm>
            <a:off x="3346704" y="429768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43" name="ChatTS D1 note"/>
          <p:cNvSpPr txBox="1"/>
          <p:nvPr/>
        </p:nvSpPr>
        <p:spPr>
          <a:xfrm>
            <a:off x="3346704" y="463600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MCQ over C1–C5 (C3 VOID)</a:t>
            </a:r>
            <a:endParaRPr lang="en-US" sz="1100" dirty="0"/>
          </a:p>
        </p:txBody>
      </p:sp>
      <p:sp>
        <p:nvSpPr>
          <p:cNvPr id="44" name="ChatTS D2 box"/>
          <p:cNvSpPr/>
          <p:nvPr/>
        </p:nvSpPr>
        <p:spPr>
          <a:xfrm>
            <a:off x="6093866" y="4178808"/>
            <a:ext cx="2765450" cy="868680"/>
          </a:xfrm>
          <a:prstGeom prst="roundRect">
            <a:avLst>
              <a:gd name="adj" fmla="val 8421"/>
            </a:avLst>
          </a:prstGeom>
          <a:solidFill>
            <a:schemeClr val="bg2"/>
          </a:solidFill>
          <a:ln w="12700">
            <a:solidFill>
              <a:schemeClr val="bg2"/>
            </a:solidFill>
            <a:prstDash val="solid"/>
          </a:ln>
        </p:spPr>
      </p:sp>
      <p:sp>
        <p:nvSpPr>
          <p:cNvPr id="45" name="ChatTS D2 tag SUSHI"/>
          <p:cNvSpPr/>
          <p:nvPr/>
        </p:nvSpPr>
        <p:spPr>
          <a:xfrm>
            <a:off x="6221882" y="429768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46" name="ChatTS D2 tag TRUCE*"/>
          <p:cNvSpPr/>
          <p:nvPr/>
        </p:nvSpPr>
        <p:spPr>
          <a:xfrm>
            <a:off x="7154570" y="429768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47" name="ChatTS D2 note"/>
          <p:cNvSpPr txBox="1"/>
          <p:nvPr/>
        </p:nvSpPr>
        <p:spPr>
          <a:xfrm>
            <a:off x="6221882" y="463600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 within- / across-patch shuffles (SUSHI)</a:t>
            </a:r>
            <a:endParaRPr lang="en-US" sz="1100" dirty="0"/>
          </a:p>
        </p:txBody>
      </p:sp>
      <p:sp>
        <p:nvSpPr>
          <p:cNvPr id="48" name="ChatTS D3 box"/>
          <p:cNvSpPr/>
          <p:nvPr/>
        </p:nvSpPr>
        <p:spPr>
          <a:xfrm>
            <a:off x="8969045" y="4178808"/>
            <a:ext cx="2765450" cy="868680"/>
          </a:xfrm>
          <a:prstGeom prst="roundRect">
            <a:avLst>
              <a:gd name="adj" fmla="val 8421"/>
            </a:avLst>
          </a:prstGeom>
          <a:solidFill>
            <a:schemeClr val="bg2"/>
          </a:solidFill>
          <a:ln w="12700">
            <a:solidFill>
              <a:schemeClr val="bg2"/>
            </a:solidFill>
            <a:prstDash val="solid"/>
          </a:ln>
        </p:spPr>
      </p:sp>
      <p:sp>
        <p:nvSpPr>
          <p:cNvPr id="49" name="ChatTS D3 tag SUSHI"/>
          <p:cNvSpPr/>
          <p:nvPr/>
        </p:nvSpPr>
        <p:spPr>
          <a:xfrm>
            <a:off x="9097061" y="429768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50" name="ChatTS D3 tag TRUCE*"/>
          <p:cNvSpPr/>
          <p:nvPr/>
        </p:nvSpPr>
        <p:spPr>
          <a:xfrm>
            <a:off x="10029749" y="429768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51" name="ChatTS D3 note"/>
          <p:cNvSpPr txBox="1"/>
          <p:nvPr/>
        </p:nvSpPr>
        <p:spPr>
          <a:xfrm>
            <a:off x="9097061" y="463600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 five-number summary, prefix controls</a:t>
            </a:r>
            <a:endParaRPr lang="en-US" sz="1100" dirty="0"/>
          </a:p>
        </p:txBody>
      </p:sp>
      <p:sp>
        <p:nvSpPr>
          <p:cNvPr id="52" name="text-embedding-3-large label box"/>
          <p:cNvSpPr/>
          <p:nvPr/>
        </p:nvSpPr>
        <p:spPr>
          <a:xfrm>
            <a:off x="457200" y="5138928"/>
            <a:ext cx="2651760" cy="868680"/>
          </a:xfrm>
          <a:prstGeom prst="roundRect">
            <a:avLst>
              <a:gd name="adj" fmla="val 8421"/>
            </a:avLst>
          </a:prstGeom>
          <a:solidFill>
            <a:schemeClr val="bg2"/>
          </a:solidFill>
          <a:ln w="12700">
            <a:solidFill>
              <a:schemeClr val="bg2"/>
            </a:solidFill>
            <a:prstDash val="solid"/>
          </a:ln>
        </p:spPr>
      </p:sp>
      <p:sp>
        <p:nvSpPr>
          <p:cNvPr id="53" name="text-embedding-3-large label"/>
          <p:cNvSpPr txBox="1"/>
          <p:nvPr/>
        </p:nvSpPr>
        <p:spPr>
          <a:xfrm>
            <a:off x="585216" y="5138928"/>
            <a:ext cx="2432304" cy="868680"/>
          </a:xfrm>
          <a:prstGeom prst="rect">
            <a:avLst/>
          </a:prstGeom>
          <a:noFill/>
          <a:ln/>
        </p:spPr>
        <p:txBody>
          <a:bodyPr wrap="square" lIns="0" tIns="0" rIns="0" bIns="0" rtlCol="0" anchor="ctr"/>
          <a:lstStyle/>
          <a:p>
            <a:pPr algn="l" indent="0" marL="0">
              <a:spcAft>
                <a:spcPts val="100"/>
              </a:spcAft>
              <a:buNone/>
            </a:pPr>
            <a:r>
              <a:rPr lang="en-US" sz="1600" b="1" dirty="0">
                <a:solidFill>
                  <a:schemeClr val="tx1"/>
                </a:solidFill>
              </a:rPr>
              <a:t>text-embedding-3-large</a:t>
            </a:r>
            <a:endParaRPr lang="en-US" sz="1600" dirty="0"/>
          </a:p>
          <a:p>
            <a:pPr algn="l" indent="0" marL="0">
              <a:spcAft>
                <a:spcPts val="100"/>
              </a:spcAft>
              <a:buNone/>
            </a:pPr>
            <a:r>
              <a:rPr lang="en-US" sz="1100" dirty="0">
                <a:solidFill>
                  <a:schemeClr val="tx2"/>
                </a:solidFill>
              </a:rPr>
              <a:t>Negative control (series as text)</a:t>
            </a:r>
            <a:endParaRPr lang="en-US" sz="1600" dirty="0"/>
          </a:p>
          <a:p>
            <a:pPr algn="l" indent="0" marL="0">
              <a:spcAft>
                <a:spcPts val="100"/>
              </a:spcAft>
              <a:buNone/>
            </a:pPr>
            <a:r>
              <a:rPr lang="en-US" sz="1100" i="1" dirty="0">
                <a:solidFill>
                  <a:schemeClr val="tx2"/>
                </a:solidFill>
              </a:rPr>
              <a:t>D1 two-choice · D2/D3 retrieval rank</a:t>
            </a:r>
            <a:endParaRPr lang="en-US" sz="1600" dirty="0"/>
          </a:p>
        </p:txBody>
      </p:sp>
      <p:sp>
        <p:nvSpPr>
          <p:cNvPr id="54" name="text-embedding-3-large D1 box"/>
          <p:cNvSpPr/>
          <p:nvPr/>
        </p:nvSpPr>
        <p:spPr>
          <a:xfrm>
            <a:off x="3218688" y="5138928"/>
            <a:ext cx="2765450" cy="868680"/>
          </a:xfrm>
          <a:prstGeom prst="roundRect">
            <a:avLst>
              <a:gd name="adj" fmla="val 8421"/>
            </a:avLst>
          </a:prstGeom>
          <a:solidFill>
            <a:schemeClr val="bg2"/>
          </a:solidFill>
          <a:ln w="12700">
            <a:solidFill>
              <a:schemeClr val="bg2"/>
            </a:solidFill>
            <a:prstDash val="solid"/>
          </a:ln>
        </p:spPr>
      </p:sp>
      <p:sp>
        <p:nvSpPr>
          <p:cNvPr id="55" name="text-embedding-3-large D1 tag SUSHI"/>
          <p:cNvSpPr/>
          <p:nvPr/>
        </p:nvSpPr>
        <p:spPr>
          <a:xfrm>
            <a:off x="3346704" y="525780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56" name="text-embedding-3-large D1 note"/>
          <p:cNvSpPr txBox="1"/>
          <p:nvPr/>
        </p:nvSpPr>
        <p:spPr>
          <a:xfrm>
            <a:off x="3346704" y="559612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All components VOID (no capability)</a:t>
            </a:r>
            <a:endParaRPr lang="en-US" sz="1100" dirty="0"/>
          </a:p>
        </p:txBody>
      </p:sp>
      <p:sp>
        <p:nvSpPr>
          <p:cNvPr id="57" name="text-embedding-3-large D2 box"/>
          <p:cNvSpPr/>
          <p:nvPr/>
        </p:nvSpPr>
        <p:spPr>
          <a:xfrm>
            <a:off x="6093866" y="5138928"/>
            <a:ext cx="2765450" cy="868680"/>
          </a:xfrm>
          <a:prstGeom prst="roundRect">
            <a:avLst>
              <a:gd name="adj" fmla="val 8421"/>
            </a:avLst>
          </a:prstGeom>
          <a:solidFill>
            <a:schemeClr val="bg2"/>
          </a:solidFill>
          <a:ln w="12700">
            <a:solidFill>
              <a:schemeClr val="bg2"/>
            </a:solidFill>
            <a:prstDash val="solid"/>
          </a:ln>
        </p:spPr>
      </p:sp>
      <p:sp>
        <p:nvSpPr>
          <p:cNvPr id="58" name="text-embedding-3-large D2 tag SUSHI"/>
          <p:cNvSpPr/>
          <p:nvPr/>
        </p:nvSpPr>
        <p:spPr>
          <a:xfrm>
            <a:off x="6221882" y="525780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59" name="text-embedding-3-large D2 tag TRUCE"/>
          <p:cNvSpPr/>
          <p:nvPr/>
        </p:nvSpPr>
        <p:spPr>
          <a:xfrm>
            <a:off x="7154570" y="525780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60" name="text-embedding-3-large D2 note"/>
          <p:cNvSpPr txBox="1"/>
          <p:nvPr/>
        </p:nvSpPr>
        <p:spPr>
          <a:xfrm>
            <a:off x="6221882" y="559612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Pre-declared VOID; 24/24 TOST-equivalent</a:t>
            </a:r>
            <a:endParaRPr lang="en-US" sz="1100" dirty="0"/>
          </a:p>
        </p:txBody>
      </p:sp>
      <p:sp>
        <p:nvSpPr>
          <p:cNvPr id="61" name="text-embedding-3-large D3 box"/>
          <p:cNvSpPr/>
          <p:nvPr/>
        </p:nvSpPr>
        <p:spPr>
          <a:xfrm>
            <a:off x="8969045" y="5138928"/>
            <a:ext cx="2765450" cy="868680"/>
          </a:xfrm>
          <a:prstGeom prst="roundRect">
            <a:avLst>
              <a:gd name="adj" fmla="val 8421"/>
            </a:avLst>
          </a:prstGeom>
          <a:solidFill>
            <a:schemeClr val="bg2"/>
          </a:solidFill>
          <a:ln w="12700">
            <a:solidFill>
              <a:schemeClr val="bg2"/>
            </a:solidFill>
            <a:prstDash val="solid"/>
          </a:ln>
        </p:spPr>
      </p:sp>
      <p:sp>
        <p:nvSpPr>
          <p:cNvPr id="62" name="text-embedding-3-large D3 tag SUSHI"/>
          <p:cNvSpPr/>
          <p:nvPr/>
        </p:nvSpPr>
        <p:spPr>
          <a:xfrm>
            <a:off x="9097061" y="5257800"/>
            <a:ext cx="841248"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SUSHI</a:t>
            </a:r>
            <a:endParaRPr lang="en-US" sz="1200" dirty="0"/>
          </a:p>
        </p:txBody>
      </p:sp>
      <p:sp>
        <p:nvSpPr>
          <p:cNvPr id="63" name="text-embedding-3-large D3 tag TRUCE"/>
          <p:cNvSpPr/>
          <p:nvPr/>
        </p:nvSpPr>
        <p:spPr>
          <a:xfrm>
            <a:off x="10029749" y="5257800"/>
            <a:ext cx="841248"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TRUCE</a:t>
            </a:r>
            <a:endParaRPr lang="en-US" sz="1200" dirty="0"/>
          </a:p>
        </p:txBody>
      </p:sp>
      <p:sp>
        <p:nvSpPr>
          <p:cNvPr id="64" name="text-embedding-3-large D3 note"/>
          <p:cNvSpPr txBox="1"/>
          <p:nvPr/>
        </p:nvSpPr>
        <p:spPr>
          <a:xfrm>
            <a:off x="9097061" y="5596128"/>
            <a:ext cx="2527706" cy="365760"/>
          </a:xfrm>
          <a:prstGeom prst="rect">
            <a:avLst/>
          </a:prstGeom>
          <a:noFill/>
          <a:ln/>
        </p:spPr>
        <p:txBody>
          <a:bodyPr wrap="square" lIns="0" tIns="0" rIns="0" bIns="0" rtlCol="0" anchor="t"/>
          <a:lstStyle/>
          <a:p>
            <a:pPr algn="l" indent="0" marL="0">
              <a:buNone/>
            </a:pPr>
            <a:r>
              <a:rPr lang="en-US" sz="1100" dirty="0">
                <a:solidFill>
                  <a:schemeClr val="tx2"/>
                </a:solidFill>
              </a:rPr>
              <a:t>Pipeline control; 12/12 TOST-equivalent</a:t>
            </a:r>
            <a:endParaRPr lang="en-US" sz="1100" dirty="0"/>
          </a:p>
        </p:txBody>
      </p:sp>
      <p:sp>
        <p:nvSpPr>
          <p:cNvPr id="65" name="Footnote"/>
          <p:cNvSpPr txBox="1"/>
          <p:nvPr/>
        </p:nvSpPr>
        <p:spPr>
          <a:xfrm>
            <a:off x="457200" y="6144768"/>
            <a:ext cx="11274552" cy="365760"/>
          </a:xfrm>
          <a:prstGeom prst="rect">
            <a:avLst/>
          </a:prstGeom>
          <a:noFill/>
          <a:ln/>
        </p:spPr>
        <p:txBody>
          <a:bodyPr wrap="square" lIns="0" tIns="0" rIns="0" bIns="0" rtlCol="0" anchor="t"/>
          <a:lstStyle/>
          <a:p>
            <a:pPr algn="l" indent="0" marL="0">
              <a:buNone/>
            </a:pPr>
            <a:r>
              <a:rPr lang="en-US" sz="1100" b="1" dirty="0">
                <a:solidFill>
                  <a:schemeClr val="tx2"/>
                </a:solidFill>
              </a:rPr>
              <a:t>* </a:t>
            </a:r>
            <a:pPr algn="l" indent="0" marL="0">
              <a:buNone/>
            </a:pPr>
            <a:r>
              <a:rPr lang="en-US" sz="1100" dirty="0">
                <a:solidFill>
                  <a:schemeClr val="tx2"/>
                </a:solidFill>
              </a:rPr>
              <a:t>ChatTS on TRUCE is weakly viable (baseline accuracy 0.622), so its TRUCE results are read as conditional.  </a:t>
            </a:r>
            <a:pPr algn="l" indent="0" marL="0">
              <a:buNone/>
            </a:pPr>
            <a:r>
              <a:rPr lang="en-US" sz="1100" b="1" dirty="0">
                <a:solidFill>
                  <a:schemeClr val="tx2"/>
                </a:solidFill>
              </a:rPr>
              <a:t>VOID</a:t>
            </a:r>
            <a:pPr algn="l" indent="0" marL="0">
              <a:buNone/>
            </a:pPr>
            <a:r>
              <a:rPr lang="en-US" sz="1100" dirty="0">
                <a:solidFill>
                  <a:schemeClr val="tx2"/>
                </a:solidFill>
              </a:rPr>
              <a:t> = no capability to lose at baseline, so no verdict is drawn.</a:t>
            </a:r>
            <a:endParaRPr lang="en-US" sz="11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40080"/>
          </a:xfrm>
          <a:prstGeom prst="rect">
            <a:avLst/>
          </a:prstGeom>
          <a:noFill/>
          <a:ln/>
        </p:spPr>
        <p:txBody>
          <a:bodyPr wrap="square" lIns="0" tIns="0" rIns="0" bIns="0" rtlCol="0" anchor="ctr"/>
          <a:lstStyle/>
          <a:p>
            <a:pPr algn="l" indent="0" marL="0">
              <a:buNone/>
            </a:pPr>
            <a:r>
              <a:rPr lang="en-US" sz="3400" b="1" dirty="0">
                <a:solidFill>
                  <a:schemeClr val="tx1"/>
                </a:solidFill>
              </a:rPr>
              <a:t>Three datasets and where they are used</a:t>
            </a:r>
            <a:endParaRPr lang="en-US" sz="3400" dirty="0"/>
          </a:p>
        </p:txBody>
      </p:sp>
      <p:sp>
        <p:nvSpPr>
          <p:cNvPr id="3" name="Text 0"/>
          <p:cNvSpPr/>
          <p:nvPr>
            <p:ph idx="101" type="body" hasCustomPrompt="1"/>
          </p:nvPr>
        </p:nvSpPr>
        <p:spPr>
          <a:xfrm>
            <a:off x="457200" y="932688"/>
            <a:ext cx="11274552" cy="365760"/>
          </a:xfrm>
          <a:prstGeom prst="rect">
            <a:avLst/>
          </a:prstGeom>
          <a:noFill/>
          <a:ln/>
        </p:spPr>
        <p:txBody>
          <a:bodyPr wrap="square" lIns="0" tIns="0" rIns="0" bIns="0" rtlCol="0" anchor="t"/>
          <a:lstStyle/>
          <a:p>
            <a:pPr algn="l" indent="0" marL="0">
              <a:buNone/>
            </a:pPr>
            <a:r>
              <a:rPr lang="en-US" sz="1600" dirty="0">
                <a:solidFill>
                  <a:schemeClr val="tx2"/>
                </a:solidFill>
              </a:rPr>
              <a:t>Each dataset enters only the diagnostics its structure supports</a:t>
            </a:r>
            <a:endParaRPr lang="en-US" sz="1600" dirty="0"/>
          </a:p>
        </p:txBody>
      </p:sp>
      <p:sp>
        <p:nvSpPr>
          <p:cNvPr id="4" name="SUSHI card"/>
          <p:cNvSpPr/>
          <p:nvPr/>
        </p:nvSpPr>
        <p:spPr>
          <a:xfrm>
            <a:off x="457200" y="1481328"/>
            <a:ext cx="3612794" cy="3611880"/>
          </a:xfrm>
          <a:prstGeom prst="roundRect">
            <a:avLst>
              <a:gd name="adj" fmla="val 2532"/>
            </a:avLst>
          </a:prstGeom>
          <a:solidFill>
            <a:schemeClr val="bg2"/>
          </a:solidFill>
          <a:ln w="12700">
            <a:solidFill>
              <a:schemeClr val="bg2"/>
            </a:solidFill>
            <a:prstDash val="solid"/>
          </a:ln>
        </p:spPr>
      </p:sp>
      <p:sp>
        <p:nvSpPr>
          <p:cNvPr id="5" name="SUSHI tag"/>
          <p:cNvSpPr/>
          <p:nvPr/>
        </p:nvSpPr>
        <p:spPr>
          <a:xfrm>
            <a:off x="731520" y="1755648"/>
            <a:ext cx="128016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SUSHI</a:t>
            </a:r>
            <a:endParaRPr lang="en-US" sz="1600" dirty="0"/>
          </a:p>
        </p:txBody>
      </p:sp>
      <p:sp>
        <p:nvSpPr>
          <p:cNvPr id="6" name="SUSHI tagline"/>
          <p:cNvSpPr txBox="1"/>
          <p:nvPr/>
        </p:nvSpPr>
        <p:spPr>
          <a:xfrm>
            <a:off x="731520" y="2304288"/>
            <a:ext cx="3064154" cy="365760"/>
          </a:xfrm>
          <a:prstGeom prst="rect">
            <a:avLst/>
          </a:prstGeom>
          <a:noFill/>
          <a:ln/>
        </p:spPr>
        <p:txBody>
          <a:bodyPr wrap="square" lIns="0" tIns="0" rIns="0" bIns="0" rtlCol="0" anchor="ctr"/>
          <a:lstStyle/>
          <a:p>
            <a:pPr algn="l" indent="0" marL="0">
              <a:buNone/>
            </a:pPr>
            <a:r>
              <a:rPr lang="en-US" sz="1600" b="1" dirty="0">
                <a:solidFill>
                  <a:schemeClr val="tx1"/>
                </a:solidFill>
              </a:rPr>
              <a:t>Synthetic univariate signals</a:t>
            </a:r>
            <a:endParaRPr lang="en-US" sz="1600" dirty="0"/>
          </a:p>
        </p:txBody>
      </p:sp>
      <p:sp>
        <p:nvSpPr>
          <p:cNvPr id="7" name="SUSHI facts"/>
          <p:cNvSpPr txBox="1"/>
          <p:nvPr/>
        </p:nvSpPr>
        <p:spPr>
          <a:xfrm>
            <a:off x="731520" y="2743200"/>
            <a:ext cx="3064154" cy="11430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Template-based compositional labels (7 fluctuation × 20 shape classes)</a:t>
            </a:r>
            <a:endParaRPr lang="en-US" sz="1400" dirty="0"/>
          </a:p>
          <a:p>
            <a:pPr algn="l" marL="342900" indent="-342900">
              <a:spcAft>
                <a:spcPts val="600"/>
              </a:spcAft>
              <a:buSzPct val="100000"/>
              <a:buChar char="•"/>
            </a:pPr>
            <a:r>
              <a:rPr lang="en-US" sz="1400" dirty="0">
                <a:solidFill>
                  <a:schemeClr val="tx1"/>
                </a:solidFill>
              </a:rPr>
              <a:t>Tiny release: 1,400 signals of length 2,048; 140 test signals</a:t>
            </a:r>
            <a:endParaRPr lang="en-US" sz="1400" dirty="0"/>
          </a:p>
        </p:txBody>
      </p:sp>
      <p:sp>
        <p:nvSpPr>
          <p:cNvPr id="8" name="SUSHI models label"/>
          <p:cNvSpPr txBox="1"/>
          <p:nvPr/>
        </p:nvSpPr>
        <p:spPr>
          <a:xfrm>
            <a:off x="731520" y="3968496"/>
            <a:ext cx="3064154"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MODELS</a:t>
            </a:r>
            <a:endParaRPr lang="en-US" sz="1000" dirty="0"/>
          </a:p>
        </p:txBody>
      </p:sp>
      <p:sp>
        <p:nvSpPr>
          <p:cNvPr id="9" name="SUSHI models"/>
          <p:cNvSpPr txBox="1"/>
          <p:nvPr/>
        </p:nvSpPr>
        <p:spPr>
          <a:xfrm>
            <a:off x="731520" y="4197096"/>
            <a:ext cx="3064154" cy="274320"/>
          </a:xfrm>
          <a:prstGeom prst="rect">
            <a:avLst/>
          </a:prstGeom>
          <a:noFill/>
          <a:ln/>
        </p:spPr>
        <p:txBody>
          <a:bodyPr wrap="square" lIns="0" tIns="0" rIns="0" bIns="0" rtlCol="0" anchor="ctr"/>
          <a:lstStyle/>
          <a:p>
            <a:pPr algn="l" indent="0" marL="0">
              <a:buNone/>
            </a:pPr>
            <a:r>
              <a:rPr lang="en-US" sz="1400" b="1" dirty="0">
                <a:solidFill>
                  <a:schemeClr val="tx1"/>
                </a:solidFill>
              </a:rPr>
              <a:t>CLaSP · ChatTS · text-embedding-3-large</a:t>
            </a:r>
            <a:endParaRPr lang="en-US" sz="1400" dirty="0"/>
          </a:p>
        </p:txBody>
      </p:sp>
      <p:sp>
        <p:nvSpPr>
          <p:cNvPr id="10" name="SUSHI D1 pill"/>
          <p:cNvSpPr/>
          <p:nvPr/>
        </p:nvSpPr>
        <p:spPr>
          <a:xfrm>
            <a:off x="731520" y="4590288"/>
            <a:ext cx="566928" cy="310896"/>
          </a:xfrm>
          <a:prstGeom prst="roundRect">
            <a:avLst>
              <a:gd name="adj" fmla="val 50000"/>
            </a:avLst>
          </a:prstGeom>
          <a:solidFill>
            <a:schemeClr val="accent1"/>
          </a:solidFill>
          <a:ln w="12700">
            <a:solidFill>
              <a:schemeClr val="accent1"/>
            </a:solidFill>
            <a:prstDash val="solid"/>
          </a:ln>
        </p:spPr>
        <p:txBody>
          <a:bodyPr wrap="square" lIns="0" tIns="0" rIns="0" bIns="0" rtlCol="0" anchor="ctr"/>
          <a:lstStyle/>
          <a:p>
            <a:pPr algn="ctr" indent="0" marL="0">
              <a:buNone/>
            </a:pPr>
            <a:r>
              <a:rPr lang="en-US" sz="1200" b="1" dirty="0">
                <a:solidFill>
                  <a:schemeClr val="bg1"/>
                </a:solidFill>
              </a:rPr>
              <a:t>D1</a:t>
            </a:r>
            <a:endParaRPr lang="en-US" sz="1200" dirty="0"/>
          </a:p>
        </p:txBody>
      </p:sp>
      <p:sp>
        <p:nvSpPr>
          <p:cNvPr id="11" name="SUSHI D2 pill"/>
          <p:cNvSpPr/>
          <p:nvPr/>
        </p:nvSpPr>
        <p:spPr>
          <a:xfrm>
            <a:off x="1389888" y="4590288"/>
            <a:ext cx="566928" cy="310896"/>
          </a:xfrm>
          <a:prstGeom prst="roundRect">
            <a:avLst>
              <a:gd name="adj" fmla="val 50000"/>
            </a:avLst>
          </a:prstGeom>
          <a:solidFill>
            <a:schemeClr val="accent1"/>
          </a:solidFill>
          <a:ln w="12700">
            <a:solidFill>
              <a:schemeClr val="accent1"/>
            </a:solidFill>
            <a:prstDash val="solid"/>
          </a:ln>
        </p:spPr>
        <p:txBody>
          <a:bodyPr wrap="square" lIns="0" tIns="0" rIns="0" bIns="0" rtlCol="0" anchor="ctr"/>
          <a:lstStyle/>
          <a:p>
            <a:pPr algn="ctr" indent="0" marL="0">
              <a:buNone/>
            </a:pPr>
            <a:r>
              <a:rPr lang="en-US" sz="1200" b="1" dirty="0">
                <a:solidFill>
                  <a:schemeClr val="bg1"/>
                </a:solidFill>
              </a:rPr>
              <a:t>D2</a:t>
            </a:r>
            <a:endParaRPr lang="en-US" sz="1200" dirty="0"/>
          </a:p>
        </p:txBody>
      </p:sp>
      <p:sp>
        <p:nvSpPr>
          <p:cNvPr id="12" name="SUSHI D3 pill"/>
          <p:cNvSpPr/>
          <p:nvPr/>
        </p:nvSpPr>
        <p:spPr>
          <a:xfrm>
            <a:off x="2048256" y="4590288"/>
            <a:ext cx="566928" cy="310896"/>
          </a:xfrm>
          <a:prstGeom prst="roundRect">
            <a:avLst>
              <a:gd name="adj" fmla="val 50000"/>
            </a:avLst>
          </a:prstGeom>
          <a:solidFill>
            <a:schemeClr val="accent1"/>
          </a:solidFill>
          <a:ln w="12700">
            <a:solidFill>
              <a:schemeClr val="accent1"/>
            </a:solidFill>
            <a:prstDash val="solid"/>
          </a:ln>
        </p:spPr>
        <p:txBody>
          <a:bodyPr wrap="square" lIns="0" tIns="0" rIns="0" bIns="0" rtlCol="0" anchor="ctr"/>
          <a:lstStyle/>
          <a:p>
            <a:pPr algn="ctr" indent="0" marL="0">
              <a:buNone/>
            </a:pPr>
            <a:r>
              <a:rPr lang="en-US" sz="1200" b="1" dirty="0">
                <a:solidFill>
                  <a:schemeClr val="bg1"/>
                </a:solidFill>
              </a:rPr>
              <a:t>D3</a:t>
            </a:r>
            <a:endParaRPr lang="en-US" sz="1200" dirty="0"/>
          </a:p>
        </p:txBody>
      </p:sp>
      <p:sp>
        <p:nvSpPr>
          <p:cNvPr id="13" name="TRUCE card"/>
          <p:cNvSpPr/>
          <p:nvPr/>
        </p:nvSpPr>
        <p:spPr>
          <a:xfrm>
            <a:off x="4289450" y="1481328"/>
            <a:ext cx="3612794" cy="3611880"/>
          </a:xfrm>
          <a:prstGeom prst="roundRect">
            <a:avLst>
              <a:gd name="adj" fmla="val 2532"/>
            </a:avLst>
          </a:prstGeom>
          <a:solidFill>
            <a:schemeClr val="bg2"/>
          </a:solidFill>
          <a:ln w="12700">
            <a:solidFill>
              <a:schemeClr val="bg2"/>
            </a:solidFill>
            <a:prstDash val="solid"/>
          </a:ln>
        </p:spPr>
      </p:sp>
      <p:sp>
        <p:nvSpPr>
          <p:cNvPr id="14" name="TRUCE tag"/>
          <p:cNvSpPr/>
          <p:nvPr/>
        </p:nvSpPr>
        <p:spPr>
          <a:xfrm>
            <a:off x="4563770" y="1755648"/>
            <a:ext cx="1280160" cy="41148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bg1"/>
                </a:solidFill>
              </a:rPr>
              <a:t>TRUCE</a:t>
            </a:r>
            <a:endParaRPr lang="en-US" sz="1600" dirty="0"/>
          </a:p>
        </p:txBody>
      </p:sp>
      <p:sp>
        <p:nvSpPr>
          <p:cNvPr id="15" name="TRUCE tagline"/>
          <p:cNvSpPr txBox="1"/>
          <p:nvPr/>
        </p:nvSpPr>
        <p:spPr>
          <a:xfrm>
            <a:off x="4563770" y="2304288"/>
            <a:ext cx="3064154" cy="365760"/>
          </a:xfrm>
          <a:prstGeom prst="rect">
            <a:avLst/>
          </a:prstGeom>
          <a:noFill/>
          <a:ln/>
        </p:spPr>
        <p:txBody>
          <a:bodyPr wrap="square" lIns="0" tIns="0" rIns="0" bIns="0" rtlCol="0" anchor="ctr"/>
          <a:lstStyle/>
          <a:p>
            <a:pPr algn="l" indent="0" marL="0">
              <a:buNone/>
            </a:pPr>
            <a:r>
              <a:rPr lang="en-US" sz="1600" b="1" dirty="0">
                <a:solidFill>
                  <a:schemeClr val="tx1"/>
                </a:solidFill>
              </a:rPr>
              <a:t>Stock + synthetic univariate series</a:t>
            </a:r>
            <a:endParaRPr lang="en-US" sz="1600" dirty="0"/>
          </a:p>
        </p:txBody>
      </p:sp>
      <p:sp>
        <p:nvSpPr>
          <p:cNvPr id="16" name="TRUCE facts"/>
          <p:cNvSpPr txBox="1"/>
          <p:nvPr/>
        </p:nvSpPr>
        <p:spPr>
          <a:xfrm>
            <a:off x="4563770" y="2743200"/>
            <a:ext cx="3064154" cy="11430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Crowd-written free-form captions</a:t>
            </a:r>
            <a:endParaRPr lang="en-US" sz="1400" dirty="0"/>
          </a:p>
          <a:p>
            <a:pPr algn="l" marL="342900" indent="-342900">
              <a:spcAft>
                <a:spcPts val="600"/>
              </a:spcAft>
              <a:buSzPct val="100000"/>
              <a:buChar char="•"/>
            </a:pPr>
            <a:r>
              <a:rPr lang="en-US" sz="1400" dirty="0">
                <a:solidFill>
                  <a:schemeClr val="tx1"/>
                </a:solidFill>
              </a:rPr>
              <a:t>2,460 series of length 12 (1,900 stock + 560 synthetic); 738 test captions</a:t>
            </a:r>
            <a:endParaRPr lang="en-US" sz="1400" dirty="0"/>
          </a:p>
        </p:txBody>
      </p:sp>
      <p:sp>
        <p:nvSpPr>
          <p:cNvPr id="17" name="TRUCE models label"/>
          <p:cNvSpPr txBox="1"/>
          <p:nvPr/>
        </p:nvSpPr>
        <p:spPr>
          <a:xfrm>
            <a:off x="4563770" y="3968496"/>
            <a:ext cx="3064154"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MODELS</a:t>
            </a:r>
            <a:endParaRPr lang="en-US" sz="1000" dirty="0"/>
          </a:p>
        </p:txBody>
      </p:sp>
      <p:sp>
        <p:nvSpPr>
          <p:cNvPr id="18" name="TRUCE models"/>
          <p:cNvSpPr txBox="1"/>
          <p:nvPr/>
        </p:nvSpPr>
        <p:spPr>
          <a:xfrm>
            <a:off x="4563770" y="4197096"/>
            <a:ext cx="3064154" cy="274320"/>
          </a:xfrm>
          <a:prstGeom prst="rect">
            <a:avLst/>
          </a:prstGeom>
          <a:noFill/>
          <a:ln/>
        </p:spPr>
        <p:txBody>
          <a:bodyPr wrap="square" lIns="0" tIns="0" rIns="0" bIns="0" rtlCol="0" anchor="ctr"/>
          <a:lstStyle/>
          <a:p>
            <a:pPr algn="l" indent="0" marL="0">
              <a:buNone/>
            </a:pPr>
            <a:r>
              <a:rPr lang="en-US" sz="1400" b="1" dirty="0">
                <a:solidFill>
                  <a:schemeClr val="tx1"/>
                </a:solidFill>
              </a:rPr>
              <a:t>CLaSP · ChatTS · text-embedding-3-large</a:t>
            </a:r>
            <a:endParaRPr lang="en-US" sz="1400" dirty="0"/>
          </a:p>
        </p:txBody>
      </p:sp>
      <p:sp>
        <p:nvSpPr>
          <p:cNvPr id="19" name="TRUCE D1 pill"/>
          <p:cNvSpPr/>
          <p:nvPr/>
        </p:nvSpPr>
        <p:spPr>
          <a:xfrm>
            <a:off x="4563770" y="4590288"/>
            <a:ext cx="566928" cy="310896"/>
          </a:xfrm>
          <a:prstGeom prst="roundRect">
            <a:avLst>
              <a:gd name="adj" fmla="val 50000"/>
            </a:avLst>
          </a:prstGeom>
          <a:solidFill>
            <a:schemeClr val="bg1"/>
          </a:solidFill>
          <a:ln w="12700">
            <a:solidFill>
              <a:schemeClr val="accent4"/>
            </a:solidFill>
            <a:prstDash val="dash"/>
          </a:ln>
        </p:spPr>
        <p:txBody>
          <a:bodyPr wrap="square" lIns="0" tIns="0" rIns="0" bIns="0" rtlCol="0" anchor="ctr"/>
          <a:lstStyle/>
          <a:p>
            <a:pPr algn="ctr" indent="0" marL="0">
              <a:buNone/>
            </a:pPr>
            <a:r>
              <a:rPr lang="en-US" sz="1200" b="1" dirty="0">
                <a:solidFill>
                  <a:schemeClr val="tx2"/>
                </a:solidFill>
              </a:rPr>
              <a:t>D1</a:t>
            </a:r>
            <a:endParaRPr lang="en-US" sz="1200" dirty="0"/>
          </a:p>
        </p:txBody>
      </p:sp>
      <p:sp>
        <p:nvSpPr>
          <p:cNvPr id="20" name="TRUCE D2 pill"/>
          <p:cNvSpPr/>
          <p:nvPr/>
        </p:nvSpPr>
        <p:spPr>
          <a:xfrm>
            <a:off x="5222138" y="4590288"/>
            <a:ext cx="566928" cy="310896"/>
          </a:xfrm>
          <a:prstGeom prst="roundRect">
            <a:avLst>
              <a:gd name="adj" fmla="val 50000"/>
            </a:avLst>
          </a:prstGeom>
          <a:solidFill>
            <a:schemeClr val="accent2"/>
          </a:solidFill>
          <a:ln w="12700">
            <a:solidFill>
              <a:schemeClr val="accent2"/>
            </a:solidFill>
            <a:prstDash val="solid"/>
          </a:ln>
        </p:spPr>
        <p:txBody>
          <a:bodyPr wrap="square" lIns="0" tIns="0" rIns="0" bIns="0" rtlCol="0" anchor="ctr"/>
          <a:lstStyle/>
          <a:p>
            <a:pPr algn="ctr" indent="0" marL="0">
              <a:buNone/>
            </a:pPr>
            <a:r>
              <a:rPr lang="en-US" sz="1200" b="1" dirty="0">
                <a:solidFill>
                  <a:schemeClr val="bg1"/>
                </a:solidFill>
              </a:rPr>
              <a:t>D2</a:t>
            </a:r>
            <a:endParaRPr lang="en-US" sz="1200" dirty="0"/>
          </a:p>
        </p:txBody>
      </p:sp>
      <p:sp>
        <p:nvSpPr>
          <p:cNvPr id="21" name="TRUCE D3 pill"/>
          <p:cNvSpPr/>
          <p:nvPr/>
        </p:nvSpPr>
        <p:spPr>
          <a:xfrm>
            <a:off x="5880506" y="4590288"/>
            <a:ext cx="566928" cy="310896"/>
          </a:xfrm>
          <a:prstGeom prst="roundRect">
            <a:avLst>
              <a:gd name="adj" fmla="val 50000"/>
            </a:avLst>
          </a:prstGeom>
          <a:solidFill>
            <a:schemeClr val="accent2"/>
          </a:solidFill>
          <a:ln w="12700">
            <a:solidFill>
              <a:schemeClr val="accent2"/>
            </a:solidFill>
            <a:prstDash val="solid"/>
          </a:ln>
        </p:spPr>
        <p:txBody>
          <a:bodyPr wrap="square" lIns="0" tIns="0" rIns="0" bIns="0" rtlCol="0" anchor="ctr"/>
          <a:lstStyle/>
          <a:p>
            <a:pPr algn="ctr" indent="0" marL="0">
              <a:buNone/>
            </a:pPr>
            <a:r>
              <a:rPr lang="en-US" sz="1200" b="1" dirty="0">
                <a:solidFill>
                  <a:schemeClr val="bg1"/>
                </a:solidFill>
              </a:rPr>
              <a:t>D3</a:t>
            </a:r>
            <a:endParaRPr lang="en-US" sz="1200" dirty="0"/>
          </a:p>
        </p:txBody>
      </p:sp>
      <p:sp>
        <p:nvSpPr>
          <p:cNvPr id="22" name="TRUCE D1 note"/>
          <p:cNvSpPr txBox="1"/>
          <p:nvPr/>
        </p:nvSpPr>
        <p:spPr>
          <a:xfrm>
            <a:off x="6584594" y="4590288"/>
            <a:ext cx="1043330" cy="310896"/>
          </a:xfrm>
          <a:prstGeom prst="rect">
            <a:avLst/>
          </a:prstGeom>
          <a:noFill/>
          <a:ln/>
        </p:spPr>
        <p:txBody>
          <a:bodyPr wrap="square" lIns="0" tIns="0" rIns="0" bIns="0" rtlCol="0" anchor="ctr"/>
          <a:lstStyle/>
          <a:p>
            <a:pPr algn="l" indent="0" marL="0">
              <a:buNone/>
            </a:pPr>
            <a:r>
              <a:rPr lang="en-US" sz="1100" i="1" dirty="0">
                <a:solidFill>
                  <a:schemeClr val="tx2"/>
                </a:solidFill>
              </a:rPr>
              <a:t>D1: future work</a:t>
            </a:r>
            <a:endParaRPr lang="en-US" sz="1100" dirty="0"/>
          </a:p>
        </p:txBody>
      </p:sp>
      <p:sp>
        <p:nvSpPr>
          <p:cNvPr id="23" name="NOAA card"/>
          <p:cNvSpPr/>
          <p:nvPr/>
        </p:nvSpPr>
        <p:spPr>
          <a:xfrm>
            <a:off x="8121701" y="1481328"/>
            <a:ext cx="3612794" cy="3611880"/>
          </a:xfrm>
          <a:prstGeom prst="roundRect">
            <a:avLst>
              <a:gd name="adj" fmla="val 2532"/>
            </a:avLst>
          </a:prstGeom>
          <a:solidFill>
            <a:schemeClr val="bg2"/>
          </a:solidFill>
          <a:ln w="12700">
            <a:solidFill>
              <a:schemeClr val="bg2"/>
            </a:solidFill>
            <a:prstDash val="solid"/>
          </a:ln>
        </p:spPr>
      </p:sp>
      <p:sp>
        <p:nvSpPr>
          <p:cNvPr id="24" name="NOAA tag"/>
          <p:cNvSpPr/>
          <p:nvPr/>
        </p:nvSpPr>
        <p:spPr>
          <a:xfrm>
            <a:off x="8396021" y="1755648"/>
            <a:ext cx="1280160" cy="41148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bg1"/>
                </a:solidFill>
              </a:rPr>
              <a:t>NOAA</a:t>
            </a:r>
            <a:endParaRPr lang="en-US" sz="1600" dirty="0"/>
          </a:p>
        </p:txBody>
      </p:sp>
      <p:sp>
        <p:nvSpPr>
          <p:cNvPr id="25" name="NOAA tagline"/>
          <p:cNvSpPr txBox="1"/>
          <p:nvPr/>
        </p:nvSpPr>
        <p:spPr>
          <a:xfrm>
            <a:off x="8396021" y="2304288"/>
            <a:ext cx="3064154" cy="365760"/>
          </a:xfrm>
          <a:prstGeom prst="rect">
            <a:avLst/>
          </a:prstGeom>
          <a:noFill/>
          <a:ln/>
        </p:spPr>
        <p:txBody>
          <a:bodyPr wrap="square" lIns="0" tIns="0" rIns="0" bIns="0" rtlCol="0" anchor="ctr"/>
          <a:lstStyle/>
          <a:p>
            <a:pPr algn="l" indent="0" marL="0">
              <a:buNone/>
            </a:pPr>
            <a:r>
              <a:rPr lang="en-US" sz="1600" b="1" dirty="0">
                <a:solidFill>
                  <a:schemeClr val="tx1"/>
                </a:solidFill>
              </a:rPr>
              <a:t>Multivariate weather series</a:t>
            </a:r>
            <a:endParaRPr lang="en-US" sz="1600" dirty="0"/>
          </a:p>
        </p:txBody>
      </p:sp>
      <p:sp>
        <p:nvSpPr>
          <p:cNvPr id="26" name="NOAA facts"/>
          <p:cNvSpPr txBox="1"/>
          <p:nvPr/>
        </p:nvSpPr>
        <p:spPr>
          <a:xfrm>
            <a:off x="8396021" y="2743200"/>
            <a:ext cx="3064154" cy="11430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Template + LLM-generated channel descriptions</a:t>
            </a:r>
            <a:endParaRPr lang="en-US" sz="1400" dirty="0"/>
          </a:p>
          <a:p>
            <a:pPr algn="l" marL="342900" indent="-342900">
              <a:spcAft>
                <a:spcPts val="600"/>
              </a:spcAft>
              <a:buSzPct val="100000"/>
              <a:buChar char="•"/>
            </a:pPr>
            <a:r>
              <a:rPr lang="en-US" sz="1400" dirty="0">
                <a:solidFill>
                  <a:schemeClr val="tx1"/>
                </a:solidFill>
              </a:rPr>
              <a:t>Corpus released with TRACE; 3,178 certified D1 items</a:t>
            </a:r>
            <a:endParaRPr lang="en-US" sz="1400" dirty="0"/>
          </a:p>
        </p:txBody>
      </p:sp>
      <p:sp>
        <p:nvSpPr>
          <p:cNvPr id="27" name="NOAA models label"/>
          <p:cNvSpPr txBox="1"/>
          <p:nvPr/>
        </p:nvSpPr>
        <p:spPr>
          <a:xfrm>
            <a:off x="8396021" y="3968496"/>
            <a:ext cx="3064154"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MODELS</a:t>
            </a:r>
            <a:endParaRPr lang="en-US" sz="1000" dirty="0"/>
          </a:p>
        </p:txBody>
      </p:sp>
      <p:sp>
        <p:nvSpPr>
          <p:cNvPr id="28" name="NOAA models"/>
          <p:cNvSpPr txBox="1"/>
          <p:nvPr/>
        </p:nvSpPr>
        <p:spPr>
          <a:xfrm>
            <a:off x="8396021" y="4197096"/>
            <a:ext cx="3064154" cy="274320"/>
          </a:xfrm>
          <a:prstGeom prst="rect">
            <a:avLst/>
          </a:prstGeom>
          <a:noFill/>
          <a:ln/>
        </p:spPr>
        <p:txBody>
          <a:bodyPr wrap="square" lIns="0" tIns="0" rIns="0" bIns="0" rtlCol="0" anchor="ctr"/>
          <a:lstStyle/>
          <a:p>
            <a:pPr algn="l" indent="0" marL="0">
              <a:buNone/>
            </a:pPr>
            <a:r>
              <a:rPr lang="en-US" sz="1400" b="1" dirty="0">
                <a:solidFill>
                  <a:schemeClr val="tx1"/>
                </a:solidFill>
              </a:rPr>
              <a:t>TRACE only</a:t>
            </a:r>
            <a:endParaRPr lang="en-US" sz="1400" dirty="0"/>
          </a:p>
        </p:txBody>
      </p:sp>
      <p:sp>
        <p:nvSpPr>
          <p:cNvPr id="29" name="NOAA D1 pill"/>
          <p:cNvSpPr/>
          <p:nvPr/>
        </p:nvSpPr>
        <p:spPr>
          <a:xfrm>
            <a:off x="8396021" y="4590288"/>
            <a:ext cx="566928" cy="310896"/>
          </a:xfrm>
          <a:prstGeom prst="roundRect">
            <a:avLst>
              <a:gd name="adj" fmla="val 50000"/>
            </a:avLst>
          </a:prstGeom>
          <a:solidFill>
            <a:schemeClr val="accent3"/>
          </a:solidFill>
          <a:ln w="12700">
            <a:solidFill>
              <a:schemeClr val="accent3"/>
            </a:solidFill>
            <a:prstDash val="solid"/>
          </a:ln>
        </p:spPr>
        <p:txBody>
          <a:bodyPr wrap="square" lIns="0" tIns="0" rIns="0" bIns="0" rtlCol="0" anchor="ctr"/>
          <a:lstStyle/>
          <a:p>
            <a:pPr algn="ctr" indent="0" marL="0">
              <a:buNone/>
            </a:pPr>
            <a:r>
              <a:rPr lang="en-US" sz="1200" b="1" dirty="0">
                <a:solidFill>
                  <a:schemeClr val="bg1"/>
                </a:solidFill>
              </a:rPr>
              <a:t>D1</a:t>
            </a:r>
            <a:endParaRPr lang="en-US" sz="1200" dirty="0"/>
          </a:p>
        </p:txBody>
      </p:sp>
      <p:sp>
        <p:nvSpPr>
          <p:cNvPr id="30" name="NOAA D2 pill"/>
          <p:cNvSpPr/>
          <p:nvPr/>
        </p:nvSpPr>
        <p:spPr>
          <a:xfrm>
            <a:off x="9054389" y="4590288"/>
            <a:ext cx="566928" cy="310896"/>
          </a:xfrm>
          <a:prstGeom prst="roundRect">
            <a:avLst>
              <a:gd name="adj" fmla="val 50000"/>
            </a:avLst>
          </a:prstGeom>
          <a:solidFill>
            <a:schemeClr val="accent3"/>
          </a:solidFill>
          <a:ln w="12700">
            <a:solidFill>
              <a:schemeClr val="accent3"/>
            </a:solidFill>
            <a:prstDash val="solid"/>
          </a:ln>
        </p:spPr>
        <p:txBody>
          <a:bodyPr wrap="square" lIns="0" tIns="0" rIns="0" bIns="0" rtlCol="0" anchor="ctr"/>
          <a:lstStyle/>
          <a:p>
            <a:pPr algn="ctr" indent="0" marL="0">
              <a:buNone/>
            </a:pPr>
            <a:r>
              <a:rPr lang="en-US" sz="1200" b="1" dirty="0">
                <a:solidFill>
                  <a:schemeClr val="bg1"/>
                </a:solidFill>
              </a:rPr>
              <a:t>D2</a:t>
            </a:r>
            <a:endParaRPr lang="en-US" sz="1200" dirty="0"/>
          </a:p>
        </p:txBody>
      </p:sp>
      <p:sp>
        <p:nvSpPr>
          <p:cNvPr id="31" name="NOAA D3 pill"/>
          <p:cNvSpPr/>
          <p:nvPr/>
        </p:nvSpPr>
        <p:spPr>
          <a:xfrm>
            <a:off x="9712757" y="4590288"/>
            <a:ext cx="566928" cy="310896"/>
          </a:xfrm>
          <a:prstGeom prst="roundRect">
            <a:avLst>
              <a:gd name="adj" fmla="val 50000"/>
            </a:avLst>
          </a:prstGeom>
          <a:solidFill>
            <a:schemeClr val="accent3"/>
          </a:solidFill>
          <a:ln w="12700">
            <a:solidFill>
              <a:schemeClr val="accent3"/>
            </a:solidFill>
            <a:prstDash val="solid"/>
          </a:ln>
        </p:spPr>
        <p:txBody>
          <a:bodyPr wrap="square" lIns="0" tIns="0" rIns="0" bIns="0" rtlCol="0" anchor="ctr"/>
          <a:lstStyle/>
          <a:p>
            <a:pPr algn="ctr" indent="0" marL="0">
              <a:buNone/>
            </a:pPr>
            <a:r>
              <a:rPr lang="en-US" sz="1200" b="1" dirty="0">
                <a:solidFill>
                  <a:schemeClr val="bg1"/>
                </a:solidFill>
              </a:rPr>
              <a:t>D3</a:t>
            </a:r>
            <a:endParaRPr lang="en-US" sz="1200" dirty="0"/>
          </a:p>
        </p:txBody>
      </p:sp>
      <p:sp>
        <p:nvSpPr>
          <p:cNvPr id="32" name="Note 1 marker"/>
          <p:cNvSpPr/>
          <p:nvPr/>
        </p:nvSpPr>
        <p:spPr>
          <a:xfrm>
            <a:off x="457200" y="5404104"/>
            <a:ext cx="384048" cy="384048"/>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3" name="Note 1"/>
          <p:cNvSpPr txBox="1"/>
          <p:nvPr/>
        </p:nvSpPr>
        <p:spPr>
          <a:xfrm>
            <a:off x="969264" y="5367528"/>
            <a:ext cx="3100730" cy="914400"/>
          </a:xfrm>
          <a:prstGeom prst="rect">
            <a:avLst/>
          </a:prstGeom>
          <a:noFill/>
          <a:ln/>
        </p:spPr>
        <p:txBody>
          <a:bodyPr wrap="square" lIns="0" tIns="0" rIns="0" bIns="0" rtlCol="0" anchor="t"/>
          <a:lstStyle/>
          <a:p>
            <a:pPr algn="l" indent="0" marL="0">
              <a:spcAft>
                <a:spcPts val="200"/>
              </a:spcAft>
              <a:buNone/>
            </a:pPr>
            <a:r>
              <a:rPr lang="en-US" sz="1300" b="1" dirty="0">
                <a:solidFill>
                  <a:schemeClr val="tx1"/>
                </a:solidFill>
              </a:rPr>
              <a:t>TRUCE is not used for D1</a:t>
            </a:r>
            <a:endParaRPr lang="en-US" sz="1300" dirty="0"/>
          </a:p>
          <a:p>
            <a:pPr algn="l" indent="0" marL="0">
              <a:spcAft>
                <a:spcPts val="200"/>
              </a:spcAft>
              <a:buNone/>
            </a:pPr>
            <a:r>
              <a:rPr lang="en-US" sz="1300" dirty="0">
                <a:solidFill>
                  <a:schemeClr val="tx2"/>
                </a:solidFill>
              </a:rPr>
              <a:t>Free-form captions have no component grammar to swap; left as future work.</a:t>
            </a:r>
            <a:endParaRPr lang="en-US" sz="1300" dirty="0"/>
          </a:p>
        </p:txBody>
      </p:sp>
      <p:sp>
        <p:nvSpPr>
          <p:cNvPr id="34" name="Note 2 marker"/>
          <p:cNvSpPr/>
          <p:nvPr/>
        </p:nvSpPr>
        <p:spPr>
          <a:xfrm>
            <a:off x="4289450" y="5404104"/>
            <a:ext cx="384048" cy="384048"/>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5" name="Note 2"/>
          <p:cNvSpPr txBox="1"/>
          <p:nvPr/>
        </p:nvSpPr>
        <p:spPr>
          <a:xfrm>
            <a:off x="4801514" y="5367528"/>
            <a:ext cx="3100730" cy="914400"/>
          </a:xfrm>
          <a:prstGeom prst="rect">
            <a:avLst/>
          </a:prstGeom>
          <a:noFill/>
          <a:ln/>
        </p:spPr>
        <p:txBody>
          <a:bodyPr wrap="square" lIns="0" tIns="0" rIns="0" bIns="0" rtlCol="0" anchor="t"/>
          <a:lstStyle/>
          <a:p>
            <a:pPr algn="l" indent="0" marL="0">
              <a:spcAft>
                <a:spcPts val="200"/>
              </a:spcAft>
              <a:buNone/>
            </a:pPr>
            <a:r>
              <a:rPr lang="en-US" sz="1300" b="1" dirty="0">
                <a:solidFill>
                  <a:schemeClr val="tx1"/>
                </a:solidFill>
              </a:rPr>
              <a:t>NOAA is TRACE-only</a:t>
            </a:r>
            <a:endParaRPr lang="en-US" sz="1300" dirty="0"/>
          </a:p>
          <a:p>
            <a:pPr algn="l" indent="0" marL="0">
              <a:spcAft>
                <a:spcPts val="200"/>
              </a:spcAft>
              <a:buNone/>
            </a:pPr>
            <a:r>
              <a:rPr lang="en-US" sz="1300" dirty="0">
                <a:solidFill>
                  <a:schemeClr val="tx2"/>
                </a:solidFill>
              </a:rPr>
              <a:t>TRACE is multivariate, so all three diagnostics were adapted to its descriptions.</a:t>
            </a:r>
            <a:endParaRPr lang="en-US" sz="1300" dirty="0"/>
          </a:p>
        </p:txBody>
      </p:sp>
      <p:sp>
        <p:nvSpPr>
          <p:cNvPr id="36" name="Note 3 marker"/>
          <p:cNvSpPr/>
          <p:nvPr/>
        </p:nvSpPr>
        <p:spPr>
          <a:xfrm>
            <a:off x="8121701" y="5404104"/>
            <a:ext cx="384048" cy="384048"/>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7" name="Note 3"/>
          <p:cNvSpPr txBox="1"/>
          <p:nvPr/>
        </p:nvSpPr>
        <p:spPr>
          <a:xfrm>
            <a:off x="8633765" y="5367528"/>
            <a:ext cx="3100730" cy="914400"/>
          </a:xfrm>
          <a:prstGeom prst="rect">
            <a:avLst/>
          </a:prstGeom>
          <a:noFill/>
          <a:ln/>
        </p:spPr>
        <p:txBody>
          <a:bodyPr wrap="square" lIns="0" tIns="0" rIns="0" bIns="0" rtlCol="0" anchor="t"/>
          <a:lstStyle/>
          <a:p>
            <a:pPr algn="l" indent="0" marL="0">
              <a:spcAft>
                <a:spcPts val="200"/>
              </a:spcAft>
              <a:buNone/>
            </a:pPr>
            <a:r>
              <a:rPr lang="en-US" sz="1300" b="1" dirty="0">
                <a:solidFill>
                  <a:schemeClr val="tx1"/>
                </a:solidFill>
              </a:rPr>
              <a:t>No item set is shared by all four models</a:t>
            </a:r>
            <a:endParaRPr lang="en-US" sz="1300" dirty="0"/>
          </a:p>
          <a:p>
            <a:pPr algn="l" indent="0" marL="0">
              <a:spcAft>
                <a:spcPts val="200"/>
              </a:spcAft>
              <a:buNone/>
            </a:pPr>
            <a:r>
              <a:rPr lang="en-US" sz="1300" dirty="0">
                <a:solidFill>
                  <a:schemeClr val="tx2"/>
                </a:solidFill>
              </a:rPr>
              <a:t>Cross-model comparison uses relative change from each model's own baseline.</a:t>
            </a:r>
            <a:endParaRPr lang="en-US" sz="13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Thesis Evaluation Matrix">
  <a:themeElements>
    <a:clrScheme name="Thesis Evaluation Matrix">
      <a:dk1>
        <a:srgbClr val="1E293B"/>
      </a:dk1>
      <a:lt1>
        <a:srgbClr val="FFFFFF"/>
      </a:lt1>
      <a:dk2>
        <a:srgbClr val="475569"/>
      </a:dk2>
      <a:lt2>
        <a:srgbClr val="F1F5F9"/>
      </a:lt2>
      <a:accent1>
        <a:srgbClr val="0F766E"/>
      </a:accent1>
      <a:accent2>
        <a:srgbClr val="C2410C"/>
      </a:accent2>
      <a:accent3>
        <a:srgbClr val="6D28D9"/>
      </a:accent3>
      <a:accent4>
        <a:srgbClr val="94A3B8"/>
      </a:accent4>
      <a:accent5>
        <a:srgbClr val="0E7490"/>
      </a:accent5>
      <a:accent6>
        <a:srgbClr val="B91C1C"/>
      </a:accent6>
      <a:hlink>
        <a:srgbClr val="0F766E"/>
      </a:hlink>
      <a:folHlink>
        <a:srgbClr val="6D28D9"/>
      </a:folHlink>
    </a:clrScheme>
    <a:fontScheme name="Thesis Evaluation Matri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matrix: models, diagnostics, datasets</dc:title>
  <dc:subject>PptxGenJS Presentation</dc:subject>
  <dc:creator>PptxGenJS</dc:creator>
  <cp:lastModifiedBy>PptxGenJS</cp:lastModifiedBy>
  <cp:revision>1</cp:revision>
  <dcterms:created xsi:type="dcterms:W3CDTF">2026-10-27T18:49:06Z</dcterms:created>
  <dcterms:modified xsi:type="dcterms:W3CDTF">2026-10-27T18:49:06Z</dcterms:modified>
</cp:coreProperties>
</file>